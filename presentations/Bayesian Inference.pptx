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3" r:id="rId4"/>
    <p:sldId id="303" r:id="rId5"/>
    <p:sldId id="312" r:id="rId6"/>
    <p:sldId id="317" r:id="rId7"/>
    <p:sldId id="310" r:id="rId8"/>
    <p:sldId id="309" r:id="rId9"/>
    <p:sldId id="328" r:id="rId10"/>
    <p:sldId id="304" r:id="rId11"/>
    <p:sldId id="305" r:id="rId12"/>
    <p:sldId id="318" r:id="rId13"/>
    <p:sldId id="292" r:id="rId14"/>
    <p:sldId id="311" r:id="rId15"/>
    <p:sldId id="301" r:id="rId16"/>
    <p:sldId id="266" r:id="rId17"/>
    <p:sldId id="319" r:id="rId18"/>
    <p:sldId id="293" r:id="rId19"/>
    <p:sldId id="308" r:id="rId20"/>
    <p:sldId id="321" r:id="rId21"/>
    <p:sldId id="323" r:id="rId22"/>
    <p:sldId id="326" r:id="rId23"/>
    <p:sldId id="325" r:id="rId24"/>
    <p:sldId id="327" r:id="rId25"/>
    <p:sldId id="322" r:id="rId26"/>
    <p:sldId id="313" r:id="rId27"/>
    <p:sldId id="297" r:id="rId28"/>
    <p:sldId id="296" r:id="rId29"/>
    <p:sldId id="259" r:id="rId30"/>
    <p:sldId id="257" r:id="rId31"/>
    <p:sldId id="294" r:id="rId32"/>
    <p:sldId id="300" r:id="rId33"/>
    <p:sldId id="264" r:id="rId34"/>
    <p:sldId id="29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AB05C1-8C60-41D8-81D4-EBC13D219BBC}" v="7428" dt="2026-01-10T16:14:05.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70" d="100"/>
          <a:sy n="70" d="100"/>
        </p:scale>
        <p:origin x="512" y="56"/>
      </p:cViewPr>
      <p:guideLst/>
    </p:cSldViewPr>
  </p:slideViewPr>
  <p:outlineViewPr>
    <p:cViewPr>
      <p:scale>
        <a:sx n="33" d="100"/>
        <a:sy n="33" d="100"/>
      </p:scale>
      <p:origin x="0" y="-1084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7838-728B-3743-5073-C7EF8947B3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7948FE-3D03-8C04-A6C2-DE275A513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34B25A-916A-9EEE-81D5-D3A390BEFC59}"/>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5" name="Footer Placeholder 4">
            <a:extLst>
              <a:ext uri="{FF2B5EF4-FFF2-40B4-BE49-F238E27FC236}">
                <a16:creationId xmlns:a16="http://schemas.microsoft.com/office/drawing/2014/main" id="{E086DBE5-A4AF-13FF-3E8E-75DCC6FFC7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74F49E-D5C2-2F59-5BF9-0FE936BEB3F5}"/>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1816470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288D-8815-707A-B277-BD13933450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DEC58-4352-E0A0-D6F5-B90F20D1A4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830464-8981-0A8F-2CAF-1DE7E00AD7A3}"/>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5" name="Footer Placeholder 4">
            <a:extLst>
              <a:ext uri="{FF2B5EF4-FFF2-40B4-BE49-F238E27FC236}">
                <a16:creationId xmlns:a16="http://schemas.microsoft.com/office/drawing/2014/main" id="{1A7160F6-F000-C606-1E9B-F24D3F881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508E31-0483-3E46-0A1A-DB886E7B64DB}"/>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215984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AED87-5EA8-F25C-3071-95AD5C8ED2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19AA28-6C96-BBEE-4825-5691E0C632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F090F9-EFD7-81A4-940A-A6725571F44B}"/>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5" name="Footer Placeholder 4">
            <a:extLst>
              <a:ext uri="{FF2B5EF4-FFF2-40B4-BE49-F238E27FC236}">
                <a16:creationId xmlns:a16="http://schemas.microsoft.com/office/drawing/2014/main" id="{51323DCC-D483-D94B-9983-C827D57440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7CBA66-7B5E-D8BC-A4EF-FCE70568FE69}"/>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581268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629E4-21B4-B779-AF98-9477EAF594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525F12-78A9-D3B5-9CF2-7FDAC9E6E6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A7906C-97AB-D480-7822-27B1488699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57D9B1-24D8-664D-69CB-4E3BC4B8CF33}"/>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6" name="Footer Placeholder 5">
            <a:extLst>
              <a:ext uri="{FF2B5EF4-FFF2-40B4-BE49-F238E27FC236}">
                <a16:creationId xmlns:a16="http://schemas.microsoft.com/office/drawing/2014/main" id="{E3A642CF-FE03-FC54-B0DA-F838D5C3D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3EC869-538D-8F79-65C0-194987B1A34B}"/>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3916589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0848C-BE8F-FE27-90BF-5AC138D709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5B374B-04FC-BAA9-12AD-DB4C5411BD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FD4D31-2BFE-0909-78EE-70D3F7617D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1A4BA8-AD27-7833-9096-21AE627DCC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9FDDF-5D6D-5634-C228-81B5BFF2A0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A85B11-61E4-C8EE-23BA-228BD0041944}"/>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8" name="Footer Placeholder 7">
            <a:extLst>
              <a:ext uri="{FF2B5EF4-FFF2-40B4-BE49-F238E27FC236}">
                <a16:creationId xmlns:a16="http://schemas.microsoft.com/office/drawing/2014/main" id="{6B1A4030-CDB5-CCF6-D5ED-97C401600C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DB63B6-D186-BA76-1151-DDD2FC8A5AF2}"/>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2206189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FE96-825D-CC5F-715E-67C25E914C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0E1AF7-2BE3-C068-5861-6E39DF0174A0}"/>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4" name="Footer Placeholder 3">
            <a:extLst>
              <a:ext uri="{FF2B5EF4-FFF2-40B4-BE49-F238E27FC236}">
                <a16:creationId xmlns:a16="http://schemas.microsoft.com/office/drawing/2014/main" id="{D88C5E84-E9F2-01AA-01FC-6D37DE0218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A0E09B-42BD-6FC9-90F1-85D792C45D95}"/>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126057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C7EA53-13E6-5424-13EF-0CE9B3F71AC7}"/>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3" name="Footer Placeholder 2">
            <a:extLst>
              <a:ext uri="{FF2B5EF4-FFF2-40B4-BE49-F238E27FC236}">
                <a16:creationId xmlns:a16="http://schemas.microsoft.com/office/drawing/2014/main" id="{95CBAE42-DB62-4CCC-994B-20888F1CA4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BADDEF-13CC-5326-06B6-1C28A9372AA3}"/>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2558520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C1A09-38B8-1358-4075-AB1B9865A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3AF151-7DBE-89B4-6EDF-7D43BA1473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D9FCAE-A398-0600-9F35-6CF2A8401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E58C7C-B5AF-ABC6-756A-4B32C0D24CAC}"/>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6" name="Footer Placeholder 5">
            <a:extLst>
              <a:ext uri="{FF2B5EF4-FFF2-40B4-BE49-F238E27FC236}">
                <a16:creationId xmlns:a16="http://schemas.microsoft.com/office/drawing/2014/main" id="{3F9AA91C-A8EE-7884-BA2E-418DA0F472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AA003-F394-D46A-DD83-54E35787658E}"/>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478320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0C71F-BF6C-3DC7-723C-616D9E59E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2817FA-94A2-727E-9E2B-A32D6FABC6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FF86A4-9C9D-E0BD-C3D9-E42E1329D9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C92CB-35D8-B154-B932-2DB4DFB56FE5}"/>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6" name="Footer Placeholder 5">
            <a:extLst>
              <a:ext uri="{FF2B5EF4-FFF2-40B4-BE49-F238E27FC236}">
                <a16:creationId xmlns:a16="http://schemas.microsoft.com/office/drawing/2014/main" id="{3961CA3D-5F73-7EC7-F2E6-E392C5551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C5106D-483C-C9A1-E7E1-E2F7D0A6863C}"/>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3113632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88522-134D-25F3-BFA7-351A6192D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44D6BB-B9FA-49C9-B625-CF49D92EEF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71F19-1491-DD0B-CB42-9ED5A00A05F9}"/>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5" name="Footer Placeholder 4">
            <a:extLst>
              <a:ext uri="{FF2B5EF4-FFF2-40B4-BE49-F238E27FC236}">
                <a16:creationId xmlns:a16="http://schemas.microsoft.com/office/drawing/2014/main" id="{6D8670CC-F70F-B68D-3B12-BA8B3947F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098DB-3733-0529-727A-3B591C58632A}"/>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2381503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41680-07CC-65F7-DE8D-84F9894B50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FE2DA3-5880-3EED-32B4-CD5A418F09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F5AD63-8FF8-4891-6C51-30E37FD975C9}"/>
              </a:ext>
            </a:extLst>
          </p:cNvPr>
          <p:cNvSpPr>
            <a:spLocks noGrp="1"/>
          </p:cNvSpPr>
          <p:nvPr>
            <p:ph type="dt" sz="half" idx="10"/>
          </p:nvPr>
        </p:nvSpPr>
        <p:spPr/>
        <p:txBody>
          <a:bodyPr/>
          <a:lstStyle/>
          <a:p>
            <a:fld id="{8074C90C-EACE-FC40-98F1-4B70E4265A0D}" type="datetimeFigureOut">
              <a:rPr lang="en-US" smtClean="0"/>
              <a:t>1/12/2026</a:t>
            </a:fld>
            <a:endParaRPr lang="en-US"/>
          </a:p>
        </p:txBody>
      </p:sp>
      <p:sp>
        <p:nvSpPr>
          <p:cNvPr id="5" name="Footer Placeholder 4">
            <a:extLst>
              <a:ext uri="{FF2B5EF4-FFF2-40B4-BE49-F238E27FC236}">
                <a16:creationId xmlns:a16="http://schemas.microsoft.com/office/drawing/2014/main" id="{019544BF-FA9D-8A6B-73DA-E50CA22675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4EA09-1DB0-EE8A-86F3-3A05A32B29AA}"/>
              </a:ext>
            </a:extLst>
          </p:cNvPr>
          <p:cNvSpPr>
            <a:spLocks noGrp="1"/>
          </p:cNvSpPr>
          <p:nvPr>
            <p:ph type="sldNum" sz="quarter" idx="12"/>
          </p:nvPr>
        </p:nvSpPr>
        <p:spPr/>
        <p:txBody>
          <a:bodyPr/>
          <a:lstStyle/>
          <a:p>
            <a:fld id="{1C6FE213-54E3-D140-9E37-E504A28BF1C9}" type="slidenum">
              <a:rPr lang="en-US" smtClean="0"/>
              <a:t>‹#›</a:t>
            </a:fld>
            <a:endParaRPr lang="en-US"/>
          </a:p>
        </p:txBody>
      </p:sp>
    </p:spTree>
    <p:extLst>
      <p:ext uri="{BB962C8B-B14F-4D97-AF65-F5344CB8AC3E}">
        <p14:creationId xmlns:p14="http://schemas.microsoft.com/office/powerpoint/2010/main" val="4013501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3055EC-CC00-16B0-9D29-87B1BF1EFA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D13A6D-C7CA-34A7-432A-6484399F5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EF5F80-E3AF-3B4D-A71D-233477D459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74C90C-EACE-FC40-98F1-4B70E4265A0D}" type="datetimeFigureOut">
              <a:rPr lang="en-US" smtClean="0"/>
              <a:t>1/12/2026</a:t>
            </a:fld>
            <a:endParaRPr lang="en-US"/>
          </a:p>
        </p:txBody>
      </p:sp>
      <p:sp>
        <p:nvSpPr>
          <p:cNvPr id="5" name="Footer Placeholder 4">
            <a:extLst>
              <a:ext uri="{FF2B5EF4-FFF2-40B4-BE49-F238E27FC236}">
                <a16:creationId xmlns:a16="http://schemas.microsoft.com/office/drawing/2014/main" id="{1A7101F4-0888-1DFC-2F4D-705D1E21A0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87BE1E-D848-6255-3BF5-45F401D59C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6FE213-54E3-D140-9E37-E504A28BF1C9}" type="slidenum">
              <a:rPr lang="en-US" smtClean="0"/>
              <a:t>‹#›</a:t>
            </a:fld>
            <a:endParaRPr lang="en-US"/>
          </a:p>
        </p:txBody>
      </p:sp>
    </p:spTree>
    <p:extLst>
      <p:ext uri="{BB962C8B-B14F-4D97-AF65-F5344CB8AC3E}">
        <p14:creationId xmlns:p14="http://schemas.microsoft.com/office/powerpoint/2010/main" val="76520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Posterior_probability" TargetMode="Externa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en.wikipedia.org/wiki/Marginal_likelihood" TargetMode="External"/><Relationship Id="rId5" Type="http://schemas.openxmlformats.org/officeDocument/2006/relationships/hyperlink" Target="https://en.wikipedia.org/wiki/Prior_probability" TargetMode="External"/><Relationship Id="rId4" Type="http://schemas.openxmlformats.org/officeDocument/2006/relationships/hyperlink" Target="https://en.wikipedia.org/wiki/Likelihood_functio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10.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xml"/><Relationship Id="rId7" Type="http://schemas.openxmlformats.org/officeDocument/2006/relationships/image" Target="../media/image1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4.png"/><Relationship Id="rId5" Type="http://schemas.openxmlformats.org/officeDocument/2006/relationships/slideLayout" Target="../slideLayouts/slideLayout2.xml"/><Relationship Id="rId4" Type="http://schemas.openxmlformats.org/officeDocument/2006/relationships/tags" Target="../tags/tag13.xml"/><Relationship Id="rId9"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32.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A colorful graph of data&#10;&#10;AI-generated content may be incorrect.">
            <a:extLst>
              <a:ext uri="{FF2B5EF4-FFF2-40B4-BE49-F238E27FC236}">
                <a16:creationId xmlns:a16="http://schemas.microsoft.com/office/drawing/2014/main" id="{033E6DE6-C98C-23A3-397A-992384E127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23" r="27341" b="9091"/>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0" name="Rectangle 103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F1A116A0-48A2-A5C6-0A19-0E0F286480AC}"/>
              </a:ext>
            </a:extLst>
          </p:cNvPr>
          <p:cNvSpPr>
            <a:spLocks noGrp="1"/>
          </p:cNvSpPr>
          <p:nvPr>
            <p:ph type="subTitle" idx="1"/>
          </p:nvPr>
        </p:nvSpPr>
        <p:spPr>
          <a:xfrm>
            <a:off x="289139" y="2822017"/>
            <a:ext cx="8035082" cy="1724898"/>
          </a:xfrm>
        </p:spPr>
        <p:txBody>
          <a:bodyPr>
            <a:normAutofit/>
          </a:bodyPr>
          <a:lstStyle/>
          <a:p>
            <a:pPr algn="l"/>
            <a:br>
              <a:rPr lang="en-US" sz="3200" b="1" dirty="0">
                <a:solidFill>
                  <a:schemeClr val="accent2"/>
                </a:solidFill>
                <a:latin typeface="+mj-lt"/>
              </a:rPr>
            </a:br>
            <a:r>
              <a:rPr lang="en-US" sz="3200" b="1" dirty="0">
                <a:solidFill>
                  <a:schemeClr val="accent2"/>
                </a:solidFill>
                <a:latin typeface="+mj-lt"/>
              </a:rPr>
              <a:t>Bayesian Inference:</a:t>
            </a:r>
          </a:p>
          <a:p>
            <a:pPr algn="l"/>
            <a:r>
              <a:rPr lang="en-US" sz="3200" b="1" dirty="0">
                <a:solidFill>
                  <a:schemeClr val="accent2"/>
                </a:solidFill>
                <a:latin typeface="+mj-lt"/>
                <a:hlinkClick r:id="rId3" tooltip="Posterior probability">
                  <a:extLst>
                    <a:ext uri="{A12FA001-AC4F-418D-AE19-62706E023703}">
                      <ahyp:hlinkClr xmlns:ahyp="http://schemas.microsoft.com/office/drawing/2018/hyperlinkcolor" val="tx"/>
                    </a:ext>
                  </a:extLst>
                </a:hlinkClick>
              </a:rPr>
              <a:t>Posterior</a:t>
            </a:r>
            <a:r>
              <a:rPr lang="en-US" sz="3200" b="1" dirty="0">
                <a:solidFill>
                  <a:schemeClr val="accent2"/>
                </a:solidFill>
                <a:latin typeface="+mj-lt"/>
              </a:rPr>
              <a:t> = </a:t>
            </a:r>
            <a:r>
              <a:rPr lang="en-US" sz="3200" b="1" dirty="0">
                <a:solidFill>
                  <a:schemeClr val="accent2"/>
                </a:solidFill>
                <a:latin typeface="+mj-lt"/>
                <a:hlinkClick r:id="rId4" tooltip="Likelihood function">
                  <a:extLst>
                    <a:ext uri="{A12FA001-AC4F-418D-AE19-62706E023703}">
                      <ahyp:hlinkClr xmlns:ahyp="http://schemas.microsoft.com/office/drawing/2018/hyperlinkcolor" val="tx"/>
                    </a:ext>
                  </a:extLst>
                </a:hlinkClick>
              </a:rPr>
              <a:t>Likelihood</a:t>
            </a:r>
            <a:r>
              <a:rPr lang="en-US" sz="3200" b="1" dirty="0">
                <a:solidFill>
                  <a:schemeClr val="accent2"/>
                </a:solidFill>
                <a:latin typeface="+mj-lt"/>
              </a:rPr>
              <a:t> × </a:t>
            </a:r>
            <a:r>
              <a:rPr lang="en-US" sz="3200" b="1" dirty="0">
                <a:solidFill>
                  <a:schemeClr val="accent2"/>
                </a:solidFill>
                <a:latin typeface="+mj-lt"/>
                <a:hlinkClick r:id="rId5" tooltip="Prior probability">
                  <a:extLst>
                    <a:ext uri="{A12FA001-AC4F-418D-AE19-62706E023703}">
                      <ahyp:hlinkClr xmlns:ahyp="http://schemas.microsoft.com/office/drawing/2018/hyperlinkcolor" val="tx"/>
                    </a:ext>
                  </a:extLst>
                </a:hlinkClick>
              </a:rPr>
              <a:t>Prior</a:t>
            </a:r>
            <a:r>
              <a:rPr lang="en-US" sz="3200" b="1" dirty="0">
                <a:solidFill>
                  <a:schemeClr val="accent2"/>
                </a:solidFill>
                <a:latin typeface="+mj-lt"/>
              </a:rPr>
              <a:t> ÷ </a:t>
            </a:r>
            <a:r>
              <a:rPr lang="en-US" sz="3200" b="1" dirty="0">
                <a:solidFill>
                  <a:schemeClr val="accent2"/>
                </a:solidFill>
                <a:latin typeface="+mj-lt"/>
                <a:hlinkClick r:id="rId6" tooltip="Marginal likelihood">
                  <a:extLst>
                    <a:ext uri="{A12FA001-AC4F-418D-AE19-62706E023703}">
                      <ahyp:hlinkClr xmlns:ahyp="http://schemas.microsoft.com/office/drawing/2018/hyperlinkcolor" val="tx"/>
                    </a:ext>
                  </a:extLst>
                </a:hlinkClick>
              </a:rPr>
              <a:t>Evidence</a:t>
            </a:r>
            <a:endParaRPr lang="en-US" sz="3200" b="1" dirty="0">
              <a:solidFill>
                <a:schemeClr val="accent2"/>
              </a:solidFill>
              <a:latin typeface="+mj-lt"/>
            </a:endParaRPr>
          </a:p>
        </p:txBody>
      </p:sp>
      <p:sp>
        <p:nvSpPr>
          <p:cNvPr id="1042" name="Rectangle 104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44" name="Rectangle 104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9692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0C2A68-D02F-8786-918E-0E485B58B6B7}"/>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Framework of Bayesian inference</a:t>
            </a:r>
          </a:p>
        </p:txBody>
      </p:sp>
      <p:sp>
        <p:nvSpPr>
          <p:cNvPr id="3" name="Content Placeholder 2">
            <a:extLst>
              <a:ext uri="{FF2B5EF4-FFF2-40B4-BE49-F238E27FC236}">
                <a16:creationId xmlns:a16="http://schemas.microsoft.com/office/drawing/2014/main" id="{B4DCE454-AB30-D77A-146E-664485DFF046}"/>
              </a:ext>
            </a:extLst>
          </p:cNvPr>
          <p:cNvSpPr>
            <a:spLocks noGrp="1"/>
          </p:cNvSpPr>
          <p:nvPr>
            <p:ph idx="1"/>
          </p:nvPr>
        </p:nvSpPr>
        <p:spPr>
          <a:xfrm>
            <a:off x="118875" y="2166595"/>
            <a:ext cx="8272093" cy="4115865"/>
          </a:xfrm>
        </p:spPr>
        <p:txBody>
          <a:bodyPr anchor="ctr">
            <a:normAutofit fontScale="70000" lnSpcReduction="20000"/>
          </a:bodyPr>
          <a:lstStyle/>
          <a:p>
            <a:pPr marL="0" indent="0">
              <a:buNone/>
            </a:pPr>
            <a:r>
              <a:rPr lang="en-US" dirty="0"/>
              <a:t>I have a belief (</a:t>
            </a:r>
            <a:r>
              <a:rPr lang="en-US" i="1" dirty="0">
                <a:solidFill>
                  <a:srgbClr val="0070C0"/>
                </a:solidFill>
              </a:rPr>
              <a:t>prior</a:t>
            </a:r>
            <a:r>
              <a:rPr lang="en-US" dirty="0"/>
              <a:t>)</a:t>
            </a:r>
          </a:p>
          <a:p>
            <a:pPr marL="457200" lvl="1" indent="0">
              <a:buNone/>
            </a:pPr>
            <a:r>
              <a:rPr lang="en-US" dirty="0"/>
              <a:t>I am probably allergic to cats</a:t>
            </a:r>
          </a:p>
          <a:p>
            <a:pPr marL="457200" lvl="1" indent="0">
              <a:buNone/>
            </a:pPr>
            <a:endParaRPr lang="en-US" dirty="0"/>
          </a:p>
          <a:p>
            <a:pPr marL="0" indent="0">
              <a:buNone/>
            </a:pPr>
            <a:r>
              <a:rPr lang="en-US" dirty="0"/>
              <a:t>Something happens (</a:t>
            </a:r>
            <a:r>
              <a:rPr lang="en-US" i="1" dirty="0">
                <a:solidFill>
                  <a:srgbClr val="0070C0"/>
                </a:solidFill>
              </a:rPr>
              <a:t>event/evidence</a:t>
            </a:r>
            <a:r>
              <a:rPr lang="en-US" dirty="0"/>
              <a:t>)</a:t>
            </a:r>
          </a:p>
          <a:p>
            <a:pPr marL="457200" lvl="1" indent="0">
              <a:buNone/>
            </a:pPr>
            <a:r>
              <a:rPr lang="en-US" dirty="0"/>
              <a:t>Cat walks into room and I sneeze/do not sneeze</a:t>
            </a:r>
          </a:p>
          <a:p>
            <a:pPr marL="457200" lvl="1" indent="0">
              <a:buNone/>
            </a:pPr>
            <a:endParaRPr lang="en-US" dirty="0"/>
          </a:p>
          <a:p>
            <a:pPr marL="0" indent="0">
              <a:buNone/>
            </a:pPr>
            <a:r>
              <a:rPr lang="en-US" dirty="0"/>
              <a:t>How do I revise my belief, considering the event (</a:t>
            </a:r>
            <a:r>
              <a:rPr lang="en-US" i="1" dirty="0">
                <a:solidFill>
                  <a:srgbClr val="0070C0"/>
                </a:solidFill>
              </a:rPr>
              <a:t>posterior</a:t>
            </a:r>
            <a:r>
              <a:rPr lang="en-US" dirty="0">
                <a:solidFill>
                  <a:srgbClr val="0070C0"/>
                </a:solidFill>
              </a:rPr>
              <a:t>)</a:t>
            </a:r>
            <a:r>
              <a:rPr lang="en-US" dirty="0"/>
              <a:t>?</a:t>
            </a:r>
          </a:p>
          <a:p>
            <a:pPr marL="457200" lvl="1" indent="0">
              <a:buNone/>
            </a:pPr>
            <a:r>
              <a:rPr lang="en-US" dirty="0"/>
              <a:t> If I sneezed, my belief should be strengthened</a:t>
            </a:r>
          </a:p>
          <a:p>
            <a:pPr marL="457200" lvl="1" indent="0">
              <a:buNone/>
            </a:pPr>
            <a:r>
              <a:rPr lang="en-US" dirty="0"/>
              <a:t> If I did not sneeze, my belief should be weakened</a:t>
            </a:r>
          </a:p>
          <a:p>
            <a:pPr marL="457200" lvl="1" indent="0">
              <a:buNone/>
            </a:pPr>
            <a:endParaRPr lang="en-US" dirty="0"/>
          </a:p>
          <a:p>
            <a:pPr marL="0" indent="0">
              <a:buNone/>
            </a:pPr>
            <a:r>
              <a:rPr lang="en-US" dirty="0"/>
              <a:t>Two key concepts from probability theory </a:t>
            </a:r>
          </a:p>
          <a:p>
            <a:pPr marL="457200" lvl="1" indent="0">
              <a:buNone/>
            </a:pPr>
            <a:r>
              <a:rPr lang="en-US" dirty="0"/>
              <a:t> </a:t>
            </a:r>
            <a:r>
              <a:rPr lang="en-US" dirty="0">
                <a:solidFill>
                  <a:srgbClr val="0070C0"/>
                </a:solidFill>
              </a:rPr>
              <a:t>Joint probability</a:t>
            </a:r>
            <a:r>
              <a:rPr lang="en-US" dirty="0"/>
              <a:t>: P(A</a:t>
            </a:r>
            <a:r>
              <a:rPr lang="en-US" dirty="0">
                <a:sym typeface="Symbol" panose="05050102010706020507" pitchFamily="18" charset="2"/>
              </a:rPr>
              <a:t>B) probability that A and B occur together</a:t>
            </a:r>
            <a:endParaRPr lang="en-US" dirty="0"/>
          </a:p>
          <a:p>
            <a:pPr marL="457200" lvl="1" indent="0">
              <a:buNone/>
            </a:pPr>
            <a:r>
              <a:rPr lang="en-US" dirty="0">
                <a:solidFill>
                  <a:srgbClr val="0070C0"/>
                </a:solidFill>
              </a:rPr>
              <a:t>Conditional probability</a:t>
            </a:r>
            <a:r>
              <a:rPr lang="en-US" dirty="0"/>
              <a:t>: P(A|B) probability that A occurs, given that B has occurred</a:t>
            </a:r>
          </a:p>
          <a:p>
            <a:pPr marL="457200" lvl="1" indent="0">
              <a:buNone/>
            </a:pPr>
            <a:r>
              <a:rPr lang="en-US" dirty="0">
                <a:solidFill>
                  <a:srgbClr val="0070C0"/>
                </a:solidFill>
              </a:rPr>
              <a:t> </a:t>
            </a:r>
            <a:endParaRPr lang="en-US" dirty="0"/>
          </a:p>
          <a:p>
            <a:endParaRPr lang="en-US" dirty="0"/>
          </a:p>
        </p:txBody>
      </p:sp>
      <p:cxnSp>
        <p:nvCxnSpPr>
          <p:cNvPr id="41" name="Straight Arrow Connector 40">
            <a:extLst>
              <a:ext uri="{FF2B5EF4-FFF2-40B4-BE49-F238E27FC236}">
                <a16:creationId xmlns:a16="http://schemas.microsoft.com/office/drawing/2014/main" id="{7A69F7EF-790C-02EA-0B33-6271AAF4794F}"/>
              </a:ext>
            </a:extLst>
          </p:cNvPr>
          <p:cNvCxnSpPr>
            <a:cxnSpLocks/>
          </p:cNvCxnSpPr>
          <p:nvPr/>
        </p:nvCxnSpPr>
        <p:spPr>
          <a:xfrm flipV="1">
            <a:off x="8631936" y="4810277"/>
            <a:ext cx="2986354" cy="26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EA9F3F4E-EE5B-8DDA-8A1B-BCCE20F80638}"/>
              </a:ext>
            </a:extLst>
          </p:cNvPr>
          <p:cNvCxnSpPr/>
          <p:nvPr/>
        </p:nvCxnSpPr>
        <p:spPr>
          <a:xfrm flipV="1">
            <a:off x="8641080" y="2560320"/>
            <a:ext cx="0" cy="229514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6" name="Freeform: Shape 45">
            <a:extLst>
              <a:ext uri="{FF2B5EF4-FFF2-40B4-BE49-F238E27FC236}">
                <a16:creationId xmlns:a16="http://schemas.microsoft.com/office/drawing/2014/main" id="{4C2620A2-6E12-661E-CFC2-89B2DE4FEE9C}"/>
              </a:ext>
            </a:extLst>
          </p:cNvPr>
          <p:cNvSpPr/>
          <p:nvPr/>
        </p:nvSpPr>
        <p:spPr>
          <a:xfrm>
            <a:off x="8842248" y="3101570"/>
            <a:ext cx="1709928" cy="1726462"/>
          </a:xfrm>
          <a:custGeom>
            <a:avLst/>
            <a:gdLst>
              <a:gd name="csX0" fmla="*/ 0 w 1709928"/>
              <a:gd name="csY0" fmla="*/ 1726462 h 1726462"/>
              <a:gd name="csX1" fmla="*/ 365760 w 1709928"/>
              <a:gd name="csY1" fmla="*/ 1260118 h 1726462"/>
              <a:gd name="csX2" fmla="*/ 731520 w 1709928"/>
              <a:gd name="csY2" fmla="*/ 190270 h 1726462"/>
              <a:gd name="csX3" fmla="*/ 960120 w 1709928"/>
              <a:gd name="csY3" fmla="*/ 107974 h 1726462"/>
              <a:gd name="csX4" fmla="*/ 1362456 w 1709928"/>
              <a:gd name="csY4" fmla="*/ 1324126 h 1726462"/>
              <a:gd name="csX5" fmla="*/ 1709928 w 1709928"/>
              <a:gd name="csY5" fmla="*/ 1708174 h 1726462"/>
            </a:gdLst>
            <a:ahLst/>
            <a:cxnLst>
              <a:cxn ang="0">
                <a:pos x="csX0" y="csY0"/>
              </a:cxn>
              <a:cxn ang="0">
                <a:pos x="csX1" y="csY1"/>
              </a:cxn>
              <a:cxn ang="0">
                <a:pos x="csX2" y="csY2"/>
              </a:cxn>
              <a:cxn ang="0">
                <a:pos x="csX3" y="csY3"/>
              </a:cxn>
              <a:cxn ang="0">
                <a:pos x="csX4" y="csY4"/>
              </a:cxn>
              <a:cxn ang="0">
                <a:pos x="csX5" y="csY5"/>
              </a:cxn>
            </a:cxnLst>
            <a:rect l="l" t="t" r="r" b="b"/>
            <a:pathLst>
              <a:path w="1709928" h="1726462">
                <a:moveTo>
                  <a:pt x="0" y="1726462"/>
                </a:moveTo>
                <a:cubicBezTo>
                  <a:pt x="121920" y="1621306"/>
                  <a:pt x="243840" y="1516150"/>
                  <a:pt x="365760" y="1260118"/>
                </a:cubicBezTo>
                <a:cubicBezTo>
                  <a:pt x="487680" y="1004086"/>
                  <a:pt x="632460" y="382294"/>
                  <a:pt x="731520" y="190270"/>
                </a:cubicBezTo>
                <a:cubicBezTo>
                  <a:pt x="830580" y="-1754"/>
                  <a:pt x="854964" y="-81002"/>
                  <a:pt x="960120" y="107974"/>
                </a:cubicBezTo>
                <a:cubicBezTo>
                  <a:pt x="1065276" y="296950"/>
                  <a:pt x="1237488" y="1057426"/>
                  <a:pt x="1362456" y="1324126"/>
                </a:cubicBezTo>
                <a:cubicBezTo>
                  <a:pt x="1487424" y="1590826"/>
                  <a:pt x="1598676" y="1649500"/>
                  <a:pt x="1709928" y="170817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45897EC1-A070-7484-3824-DEC780658FEA}"/>
              </a:ext>
            </a:extLst>
          </p:cNvPr>
          <p:cNvSpPr/>
          <p:nvPr/>
        </p:nvSpPr>
        <p:spPr>
          <a:xfrm>
            <a:off x="9906760" y="3292908"/>
            <a:ext cx="1371599" cy="1508759"/>
          </a:xfrm>
          <a:custGeom>
            <a:avLst/>
            <a:gdLst>
              <a:gd name="csX0" fmla="*/ 0 w 1673352"/>
              <a:gd name="csY0" fmla="*/ 2019096 h 2019096"/>
              <a:gd name="csX1" fmla="*/ 630936 w 1673352"/>
              <a:gd name="csY1" fmla="*/ 757224 h 2019096"/>
              <a:gd name="csX2" fmla="*/ 1124712 w 1673352"/>
              <a:gd name="csY2" fmla="*/ 43992 h 2019096"/>
              <a:gd name="csX3" fmla="*/ 1673352 w 1673352"/>
              <a:gd name="csY3" fmla="*/ 2019096 h 2019096"/>
            </a:gdLst>
            <a:ahLst/>
            <a:cxnLst>
              <a:cxn ang="0">
                <a:pos x="csX0" y="csY0"/>
              </a:cxn>
              <a:cxn ang="0">
                <a:pos x="csX1" y="csY1"/>
              </a:cxn>
              <a:cxn ang="0">
                <a:pos x="csX2" y="csY2"/>
              </a:cxn>
              <a:cxn ang="0">
                <a:pos x="csX3" y="csY3"/>
              </a:cxn>
            </a:cxnLst>
            <a:rect l="l" t="t" r="r" b="b"/>
            <a:pathLst>
              <a:path w="1673352" h="2019096">
                <a:moveTo>
                  <a:pt x="0" y="2019096"/>
                </a:moveTo>
                <a:cubicBezTo>
                  <a:pt x="221742" y="1552752"/>
                  <a:pt x="443484" y="1086408"/>
                  <a:pt x="630936" y="757224"/>
                </a:cubicBezTo>
                <a:cubicBezTo>
                  <a:pt x="818388" y="428040"/>
                  <a:pt x="950976" y="-166320"/>
                  <a:pt x="1124712" y="43992"/>
                </a:cubicBezTo>
                <a:cubicBezTo>
                  <a:pt x="1298448" y="254304"/>
                  <a:pt x="1485900" y="1136700"/>
                  <a:pt x="1673352" y="201909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a:extLst>
              <a:ext uri="{FF2B5EF4-FFF2-40B4-BE49-F238E27FC236}">
                <a16:creationId xmlns:a16="http://schemas.microsoft.com/office/drawing/2014/main" id="{E07D4A62-F64F-881C-B61C-23D60FE269F5}"/>
              </a:ext>
            </a:extLst>
          </p:cNvPr>
          <p:cNvCxnSpPr>
            <a:cxnSpLocks/>
          </p:cNvCxnSpPr>
          <p:nvPr/>
        </p:nvCxnSpPr>
        <p:spPr>
          <a:xfrm>
            <a:off x="9874109" y="2881001"/>
            <a:ext cx="742188"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ADC88392-5A08-6807-9762-AE0959D4D66F}"/>
              </a:ext>
            </a:extLst>
          </p:cNvPr>
          <p:cNvSpPr txBox="1"/>
          <p:nvPr/>
        </p:nvSpPr>
        <p:spPr>
          <a:xfrm>
            <a:off x="9212716" y="2657569"/>
            <a:ext cx="649537" cy="369332"/>
          </a:xfrm>
          <a:prstGeom prst="rect">
            <a:avLst/>
          </a:prstGeom>
          <a:noFill/>
        </p:spPr>
        <p:txBody>
          <a:bodyPr wrap="none" rtlCol="0">
            <a:spAutoFit/>
          </a:bodyPr>
          <a:lstStyle/>
          <a:p>
            <a:r>
              <a:rPr lang="en-US" dirty="0"/>
              <a:t>prior</a:t>
            </a:r>
          </a:p>
        </p:txBody>
      </p:sp>
      <p:sp>
        <p:nvSpPr>
          <p:cNvPr id="54" name="TextBox 53">
            <a:extLst>
              <a:ext uri="{FF2B5EF4-FFF2-40B4-BE49-F238E27FC236}">
                <a16:creationId xmlns:a16="http://schemas.microsoft.com/office/drawing/2014/main" id="{027F5B20-808C-4C83-5686-8C1A0C11951C}"/>
              </a:ext>
            </a:extLst>
          </p:cNvPr>
          <p:cNvSpPr txBox="1"/>
          <p:nvPr/>
        </p:nvSpPr>
        <p:spPr>
          <a:xfrm>
            <a:off x="10611377" y="2672889"/>
            <a:ext cx="1083053" cy="369332"/>
          </a:xfrm>
          <a:prstGeom prst="rect">
            <a:avLst/>
          </a:prstGeom>
          <a:noFill/>
        </p:spPr>
        <p:txBody>
          <a:bodyPr wrap="none" rtlCol="0">
            <a:spAutoFit/>
          </a:bodyPr>
          <a:lstStyle/>
          <a:p>
            <a:r>
              <a:rPr lang="en-US" dirty="0"/>
              <a:t>posterior</a:t>
            </a:r>
          </a:p>
        </p:txBody>
      </p:sp>
      <p:sp>
        <p:nvSpPr>
          <p:cNvPr id="56" name="TextBox 55">
            <a:extLst>
              <a:ext uri="{FF2B5EF4-FFF2-40B4-BE49-F238E27FC236}">
                <a16:creationId xmlns:a16="http://schemas.microsoft.com/office/drawing/2014/main" id="{FD024FFB-96FF-4F39-E3E2-AE9B91C92B62}"/>
              </a:ext>
            </a:extLst>
          </p:cNvPr>
          <p:cNvSpPr txBox="1"/>
          <p:nvPr/>
        </p:nvSpPr>
        <p:spPr>
          <a:xfrm>
            <a:off x="11465697" y="4855464"/>
            <a:ext cx="287258" cy="369332"/>
          </a:xfrm>
          <a:prstGeom prst="rect">
            <a:avLst/>
          </a:prstGeom>
          <a:noFill/>
        </p:spPr>
        <p:txBody>
          <a:bodyPr wrap="none" rtlCol="0">
            <a:spAutoFit/>
          </a:bodyPr>
          <a:lstStyle/>
          <a:p>
            <a:r>
              <a:rPr lang="en-US" dirty="0"/>
              <a:t>x</a:t>
            </a:r>
          </a:p>
        </p:txBody>
      </p:sp>
      <p:sp>
        <p:nvSpPr>
          <p:cNvPr id="58" name="TextBox 57">
            <a:extLst>
              <a:ext uri="{FF2B5EF4-FFF2-40B4-BE49-F238E27FC236}">
                <a16:creationId xmlns:a16="http://schemas.microsoft.com/office/drawing/2014/main" id="{6BE6AD18-56F5-110F-7AE8-7D0100373DD9}"/>
              </a:ext>
            </a:extLst>
          </p:cNvPr>
          <p:cNvSpPr txBox="1"/>
          <p:nvPr/>
        </p:nvSpPr>
        <p:spPr>
          <a:xfrm>
            <a:off x="8537970" y="5247423"/>
            <a:ext cx="3738588" cy="400110"/>
          </a:xfrm>
          <a:prstGeom prst="rect">
            <a:avLst/>
          </a:prstGeom>
          <a:noFill/>
        </p:spPr>
        <p:txBody>
          <a:bodyPr wrap="none" rtlCol="0">
            <a:spAutoFit/>
          </a:bodyPr>
          <a:lstStyle/>
          <a:p>
            <a:r>
              <a:rPr lang="en-US" sz="2000" dirty="0"/>
              <a:t>Beliefs modeled as distributions</a:t>
            </a:r>
          </a:p>
        </p:txBody>
      </p:sp>
      <p:sp>
        <p:nvSpPr>
          <p:cNvPr id="60" name="TextBox 59">
            <a:extLst>
              <a:ext uri="{FF2B5EF4-FFF2-40B4-BE49-F238E27FC236}">
                <a16:creationId xmlns:a16="http://schemas.microsoft.com/office/drawing/2014/main" id="{63EFC7BB-AE15-3AFB-EE6A-DCB88B87273C}"/>
              </a:ext>
            </a:extLst>
          </p:cNvPr>
          <p:cNvSpPr txBox="1"/>
          <p:nvPr/>
        </p:nvSpPr>
        <p:spPr>
          <a:xfrm>
            <a:off x="9860564" y="2472903"/>
            <a:ext cx="731995" cy="369332"/>
          </a:xfrm>
          <a:prstGeom prst="rect">
            <a:avLst/>
          </a:prstGeom>
          <a:noFill/>
        </p:spPr>
        <p:txBody>
          <a:bodyPr wrap="none" rtlCol="0">
            <a:spAutoFit/>
          </a:bodyPr>
          <a:lstStyle/>
          <a:p>
            <a:pPr algn="ctr"/>
            <a:r>
              <a:rPr lang="en-US" dirty="0"/>
              <a:t>event</a:t>
            </a:r>
          </a:p>
        </p:txBody>
      </p:sp>
    </p:spTree>
    <p:extLst>
      <p:ext uri="{BB962C8B-B14F-4D97-AF65-F5344CB8AC3E}">
        <p14:creationId xmlns:p14="http://schemas.microsoft.com/office/powerpoint/2010/main" val="159509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A70243-45F5-868B-A2AB-3BB414AA3D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2872C3-00C9-40BB-06C5-E13E55FE3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8D863B-E843-DADE-C451-FD913CDAE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1795FB-F368-838F-5745-1053EBB63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790421-8E0F-9CC5-F8DF-61913579C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2BF0B95-01CB-471A-8BA3-96FB87B4A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0017F1-7B3E-6814-4DAC-A1DE3C7DA1AE}"/>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Organization</a:t>
            </a:r>
          </a:p>
        </p:txBody>
      </p:sp>
      <p:sp>
        <p:nvSpPr>
          <p:cNvPr id="3" name="Content Placeholder 2">
            <a:extLst>
              <a:ext uri="{FF2B5EF4-FFF2-40B4-BE49-F238E27FC236}">
                <a16:creationId xmlns:a16="http://schemas.microsoft.com/office/drawing/2014/main" id="{82CDD9DE-64D6-0604-4B2C-6DEA2842CD2F}"/>
              </a:ext>
            </a:extLst>
          </p:cNvPr>
          <p:cNvSpPr>
            <a:spLocks noGrp="1"/>
          </p:cNvSpPr>
          <p:nvPr>
            <p:ph idx="1"/>
          </p:nvPr>
        </p:nvSpPr>
        <p:spPr>
          <a:xfrm>
            <a:off x="556631" y="2248596"/>
            <a:ext cx="9724031" cy="4314866"/>
          </a:xfrm>
        </p:spPr>
        <p:txBody>
          <a:bodyPr anchor="ctr">
            <a:normAutofit/>
          </a:bodyPr>
          <a:lstStyle/>
          <a:p>
            <a:pPr marL="0" indent="0">
              <a:buNone/>
            </a:pPr>
            <a:r>
              <a:rPr lang="en-US" sz="2400" dirty="0"/>
              <a:t>Basic concepts in probability</a:t>
            </a:r>
          </a:p>
          <a:p>
            <a:pPr marL="0" indent="0">
              <a:buNone/>
            </a:pPr>
            <a:r>
              <a:rPr lang="en-US" sz="2400" dirty="0"/>
              <a:t>	Sample space and events</a:t>
            </a:r>
          </a:p>
          <a:p>
            <a:pPr marL="0" indent="0">
              <a:buNone/>
            </a:pPr>
            <a:r>
              <a:rPr lang="en-US" sz="2400" dirty="0"/>
              <a:t>	Joint probability and marginalization</a:t>
            </a:r>
          </a:p>
          <a:p>
            <a:pPr marL="0" indent="0">
              <a:buNone/>
            </a:pPr>
            <a:r>
              <a:rPr lang="en-US" sz="2400" dirty="0"/>
              <a:t>	Conditional probability </a:t>
            </a:r>
          </a:p>
          <a:p>
            <a:pPr marL="0" indent="0">
              <a:buNone/>
            </a:pPr>
            <a:r>
              <a:rPr lang="en-US" sz="2400" dirty="0"/>
              <a:t>Bayes’ rule: prior </a:t>
            </a:r>
            <a:r>
              <a:rPr lang="en-US" sz="2400" dirty="0">
                <a:sym typeface="Symbol" panose="05050102010706020507" pitchFamily="18" charset="2"/>
              </a:rPr>
              <a:t> posterior</a:t>
            </a:r>
            <a:endParaRPr lang="en-US" sz="2400" dirty="0"/>
          </a:p>
          <a:p>
            <a:pPr marL="0" indent="0">
              <a:buNone/>
            </a:pPr>
            <a:r>
              <a:rPr lang="en-US" sz="2400" dirty="0"/>
              <a:t>Applications</a:t>
            </a:r>
          </a:p>
          <a:p>
            <a:pPr marL="0" indent="0">
              <a:buNone/>
            </a:pPr>
            <a:r>
              <a:rPr lang="en-US" sz="2400" dirty="0"/>
              <a:t>	Naïve Bayes classifier</a:t>
            </a:r>
          </a:p>
          <a:p>
            <a:pPr marL="0" indent="0">
              <a:buNone/>
            </a:pPr>
            <a:r>
              <a:rPr lang="en-US" sz="2400" dirty="0"/>
              <a:t>		Maximum a Posteriori Estimator (MAP)</a:t>
            </a:r>
          </a:p>
          <a:p>
            <a:pPr marL="0" indent="0">
              <a:buNone/>
            </a:pPr>
            <a:r>
              <a:rPr lang="en-US" sz="2400" dirty="0"/>
              <a:t>Bayesian networks</a:t>
            </a:r>
          </a:p>
          <a:p>
            <a:pPr marL="0" indent="0">
              <a:buNone/>
            </a:pPr>
            <a:endParaRPr lang="en-US" sz="2400" dirty="0"/>
          </a:p>
        </p:txBody>
      </p:sp>
      <p:pic>
        <p:nvPicPr>
          <p:cNvPr id="4" name="Picture 3" descr="A person in a robe&#10;&#10;AI-generated content may be incorrect.">
            <a:extLst>
              <a:ext uri="{FF2B5EF4-FFF2-40B4-BE49-F238E27FC236}">
                <a16:creationId xmlns:a16="http://schemas.microsoft.com/office/drawing/2014/main" id="{E72F361E-C86E-9AEA-57B6-2F0108D2E8B7}"/>
              </a:ext>
            </a:extLst>
          </p:cNvPr>
          <p:cNvPicPr>
            <a:picLocks noChangeAspect="1"/>
          </p:cNvPicPr>
          <p:nvPr/>
        </p:nvPicPr>
        <p:blipFill>
          <a:blip r:embed="rId2"/>
          <a:stretch>
            <a:fillRect/>
          </a:stretch>
        </p:blipFill>
        <p:spPr>
          <a:xfrm>
            <a:off x="8200030" y="2484294"/>
            <a:ext cx="2895600" cy="3105150"/>
          </a:xfrm>
          <a:prstGeom prst="rect">
            <a:avLst/>
          </a:prstGeom>
        </p:spPr>
      </p:pic>
      <p:sp>
        <p:nvSpPr>
          <p:cNvPr id="7" name="TextBox 6">
            <a:extLst>
              <a:ext uri="{FF2B5EF4-FFF2-40B4-BE49-F238E27FC236}">
                <a16:creationId xmlns:a16="http://schemas.microsoft.com/office/drawing/2014/main" id="{6ADCBF13-65D5-2E0F-EBBC-07EB741D5DEA}"/>
              </a:ext>
            </a:extLst>
          </p:cNvPr>
          <p:cNvSpPr txBox="1"/>
          <p:nvPr/>
        </p:nvSpPr>
        <p:spPr>
          <a:xfrm>
            <a:off x="8115299" y="5913975"/>
            <a:ext cx="3316870" cy="369332"/>
          </a:xfrm>
          <a:prstGeom prst="rect">
            <a:avLst/>
          </a:prstGeom>
          <a:noFill/>
        </p:spPr>
        <p:txBody>
          <a:bodyPr wrap="none" rtlCol="0">
            <a:spAutoFit/>
          </a:bodyPr>
          <a:lstStyle/>
          <a:p>
            <a:pPr algn="l"/>
            <a:r>
              <a:rPr lang="en-US" dirty="0"/>
              <a:t>Rev. Thomas Bayes (1701-1761)</a:t>
            </a:r>
          </a:p>
        </p:txBody>
      </p:sp>
    </p:spTree>
    <p:extLst>
      <p:ext uri="{BB962C8B-B14F-4D97-AF65-F5344CB8AC3E}">
        <p14:creationId xmlns:p14="http://schemas.microsoft.com/office/powerpoint/2010/main" val="3528451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E822A283-A683-9DD7-D45D-BFDFDB9311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28F034-5F24-A4B1-8461-561802F7A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99F42C8-A7B9-32CD-9322-EF4274DBD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B47064-E084-EBE3-250A-5B1DA6F575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8C0CEE-A850-3932-3B89-0D1E1E90C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69C6EE7-DD0E-487F-0DEB-5DC81B351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512657-A66B-5F70-5E17-2DBAB7B4C4A5}"/>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Basic probability: sample space and events </a:t>
            </a:r>
          </a:p>
        </p:txBody>
      </p:sp>
      <p:sp>
        <p:nvSpPr>
          <p:cNvPr id="3" name="Rectangle 2">
            <a:extLst>
              <a:ext uri="{FF2B5EF4-FFF2-40B4-BE49-F238E27FC236}">
                <a16:creationId xmlns:a16="http://schemas.microsoft.com/office/drawing/2014/main" id="{A29CF526-CCDF-159B-132D-275C833D8EE9}"/>
              </a:ext>
            </a:extLst>
          </p:cNvPr>
          <p:cNvSpPr/>
          <p:nvPr/>
        </p:nvSpPr>
        <p:spPr>
          <a:xfrm>
            <a:off x="7766070" y="2600410"/>
            <a:ext cx="3355848"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164C109-11F0-CE37-875D-F42F300D782E}"/>
              </a:ext>
            </a:extLst>
          </p:cNvPr>
          <p:cNvSpPr/>
          <p:nvPr/>
        </p:nvSpPr>
        <p:spPr>
          <a:xfrm>
            <a:off x="9271130" y="3037018"/>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B5F1B72-8B45-1399-88A0-EDD39DB3CD60}"/>
              </a:ext>
            </a:extLst>
          </p:cNvPr>
          <p:cNvSpPr txBox="1"/>
          <p:nvPr/>
        </p:nvSpPr>
        <p:spPr>
          <a:xfrm>
            <a:off x="10110465" y="2743615"/>
            <a:ext cx="829073" cy="400110"/>
          </a:xfrm>
          <a:prstGeom prst="rect">
            <a:avLst/>
          </a:prstGeom>
          <a:noFill/>
        </p:spPr>
        <p:txBody>
          <a:bodyPr wrap="none" rtlCol="0">
            <a:spAutoFit/>
          </a:bodyPr>
          <a:lstStyle/>
          <a:p>
            <a:r>
              <a:rPr lang="en-US" sz="2000" dirty="0"/>
              <a:t>prime</a:t>
            </a:r>
          </a:p>
        </p:txBody>
      </p:sp>
      <p:sp>
        <p:nvSpPr>
          <p:cNvPr id="15" name="TextBox 14">
            <a:extLst>
              <a:ext uri="{FF2B5EF4-FFF2-40B4-BE49-F238E27FC236}">
                <a16:creationId xmlns:a16="http://schemas.microsoft.com/office/drawing/2014/main" id="{361315F9-DFB9-B96E-3510-403ADB488681}"/>
              </a:ext>
            </a:extLst>
          </p:cNvPr>
          <p:cNvSpPr txBox="1"/>
          <p:nvPr/>
        </p:nvSpPr>
        <p:spPr>
          <a:xfrm>
            <a:off x="9246121" y="3265748"/>
            <a:ext cx="184731" cy="369332"/>
          </a:xfrm>
          <a:prstGeom prst="rect">
            <a:avLst/>
          </a:prstGeom>
          <a:noFill/>
        </p:spPr>
        <p:txBody>
          <a:bodyPr wrap="none" rtlCol="0">
            <a:spAutoFit/>
          </a:bodyPr>
          <a:lstStyle/>
          <a:p>
            <a:endParaRPr lang="en-US" dirty="0"/>
          </a:p>
        </p:txBody>
      </p:sp>
      <p:sp>
        <p:nvSpPr>
          <p:cNvPr id="11" name="TextBox 10">
            <a:extLst>
              <a:ext uri="{FF2B5EF4-FFF2-40B4-BE49-F238E27FC236}">
                <a16:creationId xmlns:a16="http://schemas.microsoft.com/office/drawing/2014/main" id="{ECA7C7EA-2242-25A9-751A-53C135571337}"/>
              </a:ext>
            </a:extLst>
          </p:cNvPr>
          <p:cNvSpPr txBox="1"/>
          <p:nvPr/>
        </p:nvSpPr>
        <p:spPr>
          <a:xfrm>
            <a:off x="417871" y="1956455"/>
            <a:ext cx="7305757" cy="4671680"/>
          </a:xfrm>
          <a:prstGeom prst="rect">
            <a:avLst/>
          </a:prstGeom>
          <a:noFill/>
        </p:spPr>
        <p:txBody>
          <a:bodyPr wrap="square" rtlCol="0">
            <a:normAutofit fontScale="92500" lnSpcReduction="20000"/>
          </a:bodyPr>
          <a:lstStyle/>
          <a:p>
            <a:r>
              <a:rPr lang="en-US" sz="2100" dirty="0">
                <a:solidFill>
                  <a:srgbClr val="0070C0"/>
                </a:solidFill>
              </a:rPr>
              <a:t>Experiment: </a:t>
            </a:r>
            <a:r>
              <a:rPr lang="en-US" sz="2000" dirty="0"/>
              <a:t>I throw a fair die. </a:t>
            </a:r>
          </a:p>
          <a:p>
            <a:endParaRPr lang="en-US" sz="2000" dirty="0">
              <a:solidFill>
                <a:srgbClr val="0070C0"/>
              </a:solidFill>
            </a:endParaRPr>
          </a:p>
          <a:p>
            <a:r>
              <a:rPr lang="en-US" sz="2000" dirty="0">
                <a:solidFill>
                  <a:srgbClr val="0070C0"/>
                </a:solidFill>
              </a:rPr>
              <a:t>Sample space</a:t>
            </a:r>
            <a:r>
              <a:rPr lang="en-US" sz="2000" dirty="0"/>
              <a:t>: set of possible outcomes of experiment</a:t>
            </a:r>
          </a:p>
          <a:p>
            <a:r>
              <a:rPr lang="en-US" sz="2000" dirty="0"/>
              <a:t>Example: {1,2,3,4,5,6}</a:t>
            </a:r>
          </a:p>
          <a:p>
            <a:endParaRPr lang="en-US" sz="2000" dirty="0"/>
          </a:p>
          <a:p>
            <a:r>
              <a:rPr lang="en-US" sz="2000" dirty="0">
                <a:solidFill>
                  <a:srgbClr val="0070C0"/>
                </a:solidFill>
              </a:rPr>
              <a:t>Realization</a:t>
            </a:r>
            <a:r>
              <a:rPr lang="en-US" sz="2000" dirty="0"/>
              <a:t>: element of sample space</a:t>
            </a:r>
          </a:p>
          <a:p>
            <a:r>
              <a:rPr lang="en-US" sz="2000" dirty="0"/>
              <a:t>Example: 5</a:t>
            </a:r>
          </a:p>
          <a:p>
            <a:endParaRPr lang="en-US" sz="2000" dirty="0"/>
          </a:p>
          <a:p>
            <a:r>
              <a:rPr lang="en-US" sz="2000" dirty="0">
                <a:solidFill>
                  <a:srgbClr val="0070C0"/>
                </a:solidFill>
              </a:rPr>
              <a:t>Event:</a:t>
            </a:r>
            <a:r>
              <a:rPr lang="en-US" sz="2000" dirty="0"/>
              <a:t> subset of sample space, possibly empty </a:t>
            </a:r>
          </a:p>
          <a:p>
            <a:r>
              <a:rPr lang="en-US" sz="2000" dirty="0">
                <a:sym typeface="Symbol" panose="05050102010706020507" pitchFamily="18" charset="2"/>
              </a:rPr>
              <a:t>        Intuitively, some characteristic (feature) of realizations</a:t>
            </a:r>
          </a:p>
          <a:p>
            <a:r>
              <a:rPr lang="en-US" dirty="0"/>
              <a:t>         Example: </a:t>
            </a:r>
          </a:p>
          <a:p>
            <a:pPr marL="800100" lvl="1" indent="-342900">
              <a:buFont typeface="Arial" panose="020B0604020202020204" pitchFamily="34" charset="0"/>
              <a:buChar char="•"/>
            </a:pPr>
            <a:r>
              <a:rPr lang="en-US" dirty="0"/>
              <a:t>Prime = {2,3,5}</a:t>
            </a:r>
          </a:p>
          <a:p>
            <a:pPr marL="800100" lvl="1" indent="-342900">
              <a:buFont typeface="Arial" panose="020B0604020202020204" pitchFamily="34" charset="0"/>
              <a:buChar char="•"/>
            </a:pPr>
            <a:r>
              <a:rPr lang="en-US" dirty="0"/>
              <a:t>Even = {2,4,6} </a:t>
            </a:r>
          </a:p>
          <a:p>
            <a:pPr marL="800100" lvl="1" indent="-342900">
              <a:buFont typeface="Arial" panose="020B0604020202020204" pitchFamily="34" charset="0"/>
              <a:buChar char="•"/>
            </a:pPr>
            <a:r>
              <a:rPr lang="en-US" dirty="0">
                <a:sym typeface="Symbol" panose="05050102010706020507" pitchFamily="18" charset="2"/>
              </a:rPr>
              <a:t>Two = {2}</a:t>
            </a:r>
            <a:br>
              <a:rPr lang="en-US" sz="2100" dirty="0">
                <a:solidFill>
                  <a:srgbClr val="0070C0"/>
                </a:solidFill>
                <a:sym typeface="Symbol" panose="05050102010706020507" pitchFamily="18" charset="2"/>
              </a:rPr>
            </a:br>
            <a:endParaRPr lang="en-US" sz="2100" dirty="0">
              <a:solidFill>
                <a:srgbClr val="0070C0"/>
              </a:solidFill>
              <a:sym typeface="Symbol" panose="05050102010706020507" pitchFamily="18" charset="2"/>
            </a:endParaRPr>
          </a:p>
          <a:p>
            <a:r>
              <a:rPr lang="en-US" sz="2100" dirty="0">
                <a:solidFill>
                  <a:srgbClr val="0070C0"/>
                </a:solidFill>
                <a:sym typeface="Symbol" panose="05050102010706020507" pitchFamily="18" charset="2"/>
              </a:rPr>
              <a:t>Simple event</a:t>
            </a:r>
            <a:r>
              <a:rPr lang="en-US" sz="2000" dirty="0">
                <a:sym typeface="Symbol" panose="05050102010706020507" pitchFamily="18" charset="2"/>
              </a:rPr>
              <a:t>: singleton set (exactly one sample element)</a:t>
            </a:r>
            <a:br>
              <a:rPr lang="en-US" sz="2000" dirty="0">
                <a:sym typeface="Symbol" panose="05050102010706020507" pitchFamily="18" charset="2"/>
              </a:rPr>
            </a:br>
            <a:r>
              <a:rPr lang="en-US" sz="2100" dirty="0">
                <a:solidFill>
                  <a:srgbClr val="0070C0"/>
                </a:solidFill>
                <a:sym typeface="Symbol" panose="05050102010706020507" pitchFamily="18" charset="2"/>
              </a:rPr>
              <a:t>Compound element</a:t>
            </a:r>
            <a:r>
              <a:rPr lang="en-US" sz="2000" dirty="0">
                <a:sym typeface="Symbol" panose="05050102010706020507" pitchFamily="18" charset="2"/>
              </a:rPr>
              <a:t>: set with multiple elements of sample space</a:t>
            </a:r>
          </a:p>
          <a:p>
            <a:pPr lvl="1"/>
            <a:endParaRPr lang="en-US" dirty="0">
              <a:sym typeface="Symbol" panose="05050102010706020507" pitchFamily="18" charset="2"/>
            </a:endParaRPr>
          </a:p>
          <a:p>
            <a:endParaRPr lang="en-US" dirty="0">
              <a:sym typeface="Symbol" panose="05050102010706020507" pitchFamily="18" charset="2"/>
            </a:endParaRPr>
          </a:p>
          <a:p>
            <a:r>
              <a:rPr lang="en-US" sz="2100" dirty="0">
                <a:solidFill>
                  <a:srgbClr val="0070C0"/>
                </a:solidFill>
                <a:sym typeface="Symbol" panose="05050102010706020507" pitchFamily="18" charset="2"/>
              </a:rPr>
              <a:t>Distinction between realization and event is very important</a:t>
            </a:r>
          </a:p>
          <a:p>
            <a:endParaRPr lang="en-US" dirty="0"/>
          </a:p>
        </p:txBody>
      </p:sp>
      <p:sp>
        <p:nvSpPr>
          <p:cNvPr id="18" name="TextBox 17">
            <a:extLst>
              <a:ext uri="{FF2B5EF4-FFF2-40B4-BE49-F238E27FC236}">
                <a16:creationId xmlns:a16="http://schemas.microsoft.com/office/drawing/2014/main" id="{14DB9439-388B-FCF9-9CA9-9F2546ABBF58}"/>
              </a:ext>
            </a:extLst>
          </p:cNvPr>
          <p:cNvSpPr txBox="1"/>
          <p:nvPr/>
        </p:nvSpPr>
        <p:spPr>
          <a:xfrm>
            <a:off x="9013970" y="3337309"/>
            <a:ext cx="740908" cy="369332"/>
          </a:xfrm>
          <a:prstGeom prst="rect">
            <a:avLst/>
          </a:prstGeom>
          <a:noFill/>
        </p:spPr>
        <p:txBody>
          <a:bodyPr wrap="none" rtlCol="0">
            <a:spAutoFit/>
          </a:bodyPr>
          <a:lstStyle/>
          <a:p>
            <a:r>
              <a:rPr lang="en-US" dirty="0"/>
              <a:t>1  3  5</a:t>
            </a:r>
          </a:p>
        </p:txBody>
      </p:sp>
      <p:sp>
        <p:nvSpPr>
          <p:cNvPr id="19" name="TextBox 18">
            <a:extLst>
              <a:ext uri="{FF2B5EF4-FFF2-40B4-BE49-F238E27FC236}">
                <a16:creationId xmlns:a16="http://schemas.microsoft.com/office/drawing/2014/main" id="{D4C6D2CD-BDFD-C2BE-3A72-D812331D9F5D}"/>
              </a:ext>
            </a:extLst>
          </p:cNvPr>
          <p:cNvSpPr txBox="1"/>
          <p:nvPr/>
        </p:nvSpPr>
        <p:spPr>
          <a:xfrm>
            <a:off x="8927224" y="2661452"/>
            <a:ext cx="914400" cy="369332"/>
          </a:xfrm>
          <a:prstGeom prst="rect">
            <a:avLst/>
          </a:prstGeom>
          <a:noFill/>
        </p:spPr>
        <p:txBody>
          <a:bodyPr wrap="square" rtlCol="0">
            <a:spAutoFit/>
          </a:bodyPr>
          <a:lstStyle/>
          <a:p>
            <a:r>
              <a:rPr lang="en-US" dirty="0"/>
              <a:t>  4  6</a:t>
            </a:r>
          </a:p>
        </p:txBody>
      </p:sp>
      <p:sp>
        <p:nvSpPr>
          <p:cNvPr id="57" name="TextBox 56">
            <a:extLst>
              <a:ext uri="{FF2B5EF4-FFF2-40B4-BE49-F238E27FC236}">
                <a16:creationId xmlns:a16="http://schemas.microsoft.com/office/drawing/2014/main" id="{5331234B-B3E3-76A6-7A90-C68F5E06C9B1}"/>
              </a:ext>
            </a:extLst>
          </p:cNvPr>
          <p:cNvSpPr txBox="1"/>
          <p:nvPr/>
        </p:nvSpPr>
        <p:spPr>
          <a:xfrm>
            <a:off x="8850272" y="4337413"/>
            <a:ext cx="1601721" cy="369332"/>
          </a:xfrm>
          <a:prstGeom prst="rect">
            <a:avLst/>
          </a:prstGeom>
          <a:noFill/>
        </p:spPr>
        <p:txBody>
          <a:bodyPr wrap="none" rtlCol="0">
            <a:spAutoFit/>
          </a:bodyPr>
          <a:lstStyle/>
          <a:p>
            <a:pPr algn="l"/>
            <a:r>
              <a:rPr lang="en-US" dirty="0"/>
              <a:t>Sample space</a:t>
            </a:r>
          </a:p>
        </p:txBody>
      </p:sp>
      <p:sp>
        <p:nvSpPr>
          <p:cNvPr id="59" name="TextBox 58">
            <a:extLst>
              <a:ext uri="{FF2B5EF4-FFF2-40B4-BE49-F238E27FC236}">
                <a16:creationId xmlns:a16="http://schemas.microsoft.com/office/drawing/2014/main" id="{59240C5A-82CA-74F2-C7F0-6D412AC7823A}"/>
              </a:ext>
            </a:extLst>
          </p:cNvPr>
          <p:cNvSpPr txBox="1"/>
          <p:nvPr/>
        </p:nvSpPr>
        <p:spPr>
          <a:xfrm>
            <a:off x="9802366" y="3030784"/>
            <a:ext cx="308098" cy="369332"/>
          </a:xfrm>
          <a:prstGeom prst="rect">
            <a:avLst/>
          </a:prstGeom>
          <a:noFill/>
        </p:spPr>
        <p:txBody>
          <a:bodyPr wrap="none" rtlCol="0">
            <a:spAutoFit/>
          </a:bodyPr>
          <a:lstStyle/>
          <a:p>
            <a:pPr algn="l"/>
            <a:r>
              <a:rPr lang="en-US" dirty="0"/>
              <a:t>2</a:t>
            </a:r>
          </a:p>
        </p:txBody>
      </p:sp>
    </p:spTree>
    <p:extLst>
      <p:ext uri="{BB962C8B-B14F-4D97-AF65-F5344CB8AC3E}">
        <p14:creationId xmlns:p14="http://schemas.microsoft.com/office/powerpoint/2010/main" val="180823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80B91C5C-1F02-5FB0-1CCA-FF2AE3EF70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580053-3F7D-F748-56C7-C314E19BE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EF07F51-EC30-028D-A490-08474464F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E103EC8-5453-6A39-CBC7-83B779F3A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F772D0B-AC84-3115-BBE3-CE66FDA16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F8052DB-A0F0-C8D3-15A3-B9CF96F31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D6EE1E-2D03-4721-459C-DF965BCA8602}"/>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ML interpretation </a:t>
            </a:r>
          </a:p>
        </p:txBody>
      </p:sp>
      <p:sp>
        <p:nvSpPr>
          <p:cNvPr id="3" name="Rectangle 2">
            <a:extLst>
              <a:ext uri="{FF2B5EF4-FFF2-40B4-BE49-F238E27FC236}">
                <a16:creationId xmlns:a16="http://schemas.microsoft.com/office/drawing/2014/main" id="{0BD74D05-FECA-F676-628F-CED31D0A857E}"/>
              </a:ext>
            </a:extLst>
          </p:cNvPr>
          <p:cNvSpPr/>
          <p:nvPr/>
        </p:nvSpPr>
        <p:spPr>
          <a:xfrm>
            <a:off x="7698055" y="2755858"/>
            <a:ext cx="3518484"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134B9BE-4885-D0E7-DC86-7FA370C1E354}"/>
              </a:ext>
            </a:extLst>
          </p:cNvPr>
          <p:cNvSpPr/>
          <p:nvPr/>
        </p:nvSpPr>
        <p:spPr>
          <a:xfrm>
            <a:off x="9365751" y="3192466"/>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B730ED-7DC4-4906-4132-9277A9BB1D0D}"/>
              </a:ext>
            </a:extLst>
          </p:cNvPr>
          <p:cNvSpPr txBox="1"/>
          <p:nvPr/>
        </p:nvSpPr>
        <p:spPr>
          <a:xfrm>
            <a:off x="327956" y="2089344"/>
            <a:ext cx="7305757" cy="4205806"/>
          </a:xfrm>
          <a:prstGeom prst="rect">
            <a:avLst/>
          </a:prstGeom>
          <a:noFill/>
        </p:spPr>
        <p:txBody>
          <a:bodyPr wrap="square" rtlCol="0">
            <a:normAutofit/>
          </a:bodyPr>
          <a:lstStyle/>
          <a:p>
            <a:endParaRPr lang="en-US" sz="2000" dirty="0">
              <a:solidFill>
                <a:srgbClr val="0070C0"/>
              </a:solidFill>
            </a:endParaRPr>
          </a:p>
          <a:p>
            <a:r>
              <a:rPr lang="en-US" sz="2000" dirty="0">
                <a:solidFill>
                  <a:srgbClr val="0070C0"/>
                </a:solidFill>
              </a:rPr>
              <a:t>Sample space</a:t>
            </a:r>
            <a:r>
              <a:rPr lang="en-US" sz="2000" dirty="0"/>
              <a:t>: </a:t>
            </a:r>
          </a:p>
          <a:p>
            <a:r>
              <a:rPr lang="en-US" sz="2000" dirty="0"/>
              <a:t>	spam detection: set of messages</a:t>
            </a:r>
          </a:p>
          <a:p>
            <a:endParaRPr lang="en-US" sz="2000" dirty="0"/>
          </a:p>
          <a:p>
            <a:r>
              <a:rPr lang="en-US" sz="2000" dirty="0">
                <a:solidFill>
                  <a:srgbClr val="0070C0"/>
                </a:solidFill>
              </a:rPr>
              <a:t>Realization</a:t>
            </a:r>
            <a:r>
              <a:rPr lang="en-US" sz="2000" dirty="0"/>
              <a:t>: one element from sample space</a:t>
            </a:r>
          </a:p>
          <a:p>
            <a:endParaRPr lang="en-US" sz="2000" dirty="0"/>
          </a:p>
          <a:p>
            <a:r>
              <a:rPr lang="en-US" sz="2000" dirty="0">
                <a:solidFill>
                  <a:srgbClr val="0070C0"/>
                </a:solidFill>
              </a:rPr>
              <a:t>Events:</a:t>
            </a:r>
            <a:r>
              <a:rPr lang="en-US" sz="2000" dirty="0"/>
              <a:t>  </a:t>
            </a:r>
          </a:p>
          <a:p>
            <a:r>
              <a:rPr lang="en-US" sz="2000" dirty="0"/>
              <a:t>       Binary features: spam, </a:t>
            </a:r>
            <a:r>
              <a:rPr lang="en-US" sz="2000" dirty="0">
                <a:sym typeface="Symbol" panose="05050102010706020507" pitchFamily="18" charset="2"/>
              </a:rPr>
              <a:t> spam</a:t>
            </a:r>
          </a:p>
          <a:p>
            <a:r>
              <a:rPr lang="en-US" sz="2000" dirty="0">
                <a:sym typeface="Symbol" panose="05050102010706020507" pitchFamily="18" charset="2"/>
              </a:rPr>
              <a:t>       Categorical features: cuisines {American, Chinese, Japanese}</a:t>
            </a:r>
          </a:p>
          <a:p>
            <a:r>
              <a:rPr lang="en-US" sz="2000" dirty="0">
                <a:sym typeface="Symbol" panose="05050102010706020507" pitchFamily="18" charset="2"/>
              </a:rPr>
              <a:t>       Numerical features: height, weight</a:t>
            </a:r>
          </a:p>
          <a:p>
            <a:r>
              <a:rPr lang="en-US" sz="2100" dirty="0">
                <a:solidFill>
                  <a:srgbClr val="0070C0"/>
                </a:solidFill>
                <a:sym typeface="Symbol" panose="05050102010706020507" pitchFamily="18" charset="2"/>
              </a:rPr>
              <a:t>       </a:t>
            </a:r>
            <a:endParaRPr lang="en-US" dirty="0"/>
          </a:p>
        </p:txBody>
      </p:sp>
      <p:sp>
        <p:nvSpPr>
          <p:cNvPr id="57" name="TextBox 56">
            <a:extLst>
              <a:ext uri="{FF2B5EF4-FFF2-40B4-BE49-F238E27FC236}">
                <a16:creationId xmlns:a16="http://schemas.microsoft.com/office/drawing/2014/main" id="{794D1D06-89E2-C8D1-2C60-9D1988F81825}"/>
              </a:ext>
            </a:extLst>
          </p:cNvPr>
          <p:cNvSpPr txBox="1"/>
          <p:nvPr/>
        </p:nvSpPr>
        <p:spPr>
          <a:xfrm>
            <a:off x="8219801" y="4480314"/>
            <a:ext cx="2725361" cy="369332"/>
          </a:xfrm>
          <a:prstGeom prst="rect">
            <a:avLst/>
          </a:prstGeom>
          <a:noFill/>
        </p:spPr>
        <p:txBody>
          <a:bodyPr wrap="none" rtlCol="0">
            <a:spAutoFit/>
          </a:bodyPr>
          <a:lstStyle/>
          <a:p>
            <a:pPr algn="l"/>
            <a:r>
              <a:rPr lang="en-US" dirty="0"/>
              <a:t>Sample space: messages</a:t>
            </a:r>
          </a:p>
        </p:txBody>
      </p:sp>
      <p:sp>
        <p:nvSpPr>
          <p:cNvPr id="4" name="Rectangle 3">
            <a:extLst>
              <a:ext uri="{FF2B5EF4-FFF2-40B4-BE49-F238E27FC236}">
                <a16:creationId xmlns:a16="http://schemas.microsoft.com/office/drawing/2014/main" id="{61B8C64D-02BB-3B58-E104-D3B2A05DF840}"/>
              </a:ext>
            </a:extLst>
          </p:cNvPr>
          <p:cNvSpPr/>
          <p:nvPr/>
        </p:nvSpPr>
        <p:spPr>
          <a:xfrm>
            <a:off x="8080712" y="3037796"/>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5D98CAF-A595-D870-F50D-A1D5D79DBDAB}"/>
              </a:ext>
            </a:extLst>
          </p:cNvPr>
          <p:cNvSpPr/>
          <p:nvPr/>
        </p:nvSpPr>
        <p:spPr>
          <a:xfrm>
            <a:off x="8408972" y="3727001"/>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ED37B5-AE8E-D179-3F28-610CA5A003FA}"/>
              </a:ext>
            </a:extLst>
          </p:cNvPr>
          <p:cNvSpPr/>
          <p:nvPr/>
        </p:nvSpPr>
        <p:spPr>
          <a:xfrm>
            <a:off x="10192997" y="3708243"/>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8D80BE-CB8A-FB92-964F-C697D67B00B6}"/>
              </a:ext>
            </a:extLst>
          </p:cNvPr>
          <p:cNvSpPr/>
          <p:nvPr/>
        </p:nvSpPr>
        <p:spPr>
          <a:xfrm>
            <a:off x="8873781" y="3609986"/>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024623D-21D0-8975-6917-6F6234B81A82}"/>
              </a:ext>
            </a:extLst>
          </p:cNvPr>
          <p:cNvSpPr/>
          <p:nvPr/>
        </p:nvSpPr>
        <p:spPr>
          <a:xfrm>
            <a:off x="8696921" y="3049913"/>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D58B5F7-A35F-31AE-20A3-53D12FAF5EC9}"/>
              </a:ext>
            </a:extLst>
          </p:cNvPr>
          <p:cNvSpPr/>
          <p:nvPr/>
        </p:nvSpPr>
        <p:spPr>
          <a:xfrm>
            <a:off x="8300385" y="3376777"/>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85C573-345F-C385-E6A1-844DC5ADF68C}"/>
              </a:ext>
            </a:extLst>
          </p:cNvPr>
          <p:cNvSpPr/>
          <p:nvPr/>
        </p:nvSpPr>
        <p:spPr>
          <a:xfrm>
            <a:off x="10009293" y="3329252"/>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FB852C-D645-0517-C854-ADE43889A925}"/>
              </a:ext>
            </a:extLst>
          </p:cNvPr>
          <p:cNvSpPr/>
          <p:nvPr/>
        </p:nvSpPr>
        <p:spPr>
          <a:xfrm>
            <a:off x="9696057" y="3572331"/>
            <a:ext cx="99391" cy="154670"/>
          </a:xfrm>
          <a:prstGeom prst="rect">
            <a:avLst/>
          </a:prstGeom>
          <a:solidFill>
            <a:schemeClr val="tx1"/>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357574E-DDB7-1954-B372-6941B7353BC0}"/>
              </a:ext>
            </a:extLst>
          </p:cNvPr>
          <p:cNvSpPr txBox="1"/>
          <p:nvPr/>
        </p:nvSpPr>
        <p:spPr>
          <a:xfrm>
            <a:off x="10319973" y="2942582"/>
            <a:ext cx="747320" cy="369332"/>
          </a:xfrm>
          <a:prstGeom prst="rect">
            <a:avLst/>
          </a:prstGeom>
          <a:noFill/>
        </p:spPr>
        <p:txBody>
          <a:bodyPr wrap="none" rtlCol="0">
            <a:spAutoFit/>
          </a:bodyPr>
          <a:lstStyle/>
          <a:p>
            <a:pPr algn="l"/>
            <a:r>
              <a:rPr lang="en-US" dirty="0"/>
              <a:t>spam</a:t>
            </a:r>
          </a:p>
        </p:txBody>
      </p:sp>
      <p:sp>
        <p:nvSpPr>
          <p:cNvPr id="42" name="Oval 41">
            <a:extLst>
              <a:ext uri="{FF2B5EF4-FFF2-40B4-BE49-F238E27FC236}">
                <a16:creationId xmlns:a16="http://schemas.microsoft.com/office/drawing/2014/main" id="{23D4204A-679C-28FE-77BD-65845C5F2714}"/>
              </a:ext>
            </a:extLst>
          </p:cNvPr>
          <p:cNvSpPr/>
          <p:nvPr/>
        </p:nvSpPr>
        <p:spPr>
          <a:xfrm>
            <a:off x="7776085" y="2872259"/>
            <a:ext cx="1469054" cy="1090989"/>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ECCB28D-C7C7-C988-706B-CB7C4200C85A}"/>
              </a:ext>
            </a:extLst>
          </p:cNvPr>
          <p:cNvSpPr txBox="1"/>
          <p:nvPr/>
        </p:nvSpPr>
        <p:spPr>
          <a:xfrm>
            <a:off x="8912229" y="2696134"/>
            <a:ext cx="958917" cy="369332"/>
          </a:xfrm>
          <a:prstGeom prst="rect">
            <a:avLst/>
          </a:prstGeom>
          <a:noFill/>
        </p:spPr>
        <p:txBody>
          <a:bodyPr wrap="none" rtlCol="0">
            <a:spAutoFit/>
          </a:bodyPr>
          <a:lstStyle/>
          <a:p>
            <a:pPr algn="l"/>
            <a:r>
              <a:rPr lang="en-US" dirty="0">
                <a:sym typeface="Symbol" panose="05050102010706020507" pitchFamily="18" charset="2"/>
              </a:rPr>
              <a:t> spam</a:t>
            </a:r>
            <a:endParaRPr lang="en-US" dirty="0"/>
          </a:p>
        </p:txBody>
      </p:sp>
    </p:spTree>
    <p:extLst>
      <p:ext uri="{BB962C8B-B14F-4D97-AF65-F5344CB8AC3E}">
        <p14:creationId xmlns:p14="http://schemas.microsoft.com/office/powerpoint/2010/main" val="2442006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83B0497-95AF-03A9-CCE2-E3C9D2CC788D}"/>
              </a:ext>
            </a:extLst>
          </p:cNvPr>
          <p:cNvSpPr>
            <a:spLocks noGrp="1"/>
          </p:cNvSpPr>
          <p:nvPr>
            <p:ph type="title"/>
          </p:nvPr>
        </p:nvSpPr>
        <p:spPr>
          <a:xfrm>
            <a:off x="1748397" y="1527362"/>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Joint Probability</a:t>
            </a:r>
          </a:p>
        </p:txBody>
      </p:sp>
    </p:spTree>
    <p:extLst>
      <p:ext uri="{BB962C8B-B14F-4D97-AF65-F5344CB8AC3E}">
        <p14:creationId xmlns:p14="http://schemas.microsoft.com/office/powerpoint/2010/main" val="2381072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9AC67100-F5F4-711B-03F7-D4536205EFF7}"/>
            </a:ext>
          </a:extLst>
        </p:cNvPr>
        <p:cNvGrpSpPr/>
        <p:nvPr/>
      </p:nvGrpSpPr>
      <p:grpSpPr>
        <a:xfrm>
          <a:off x="0" y="0"/>
          <a:ext cx="0" cy="0"/>
          <a:chOff x="0" y="0"/>
          <a:chExt cx="0" cy="0"/>
        </a:xfrm>
      </p:grpSpPr>
      <p:sp>
        <p:nvSpPr>
          <p:cNvPr id="56" name="TextBox 55">
            <a:extLst>
              <a:ext uri="{FF2B5EF4-FFF2-40B4-BE49-F238E27FC236}">
                <a16:creationId xmlns:a16="http://schemas.microsoft.com/office/drawing/2014/main" id="{A4C3D03B-EA83-B372-B866-9F3DA4F2BEA3}"/>
              </a:ext>
            </a:extLst>
          </p:cNvPr>
          <p:cNvSpPr txBox="1"/>
          <p:nvPr/>
        </p:nvSpPr>
        <p:spPr>
          <a:xfrm>
            <a:off x="7282939" y="4013417"/>
            <a:ext cx="4663895" cy="1542839"/>
          </a:xfrm>
          <a:prstGeom prst="rect">
            <a:avLst/>
          </a:prstGeom>
          <a:solidFill>
            <a:schemeClr val="tx2">
              <a:lumMod val="25000"/>
              <a:lumOff val="75000"/>
              <a:alpha val="27000"/>
            </a:schemeClr>
          </a:solidFill>
        </p:spPr>
        <p:txBody>
          <a:bodyPr wrap="square" rtlCol="0">
            <a:spAutoFit/>
          </a:bodyPr>
          <a:lstStyle/>
          <a:p>
            <a:pPr algn="l"/>
            <a:endParaRPr lang="en-US" dirty="0"/>
          </a:p>
        </p:txBody>
      </p:sp>
      <p:sp useBgFill="1">
        <p:nvSpPr>
          <p:cNvPr id="8" name="Rectangle 7">
            <a:extLst>
              <a:ext uri="{FF2B5EF4-FFF2-40B4-BE49-F238E27FC236}">
                <a16:creationId xmlns:a16="http://schemas.microsoft.com/office/drawing/2014/main" id="{5734037A-B694-47F7-0F03-4D5622655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4696D34-EF02-E7A1-ED65-FE6DC3646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84EB82E-C1BA-2C9A-89D5-2AB49CC53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53EB3F8-793D-7066-9409-83D024F64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0448AB0-85D2-63E4-0491-E047930DE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4051E8-A42C-D1F6-790A-DA61EE0384DD}"/>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Joint probability </a:t>
            </a:r>
          </a:p>
        </p:txBody>
      </p:sp>
      <p:sp>
        <p:nvSpPr>
          <p:cNvPr id="3" name="Rectangle 2">
            <a:extLst>
              <a:ext uri="{FF2B5EF4-FFF2-40B4-BE49-F238E27FC236}">
                <a16:creationId xmlns:a16="http://schemas.microsoft.com/office/drawing/2014/main" id="{3BCC0772-9744-A06D-663E-DB0E42D8C136}"/>
              </a:ext>
            </a:extLst>
          </p:cNvPr>
          <p:cNvSpPr/>
          <p:nvPr/>
        </p:nvSpPr>
        <p:spPr>
          <a:xfrm>
            <a:off x="7378444" y="1976835"/>
            <a:ext cx="3355848"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8CB7F884-AAC6-1A34-6204-9079BAF0C1C3}"/>
              </a:ext>
            </a:extLst>
          </p:cNvPr>
          <p:cNvSpPr/>
          <p:nvPr/>
        </p:nvSpPr>
        <p:spPr>
          <a:xfrm>
            <a:off x="7740140" y="2413443"/>
            <a:ext cx="1727200" cy="846590"/>
          </a:xfrm>
          <a:prstGeom prst="ellipse">
            <a:avLst/>
          </a:prstGeom>
          <a:pattFill prst="pct5">
            <a:fgClr>
              <a:schemeClr val="tx1">
                <a:lumMod val="50000"/>
                <a:lumOff val="5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61058A7-99AB-6274-F205-11C9EC96FB3B}"/>
              </a:ext>
            </a:extLst>
          </p:cNvPr>
          <p:cNvSpPr/>
          <p:nvPr/>
        </p:nvSpPr>
        <p:spPr>
          <a:xfrm>
            <a:off x="8883504" y="2413443"/>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2D1CD3-86DE-4FB4-6E26-A34459F02E40}"/>
              </a:ext>
            </a:extLst>
          </p:cNvPr>
          <p:cNvSpPr txBox="1"/>
          <p:nvPr/>
        </p:nvSpPr>
        <p:spPr>
          <a:xfrm>
            <a:off x="7848375" y="2636683"/>
            <a:ext cx="614271" cy="400110"/>
          </a:xfrm>
          <a:prstGeom prst="rect">
            <a:avLst/>
          </a:prstGeom>
          <a:noFill/>
        </p:spPr>
        <p:txBody>
          <a:bodyPr wrap="none" rtlCol="0">
            <a:spAutoFit/>
          </a:bodyPr>
          <a:lstStyle/>
          <a:p>
            <a:r>
              <a:rPr lang="en-US" sz="2000" dirty="0"/>
              <a:t>odd</a:t>
            </a:r>
          </a:p>
        </p:txBody>
      </p:sp>
      <p:sp>
        <p:nvSpPr>
          <p:cNvPr id="13" name="TextBox 12">
            <a:extLst>
              <a:ext uri="{FF2B5EF4-FFF2-40B4-BE49-F238E27FC236}">
                <a16:creationId xmlns:a16="http://schemas.microsoft.com/office/drawing/2014/main" id="{3498EFCD-DCB8-83AD-9C67-14CC17A6CB6C}"/>
              </a:ext>
            </a:extLst>
          </p:cNvPr>
          <p:cNvSpPr txBox="1"/>
          <p:nvPr/>
        </p:nvSpPr>
        <p:spPr>
          <a:xfrm>
            <a:off x="9483348" y="2615306"/>
            <a:ext cx="829073" cy="400110"/>
          </a:xfrm>
          <a:prstGeom prst="rect">
            <a:avLst/>
          </a:prstGeom>
          <a:noFill/>
        </p:spPr>
        <p:txBody>
          <a:bodyPr wrap="none" rtlCol="0">
            <a:spAutoFit/>
          </a:bodyPr>
          <a:lstStyle/>
          <a:p>
            <a:r>
              <a:rPr lang="en-US" sz="2000" dirty="0"/>
              <a:t>prime</a:t>
            </a:r>
          </a:p>
        </p:txBody>
      </p:sp>
      <p:sp>
        <p:nvSpPr>
          <p:cNvPr id="15" name="TextBox 14">
            <a:extLst>
              <a:ext uri="{FF2B5EF4-FFF2-40B4-BE49-F238E27FC236}">
                <a16:creationId xmlns:a16="http://schemas.microsoft.com/office/drawing/2014/main" id="{CEB66B60-9FF4-9764-B44E-38EA5085A02B}"/>
              </a:ext>
            </a:extLst>
          </p:cNvPr>
          <p:cNvSpPr txBox="1"/>
          <p:nvPr/>
        </p:nvSpPr>
        <p:spPr>
          <a:xfrm>
            <a:off x="8858495" y="2642173"/>
            <a:ext cx="184731" cy="369332"/>
          </a:xfrm>
          <a:prstGeom prst="rect">
            <a:avLst/>
          </a:prstGeom>
          <a:noFill/>
        </p:spPr>
        <p:txBody>
          <a:bodyPr wrap="none" rtlCol="0">
            <a:spAutoFit/>
          </a:bodyPr>
          <a:lstStyle/>
          <a:p>
            <a:endParaRPr lang="en-US" dirty="0"/>
          </a:p>
        </p:txBody>
      </p:sp>
      <p:sp>
        <p:nvSpPr>
          <p:cNvPr id="11" name="TextBox 10">
            <a:extLst>
              <a:ext uri="{FF2B5EF4-FFF2-40B4-BE49-F238E27FC236}">
                <a16:creationId xmlns:a16="http://schemas.microsoft.com/office/drawing/2014/main" id="{7CAC5885-330B-FE22-C532-41DB3F0BDB39}"/>
              </a:ext>
            </a:extLst>
          </p:cNvPr>
          <p:cNvSpPr txBox="1"/>
          <p:nvPr/>
        </p:nvSpPr>
        <p:spPr>
          <a:xfrm>
            <a:off x="417873" y="1956455"/>
            <a:ext cx="6057446" cy="4228336"/>
          </a:xfrm>
          <a:prstGeom prst="rect">
            <a:avLst/>
          </a:prstGeom>
          <a:noFill/>
        </p:spPr>
        <p:txBody>
          <a:bodyPr wrap="square" rtlCol="0">
            <a:normAutofit lnSpcReduction="10000"/>
          </a:bodyPr>
          <a:lstStyle/>
          <a:p>
            <a:r>
              <a:rPr lang="en-US" dirty="0"/>
              <a:t>Question: </a:t>
            </a:r>
          </a:p>
          <a:p>
            <a:r>
              <a:rPr lang="en-US" dirty="0"/>
              <a:t>I throw a fair die. What is the probability of obtaining a number that is odd </a:t>
            </a:r>
            <a:r>
              <a:rPr lang="en-US" i="1" dirty="0">
                <a:solidFill>
                  <a:srgbClr val="0070C0"/>
                </a:solidFill>
              </a:rPr>
              <a:t>and</a:t>
            </a:r>
            <a:r>
              <a:rPr lang="en-US" i="1" dirty="0"/>
              <a:t> </a:t>
            </a:r>
            <a:r>
              <a:rPr lang="en-US" dirty="0"/>
              <a:t>prime?  </a:t>
            </a:r>
            <a:br>
              <a:rPr lang="en-US" dirty="0"/>
            </a:br>
            <a:r>
              <a:rPr lang="en-US" dirty="0"/>
              <a:t>Write as P(odd </a:t>
            </a:r>
            <a:r>
              <a:rPr lang="en-US" dirty="0">
                <a:sym typeface="Symbol" panose="05050102010706020507" pitchFamily="18" charset="2"/>
              </a:rPr>
              <a:t> prime)</a:t>
            </a:r>
            <a:endParaRPr lang="en-US" dirty="0"/>
          </a:p>
          <a:p>
            <a:br>
              <a:rPr lang="en-US" dirty="0"/>
            </a:br>
            <a:r>
              <a:rPr lang="en-US" dirty="0"/>
              <a:t>Answer: </a:t>
            </a:r>
            <a:br>
              <a:rPr lang="en-US" dirty="0"/>
            </a:br>
            <a:r>
              <a:rPr lang="en-US" dirty="0"/>
              <a:t>Sample space = {1,2,3,4,5,6}. </a:t>
            </a:r>
            <a:br>
              <a:rPr lang="en-US" dirty="0"/>
            </a:br>
            <a:r>
              <a:rPr lang="en-US" dirty="0"/>
              <a:t>3 and 5 only numbers both odd and prime, so </a:t>
            </a:r>
            <a:br>
              <a:rPr lang="en-US" dirty="0"/>
            </a:br>
            <a:r>
              <a:rPr lang="en-US" dirty="0"/>
              <a:t>probability = 1/3</a:t>
            </a:r>
          </a:p>
          <a:p>
            <a:endParaRPr lang="en-US" dirty="0"/>
          </a:p>
          <a:p>
            <a:r>
              <a:rPr lang="en-US" dirty="0"/>
              <a:t>Can we compute this probability from probability of “odd” and probability of “prime”? In general, no.</a:t>
            </a:r>
          </a:p>
          <a:p>
            <a:endParaRPr lang="en-US" dirty="0"/>
          </a:p>
          <a:p>
            <a:r>
              <a:rPr lang="en-US" dirty="0"/>
              <a:t>P(odd) = 1/2  </a:t>
            </a:r>
            <a:br>
              <a:rPr lang="en-US" dirty="0"/>
            </a:br>
            <a:r>
              <a:rPr lang="en-US" dirty="0"/>
              <a:t>P(prime) = 1/3   </a:t>
            </a:r>
          </a:p>
          <a:p>
            <a:r>
              <a:rPr lang="en-US" dirty="0"/>
              <a:t>Incorrect answer:  P(odd </a:t>
            </a:r>
            <a:r>
              <a:rPr lang="en-US" dirty="0">
                <a:sym typeface="Symbol" panose="05050102010706020507" pitchFamily="18" charset="2"/>
              </a:rPr>
              <a:t> prime) = </a:t>
            </a:r>
            <a:r>
              <a:rPr lang="en-US" dirty="0"/>
              <a:t>P(odd)*P(prime) = 1/6</a:t>
            </a:r>
          </a:p>
        </p:txBody>
      </p:sp>
      <p:sp>
        <p:nvSpPr>
          <p:cNvPr id="18" name="TextBox 17">
            <a:extLst>
              <a:ext uri="{FF2B5EF4-FFF2-40B4-BE49-F238E27FC236}">
                <a16:creationId xmlns:a16="http://schemas.microsoft.com/office/drawing/2014/main" id="{92841245-DD32-A2CD-122F-DE4F1C55C74F}"/>
              </a:ext>
            </a:extLst>
          </p:cNvPr>
          <p:cNvSpPr txBox="1"/>
          <p:nvPr/>
        </p:nvSpPr>
        <p:spPr>
          <a:xfrm>
            <a:off x="8626344" y="2713734"/>
            <a:ext cx="740908" cy="369332"/>
          </a:xfrm>
          <a:prstGeom prst="rect">
            <a:avLst/>
          </a:prstGeom>
          <a:noFill/>
        </p:spPr>
        <p:txBody>
          <a:bodyPr wrap="none" rtlCol="0">
            <a:spAutoFit/>
          </a:bodyPr>
          <a:lstStyle/>
          <a:p>
            <a:r>
              <a:rPr lang="en-US" dirty="0"/>
              <a:t>1  3  5</a:t>
            </a:r>
          </a:p>
        </p:txBody>
      </p:sp>
      <p:sp>
        <p:nvSpPr>
          <p:cNvPr id="19" name="TextBox 18">
            <a:extLst>
              <a:ext uri="{FF2B5EF4-FFF2-40B4-BE49-F238E27FC236}">
                <a16:creationId xmlns:a16="http://schemas.microsoft.com/office/drawing/2014/main" id="{1EA3ACDA-7883-01A8-36DA-41674BB31B38}"/>
              </a:ext>
            </a:extLst>
          </p:cNvPr>
          <p:cNvSpPr txBox="1"/>
          <p:nvPr/>
        </p:nvSpPr>
        <p:spPr>
          <a:xfrm>
            <a:off x="8539598" y="2037877"/>
            <a:ext cx="914400" cy="369332"/>
          </a:xfrm>
          <a:prstGeom prst="rect">
            <a:avLst/>
          </a:prstGeom>
          <a:noFill/>
        </p:spPr>
        <p:txBody>
          <a:bodyPr wrap="square" rtlCol="0">
            <a:spAutoFit/>
          </a:bodyPr>
          <a:lstStyle/>
          <a:p>
            <a:r>
              <a:rPr lang="en-US" dirty="0"/>
              <a:t>4  6</a:t>
            </a:r>
          </a:p>
        </p:txBody>
      </p:sp>
      <p:sp>
        <p:nvSpPr>
          <p:cNvPr id="55" name="TextBox 54">
            <a:extLst>
              <a:ext uri="{FF2B5EF4-FFF2-40B4-BE49-F238E27FC236}">
                <a16:creationId xmlns:a16="http://schemas.microsoft.com/office/drawing/2014/main" id="{7FD12BC9-18DC-11ED-D9E2-BBFB47FAA031}"/>
              </a:ext>
            </a:extLst>
          </p:cNvPr>
          <p:cNvSpPr txBox="1"/>
          <p:nvPr/>
        </p:nvSpPr>
        <p:spPr>
          <a:xfrm>
            <a:off x="7279673" y="4070623"/>
            <a:ext cx="4912323" cy="2031325"/>
          </a:xfrm>
          <a:prstGeom prst="rect">
            <a:avLst/>
          </a:prstGeom>
          <a:noFill/>
        </p:spPr>
        <p:txBody>
          <a:bodyPr wrap="square">
            <a:spAutoFit/>
          </a:bodyPr>
          <a:lstStyle/>
          <a:p>
            <a:r>
              <a:rPr lang="en-US" dirty="0">
                <a:sym typeface="Symbol" panose="05050102010706020507" pitchFamily="18" charset="2"/>
              </a:rPr>
              <a:t>Sample space =  {1,2,3,4,5,6}</a:t>
            </a:r>
          </a:p>
          <a:p>
            <a:r>
              <a:rPr lang="en-US" dirty="0">
                <a:sym typeface="Symbol" panose="05050102010706020507" pitchFamily="18" charset="2"/>
              </a:rPr>
              <a:t>A &amp; B are events</a:t>
            </a:r>
            <a:br>
              <a:rPr lang="en-US" dirty="0">
                <a:sym typeface="Symbol" panose="05050102010706020507" pitchFamily="18" charset="2"/>
              </a:rPr>
            </a:br>
            <a:r>
              <a:rPr lang="en-US" dirty="0">
                <a:sym typeface="Symbol" panose="05050102010706020507" pitchFamily="18" charset="2"/>
              </a:rPr>
              <a:t>Samples(AB) = Samples(A)  Samples(B) </a:t>
            </a:r>
            <a:br>
              <a:rPr lang="en-US" dirty="0">
                <a:sym typeface="Symbol" panose="05050102010706020507" pitchFamily="18" charset="2"/>
              </a:rPr>
            </a:br>
            <a:r>
              <a:rPr lang="en-US" dirty="0">
                <a:sym typeface="Symbol" panose="05050102010706020507" pitchFamily="18" charset="2"/>
              </a:rPr>
              <a:t>but in general,</a:t>
            </a:r>
            <a:br>
              <a:rPr lang="en-US" dirty="0">
                <a:sym typeface="Symbol" panose="05050102010706020507" pitchFamily="18" charset="2"/>
              </a:rPr>
            </a:br>
            <a:r>
              <a:rPr lang="en-US" dirty="0"/>
              <a:t>P(A</a:t>
            </a:r>
            <a:r>
              <a:rPr lang="en-US" dirty="0">
                <a:sym typeface="Symbol" panose="05050102010706020507" pitchFamily="18" charset="2"/>
              </a:rPr>
              <a:t>B)  P(A)*P(B)</a:t>
            </a:r>
          </a:p>
          <a:p>
            <a:br>
              <a:rPr lang="en-US" dirty="0">
                <a:sym typeface="Symbol" panose="05050102010706020507" pitchFamily="18" charset="2"/>
              </a:rPr>
            </a:br>
            <a:r>
              <a:rPr lang="en-US" dirty="0">
                <a:solidFill>
                  <a:srgbClr val="0070C0"/>
                </a:solidFill>
                <a:sym typeface="Symbol" panose="05050102010706020507" pitchFamily="18" charset="2"/>
              </a:rPr>
              <a:t>Venn diagram can be misleading!</a:t>
            </a:r>
          </a:p>
        </p:txBody>
      </p:sp>
      <p:sp>
        <p:nvSpPr>
          <p:cNvPr id="9" name="TextBox 8">
            <a:extLst>
              <a:ext uri="{FF2B5EF4-FFF2-40B4-BE49-F238E27FC236}">
                <a16:creationId xmlns:a16="http://schemas.microsoft.com/office/drawing/2014/main" id="{507CFB63-F741-CD73-51EE-CEFA802BD0D1}"/>
              </a:ext>
            </a:extLst>
          </p:cNvPr>
          <p:cNvSpPr txBox="1"/>
          <p:nvPr/>
        </p:nvSpPr>
        <p:spPr>
          <a:xfrm>
            <a:off x="9439075" y="2402037"/>
            <a:ext cx="308098" cy="369332"/>
          </a:xfrm>
          <a:prstGeom prst="rect">
            <a:avLst/>
          </a:prstGeom>
          <a:noFill/>
        </p:spPr>
        <p:txBody>
          <a:bodyPr wrap="none" rtlCol="0">
            <a:spAutoFit/>
          </a:bodyPr>
          <a:lstStyle/>
          <a:p>
            <a:pPr algn="l"/>
            <a:r>
              <a:rPr lang="en-US" dirty="0"/>
              <a:t>2</a:t>
            </a:r>
          </a:p>
        </p:txBody>
      </p:sp>
    </p:spTree>
    <p:extLst>
      <p:ext uri="{BB962C8B-B14F-4D97-AF65-F5344CB8AC3E}">
        <p14:creationId xmlns:p14="http://schemas.microsoft.com/office/powerpoint/2010/main" val="3970743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400AD344-5C11-639C-3A20-52EC445F2CC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7E5412-2B55-A319-EE91-31E783E61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A5A0D22-9DBB-3727-1BD1-D8FC7ECE9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AC16EA5-FE30-488E-2AEC-A6C3C8F4D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36C476-194C-5BA0-34B0-15DA971BA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9661425-271B-8415-ABD3-C1E951C13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41CAB-A0D9-EB19-0039-59C792807063}"/>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Joint probability </a:t>
            </a:r>
            <a:r>
              <a:rPr lang="en-US" sz="4000" i="1" dirty="0">
                <a:solidFill>
                  <a:schemeClr val="bg1"/>
                </a:solidFill>
              </a:rPr>
              <a:t>matrix </a:t>
            </a:r>
            <a:r>
              <a:rPr lang="en-US" sz="4000" dirty="0">
                <a:solidFill>
                  <a:schemeClr val="bg1"/>
                </a:solidFill>
              </a:rPr>
              <a:t>representation </a:t>
            </a:r>
          </a:p>
        </p:txBody>
      </p:sp>
      <p:sp>
        <p:nvSpPr>
          <p:cNvPr id="3" name="Rectangle 2">
            <a:extLst>
              <a:ext uri="{FF2B5EF4-FFF2-40B4-BE49-F238E27FC236}">
                <a16:creationId xmlns:a16="http://schemas.microsoft.com/office/drawing/2014/main" id="{3B49979D-734A-D7CF-E4B9-1103733EF3FC}"/>
              </a:ext>
            </a:extLst>
          </p:cNvPr>
          <p:cNvSpPr/>
          <p:nvPr/>
        </p:nvSpPr>
        <p:spPr>
          <a:xfrm>
            <a:off x="7378444" y="1986771"/>
            <a:ext cx="3355848"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8ABE561-F1AF-07A7-A46C-3AE5D7856FFA}"/>
              </a:ext>
            </a:extLst>
          </p:cNvPr>
          <p:cNvSpPr/>
          <p:nvPr/>
        </p:nvSpPr>
        <p:spPr>
          <a:xfrm>
            <a:off x="7740140" y="2413443"/>
            <a:ext cx="1727200" cy="846590"/>
          </a:xfrm>
          <a:prstGeom prst="ellipse">
            <a:avLst/>
          </a:prstGeom>
          <a:pattFill prst="pct5">
            <a:fgClr>
              <a:schemeClr val="tx1">
                <a:lumMod val="50000"/>
                <a:lumOff val="5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9A89801-C016-95AA-73F5-C9D37FD800E4}"/>
              </a:ext>
            </a:extLst>
          </p:cNvPr>
          <p:cNvSpPr/>
          <p:nvPr/>
        </p:nvSpPr>
        <p:spPr>
          <a:xfrm>
            <a:off x="8883504" y="2413443"/>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4A8374D-61E7-EE7E-B017-6A219676F06E}"/>
              </a:ext>
            </a:extLst>
          </p:cNvPr>
          <p:cNvSpPr txBox="1"/>
          <p:nvPr/>
        </p:nvSpPr>
        <p:spPr>
          <a:xfrm>
            <a:off x="7848375" y="2636683"/>
            <a:ext cx="614271" cy="400110"/>
          </a:xfrm>
          <a:prstGeom prst="rect">
            <a:avLst/>
          </a:prstGeom>
          <a:noFill/>
        </p:spPr>
        <p:txBody>
          <a:bodyPr wrap="none" rtlCol="0">
            <a:spAutoFit/>
          </a:bodyPr>
          <a:lstStyle/>
          <a:p>
            <a:r>
              <a:rPr lang="en-US" sz="2000" dirty="0"/>
              <a:t>odd</a:t>
            </a:r>
          </a:p>
        </p:txBody>
      </p:sp>
      <p:sp>
        <p:nvSpPr>
          <p:cNvPr id="13" name="TextBox 12">
            <a:extLst>
              <a:ext uri="{FF2B5EF4-FFF2-40B4-BE49-F238E27FC236}">
                <a16:creationId xmlns:a16="http://schemas.microsoft.com/office/drawing/2014/main" id="{DB754CEE-C5A2-ED0D-8BEB-F4958022B562}"/>
              </a:ext>
            </a:extLst>
          </p:cNvPr>
          <p:cNvSpPr txBox="1"/>
          <p:nvPr/>
        </p:nvSpPr>
        <p:spPr>
          <a:xfrm>
            <a:off x="9483348" y="2615306"/>
            <a:ext cx="829073" cy="400110"/>
          </a:xfrm>
          <a:prstGeom prst="rect">
            <a:avLst/>
          </a:prstGeom>
          <a:noFill/>
        </p:spPr>
        <p:txBody>
          <a:bodyPr wrap="none" rtlCol="0">
            <a:spAutoFit/>
          </a:bodyPr>
          <a:lstStyle/>
          <a:p>
            <a:r>
              <a:rPr lang="en-US" sz="2000" dirty="0"/>
              <a:t>prime</a:t>
            </a:r>
          </a:p>
        </p:txBody>
      </p:sp>
      <p:sp>
        <p:nvSpPr>
          <p:cNvPr id="15" name="TextBox 14">
            <a:extLst>
              <a:ext uri="{FF2B5EF4-FFF2-40B4-BE49-F238E27FC236}">
                <a16:creationId xmlns:a16="http://schemas.microsoft.com/office/drawing/2014/main" id="{1F4BE294-0805-69BC-E85E-0F1E579CE1AE}"/>
              </a:ext>
            </a:extLst>
          </p:cNvPr>
          <p:cNvSpPr txBox="1"/>
          <p:nvPr/>
        </p:nvSpPr>
        <p:spPr>
          <a:xfrm>
            <a:off x="8858495" y="2642173"/>
            <a:ext cx="184731" cy="369332"/>
          </a:xfrm>
          <a:prstGeom prst="rect">
            <a:avLst/>
          </a:prstGeom>
          <a:noFill/>
        </p:spPr>
        <p:txBody>
          <a:bodyPr wrap="none" rtlCol="0">
            <a:spAutoFit/>
          </a:bodyPr>
          <a:lstStyle/>
          <a:p>
            <a:endParaRPr lang="en-US" dirty="0"/>
          </a:p>
        </p:txBody>
      </p:sp>
      <p:sp>
        <p:nvSpPr>
          <p:cNvPr id="18" name="TextBox 17">
            <a:extLst>
              <a:ext uri="{FF2B5EF4-FFF2-40B4-BE49-F238E27FC236}">
                <a16:creationId xmlns:a16="http://schemas.microsoft.com/office/drawing/2014/main" id="{48EB3F19-79A1-9433-2146-1185BDB68BDF}"/>
              </a:ext>
            </a:extLst>
          </p:cNvPr>
          <p:cNvSpPr txBox="1"/>
          <p:nvPr/>
        </p:nvSpPr>
        <p:spPr>
          <a:xfrm>
            <a:off x="8626344" y="2713734"/>
            <a:ext cx="740908" cy="369332"/>
          </a:xfrm>
          <a:prstGeom prst="rect">
            <a:avLst/>
          </a:prstGeom>
          <a:noFill/>
        </p:spPr>
        <p:txBody>
          <a:bodyPr wrap="none" rtlCol="0">
            <a:spAutoFit/>
          </a:bodyPr>
          <a:lstStyle/>
          <a:p>
            <a:r>
              <a:rPr lang="en-US" dirty="0"/>
              <a:t>1  3  5</a:t>
            </a:r>
          </a:p>
        </p:txBody>
      </p:sp>
      <p:sp>
        <p:nvSpPr>
          <p:cNvPr id="19" name="TextBox 18">
            <a:extLst>
              <a:ext uri="{FF2B5EF4-FFF2-40B4-BE49-F238E27FC236}">
                <a16:creationId xmlns:a16="http://schemas.microsoft.com/office/drawing/2014/main" id="{E1C0C796-8C10-5AFE-167C-AFF3E45348F0}"/>
              </a:ext>
            </a:extLst>
          </p:cNvPr>
          <p:cNvSpPr txBox="1"/>
          <p:nvPr/>
        </p:nvSpPr>
        <p:spPr>
          <a:xfrm>
            <a:off x="8539598" y="2037877"/>
            <a:ext cx="914400" cy="369332"/>
          </a:xfrm>
          <a:prstGeom prst="rect">
            <a:avLst/>
          </a:prstGeom>
          <a:noFill/>
        </p:spPr>
        <p:txBody>
          <a:bodyPr wrap="square" rtlCol="0">
            <a:spAutoFit/>
          </a:bodyPr>
          <a:lstStyle/>
          <a:p>
            <a:r>
              <a:rPr lang="en-US" dirty="0"/>
              <a:t>4  6</a:t>
            </a:r>
          </a:p>
        </p:txBody>
      </p:sp>
      <p:graphicFrame>
        <p:nvGraphicFramePr>
          <p:cNvPr id="25" name="Table 24">
            <a:extLst>
              <a:ext uri="{FF2B5EF4-FFF2-40B4-BE49-F238E27FC236}">
                <a16:creationId xmlns:a16="http://schemas.microsoft.com/office/drawing/2014/main" id="{7096DC4F-ED56-9B3E-CE78-5944A97CE1F0}"/>
              </a:ext>
            </a:extLst>
          </p:cNvPr>
          <p:cNvGraphicFramePr>
            <a:graphicFrameLocks noGrp="1"/>
          </p:cNvGraphicFramePr>
          <p:nvPr>
            <p:extLst>
              <p:ext uri="{D42A27DB-BD31-4B8C-83A1-F6EECF244321}">
                <p14:modId xmlns:p14="http://schemas.microsoft.com/office/powerpoint/2010/main" val="2046093887"/>
              </p:ext>
            </p:extLst>
          </p:nvPr>
        </p:nvGraphicFramePr>
        <p:xfrm>
          <a:off x="8125884" y="4538278"/>
          <a:ext cx="2299856" cy="1235016"/>
        </p:xfrm>
        <a:graphic>
          <a:graphicData uri="http://schemas.openxmlformats.org/drawingml/2006/table">
            <a:tbl>
              <a:tblPr bandRow="1">
                <a:tableStyleId>{2D5ABB26-0587-4C30-8999-92F81FD0307C}</a:tableStyleId>
              </a:tblPr>
              <a:tblGrid>
                <a:gridCol w="1149928">
                  <a:extLst>
                    <a:ext uri="{9D8B030D-6E8A-4147-A177-3AD203B41FA5}">
                      <a16:colId xmlns:a16="http://schemas.microsoft.com/office/drawing/2014/main" val="2785513782"/>
                    </a:ext>
                  </a:extLst>
                </a:gridCol>
                <a:gridCol w="1149928">
                  <a:extLst>
                    <a:ext uri="{9D8B030D-6E8A-4147-A177-3AD203B41FA5}">
                      <a16:colId xmlns:a16="http://schemas.microsoft.com/office/drawing/2014/main" val="682526169"/>
                    </a:ext>
                  </a:extLst>
                </a:gridCol>
              </a:tblGrid>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007454"/>
                  </a:ext>
                </a:extLst>
              </a:tr>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359867"/>
                  </a:ext>
                </a:extLst>
              </a:tr>
            </a:tbl>
          </a:graphicData>
        </a:graphic>
      </p:graphicFrame>
      <p:sp>
        <p:nvSpPr>
          <p:cNvPr id="26" name="TextBox 25">
            <a:extLst>
              <a:ext uri="{FF2B5EF4-FFF2-40B4-BE49-F238E27FC236}">
                <a16:creationId xmlns:a16="http://schemas.microsoft.com/office/drawing/2014/main" id="{3783A17D-6465-299E-8395-43B94D20C272}"/>
              </a:ext>
            </a:extLst>
          </p:cNvPr>
          <p:cNvSpPr txBox="1"/>
          <p:nvPr/>
        </p:nvSpPr>
        <p:spPr>
          <a:xfrm>
            <a:off x="7554893" y="4539788"/>
            <a:ext cx="570990" cy="369332"/>
          </a:xfrm>
          <a:prstGeom prst="rect">
            <a:avLst/>
          </a:prstGeom>
          <a:noFill/>
        </p:spPr>
        <p:txBody>
          <a:bodyPr wrap="none" rtlCol="0">
            <a:spAutoFit/>
          </a:bodyPr>
          <a:lstStyle/>
          <a:p>
            <a:r>
              <a:rPr lang="en-US" dirty="0"/>
              <a:t>odd</a:t>
            </a:r>
          </a:p>
        </p:txBody>
      </p:sp>
      <p:sp>
        <p:nvSpPr>
          <p:cNvPr id="27" name="TextBox 26">
            <a:extLst>
              <a:ext uri="{FF2B5EF4-FFF2-40B4-BE49-F238E27FC236}">
                <a16:creationId xmlns:a16="http://schemas.microsoft.com/office/drawing/2014/main" id="{50F1422B-DFA6-A1EC-3DBE-FE3ABDA48DA8}"/>
              </a:ext>
            </a:extLst>
          </p:cNvPr>
          <p:cNvSpPr txBox="1"/>
          <p:nvPr/>
        </p:nvSpPr>
        <p:spPr>
          <a:xfrm>
            <a:off x="7389783" y="5316348"/>
            <a:ext cx="736099" cy="369332"/>
          </a:xfrm>
          <a:prstGeom prst="rect">
            <a:avLst/>
          </a:prstGeom>
          <a:noFill/>
        </p:spPr>
        <p:txBody>
          <a:bodyPr wrap="none" rtlCol="0">
            <a:spAutoFit/>
          </a:bodyPr>
          <a:lstStyle/>
          <a:p>
            <a:r>
              <a:rPr lang="en-US" dirty="0">
                <a:sym typeface="Symbol" panose="05050102010706020507" pitchFamily="18" charset="2"/>
              </a:rPr>
              <a:t>odd</a:t>
            </a:r>
            <a:endParaRPr lang="en-US" dirty="0"/>
          </a:p>
        </p:txBody>
      </p:sp>
      <p:sp>
        <p:nvSpPr>
          <p:cNvPr id="28" name="TextBox 27">
            <a:extLst>
              <a:ext uri="{FF2B5EF4-FFF2-40B4-BE49-F238E27FC236}">
                <a16:creationId xmlns:a16="http://schemas.microsoft.com/office/drawing/2014/main" id="{F206AD29-AB0A-5909-7CD4-AD418CA6B388}"/>
              </a:ext>
            </a:extLst>
          </p:cNvPr>
          <p:cNvSpPr txBox="1"/>
          <p:nvPr/>
        </p:nvSpPr>
        <p:spPr>
          <a:xfrm>
            <a:off x="8258933" y="4168947"/>
            <a:ext cx="764953" cy="369332"/>
          </a:xfrm>
          <a:prstGeom prst="rect">
            <a:avLst/>
          </a:prstGeom>
          <a:noFill/>
        </p:spPr>
        <p:txBody>
          <a:bodyPr wrap="none" rtlCol="0">
            <a:spAutoFit/>
          </a:bodyPr>
          <a:lstStyle/>
          <a:p>
            <a:r>
              <a:rPr lang="en-US" dirty="0"/>
              <a:t>prime</a:t>
            </a:r>
          </a:p>
        </p:txBody>
      </p:sp>
      <p:sp>
        <p:nvSpPr>
          <p:cNvPr id="29" name="TextBox 28">
            <a:extLst>
              <a:ext uri="{FF2B5EF4-FFF2-40B4-BE49-F238E27FC236}">
                <a16:creationId xmlns:a16="http://schemas.microsoft.com/office/drawing/2014/main" id="{DA68C0D5-F83E-B194-0259-B0A51BC92516}"/>
              </a:ext>
            </a:extLst>
          </p:cNvPr>
          <p:cNvSpPr txBox="1"/>
          <p:nvPr/>
        </p:nvSpPr>
        <p:spPr>
          <a:xfrm>
            <a:off x="9209042" y="4168947"/>
            <a:ext cx="976549" cy="369332"/>
          </a:xfrm>
          <a:prstGeom prst="rect">
            <a:avLst/>
          </a:prstGeom>
          <a:noFill/>
        </p:spPr>
        <p:txBody>
          <a:bodyPr wrap="none" rtlCol="0">
            <a:spAutoFit/>
          </a:bodyPr>
          <a:lstStyle/>
          <a:p>
            <a:r>
              <a:rPr lang="en-US" dirty="0">
                <a:sym typeface="Symbol" panose="05050102010706020507" pitchFamily="18" charset="2"/>
              </a:rPr>
              <a:t> prime</a:t>
            </a:r>
            <a:endParaRPr lang="en-US" dirty="0"/>
          </a:p>
        </p:txBody>
      </p:sp>
      <p:sp>
        <p:nvSpPr>
          <p:cNvPr id="30" name="TextBox 29">
            <a:extLst>
              <a:ext uri="{FF2B5EF4-FFF2-40B4-BE49-F238E27FC236}">
                <a16:creationId xmlns:a16="http://schemas.microsoft.com/office/drawing/2014/main" id="{678438BB-AB06-0240-8C42-0CE7D71C13F2}"/>
              </a:ext>
            </a:extLst>
          </p:cNvPr>
          <p:cNvSpPr txBox="1"/>
          <p:nvPr/>
        </p:nvSpPr>
        <p:spPr>
          <a:xfrm>
            <a:off x="8258933" y="4517751"/>
            <a:ext cx="631904" cy="923330"/>
          </a:xfrm>
          <a:prstGeom prst="rect">
            <a:avLst/>
          </a:prstGeom>
          <a:noFill/>
        </p:spPr>
        <p:txBody>
          <a:bodyPr wrap="none" rtlCol="0">
            <a:spAutoFit/>
          </a:bodyPr>
          <a:lstStyle/>
          <a:p>
            <a:r>
              <a:rPr lang="en-US" dirty="0"/>
              <a:t>{3,5}</a:t>
            </a:r>
          </a:p>
          <a:p>
            <a:endParaRPr lang="en-US" dirty="0"/>
          </a:p>
          <a:p>
            <a:endParaRPr lang="en-US" dirty="0"/>
          </a:p>
        </p:txBody>
      </p:sp>
      <p:sp>
        <p:nvSpPr>
          <p:cNvPr id="31" name="TextBox 30">
            <a:extLst>
              <a:ext uri="{FF2B5EF4-FFF2-40B4-BE49-F238E27FC236}">
                <a16:creationId xmlns:a16="http://schemas.microsoft.com/office/drawing/2014/main" id="{73465CC8-8C66-5A54-ECF2-168F691F4D00}"/>
              </a:ext>
            </a:extLst>
          </p:cNvPr>
          <p:cNvSpPr txBox="1"/>
          <p:nvPr/>
        </p:nvSpPr>
        <p:spPr>
          <a:xfrm>
            <a:off x="8324199" y="4786824"/>
            <a:ext cx="510076" cy="369332"/>
          </a:xfrm>
          <a:prstGeom prst="rect">
            <a:avLst/>
          </a:prstGeom>
          <a:noFill/>
        </p:spPr>
        <p:txBody>
          <a:bodyPr wrap="none" rtlCol="0">
            <a:spAutoFit/>
          </a:bodyPr>
          <a:lstStyle/>
          <a:p>
            <a:r>
              <a:rPr lang="en-US" dirty="0">
                <a:solidFill>
                  <a:srgbClr val="0070C0"/>
                </a:solidFill>
              </a:rPr>
              <a:t>2/6</a:t>
            </a:r>
          </a:p>
        </p:txBody>
      </p:sp>
      <p:sp>
        <p:nvSpPr>
          <p:cNvPr id="32" name="TextBox 31">
            <a:extLst>
              <a:ext uri="{FF2B5EF4-FFF2-40B4-BE49-F238E27FC236}">
                <a16:creationId xmlns:a16="http://schemas.microsoft.com/office/drawing/2014/main" id="{01269A1A-9D5A-5B08-A7BF-3599A6DF2600}"/>
              </a:ext>
            </a:extLst>
          </p:cNvPr>
          <p:cNvSpPr txBox="1"/>
          <p:nvPr/>
        </p:nvSpPr>
        <p:spPr>
          <a:xfrm>
            <a:off x="9542667" y="4517751"/>
            <a:ext cx="442750" cy="369332"/>
          </a:xfrm>
          <a:prstGeom prst="rect">
            <a:avLst/>
          </a:prstGeom>
          <a:noFill/>
        </p:spPr>
        <p:txBody>
          <a:bodyPr wrap="none" rtlCol="0">
            <a:spAutoFit/>
          </a:bodyPr>
          <a:lstStyle/>
          <a:p>
            <a:r>
              <a:rPr lang="en-US" dirty="0"/>
              <a:t>{1}</a:t>
            </a:r>
          </a:p>
        </p:txBody>
      </p:sp>
      <p:sp>
        <p:nvSpPr>
          <p:cNvPr id="33" name="TextBox 32">
            <a:extLst>
              <a:ext uri="{FF2B5EF4-FFF2-40B4-BE49-F238E27FC236}">
                <a16:creationId xmlns:a16="http://schemas.microsoft.com/office/drawing/2014/main" id="{DA58D686-E387-3A31-382C-A8CD63E29B86}"/>
              </a:ext>
            </a:extLst>
          </p:cNvPr>
          <p:cNvSpPr txBox="1"/>
          <p:nvPr/>
        </p:nvSpPr>
        <p:spPr>
          <a:xfrm>
            <a:off x="9504907" y="4794750"/>
            <a:ext cx="510076" cy="369332"/>
          </a:xfrm>
          <a:prstGeom prst="rect">
            <a:avLst/>
          </a:prstGeom>
          <a:noFill/>
        </p:spPr>
        <p:txBody>
          <a:bodyPr wrap="none" rtlCol="0">
            <a:spAutoFit/>
          </a:bodyPr>
          <a:lstStyle/>
          <a:p>
            <a:r>
              <a:rPr lang="en-US" dirty="0">
                <a:solidFill>
                  <a:srgbClr val="0070C0"/>
                </a:solidFill>
              </a:rPr>
              <a:t>1/6</a:t>
            </a:r>
          </a:p>
        </p:txBody>
      </p:sp>
      <p:sp>
        <p:nvSpPr>
          <p:cNvPr id="34" name="TextBox 33">
            <a:extLst>
              <a:ext uri="{FF2B5EF4-FFF2-40B4-BE49-F238E27FC236}">
                <a16:creationId xmlns:a16="http://schemas.microsoft.com/office/drawing/2014/main" id="{24960FBC-AB98-A2B3-8EEC-21458957317B}"/>
              </a:ext>
            </a:extLst>
          </p:cNvPr>
          <p:cNvSpPr txBox="1"/>
          <p:nvPr/>
        </p:nvSpPr>
        <p:spPr>
          <a:xfrm>
            <a:off x="8408653" y="5113953"/>
            <a:ext cx="442750" cy="369332"/>
          </a:xfrm>
          <a:prstGeom prst="rect">
            <a:avLst/>
          </a:prstGeom>
          <a:noFill/>
        </p:spPr>
        <p:txBody>
          <a:bodyPr wrap="none" rtlCol="0">
            <a:spAutoFit/>
          </a:bodyPr>
          <a:lstStyle/>
          <a:p>
            <a:r>
              <a:rPr lang="en-US" dirty="0"/>
              <a:t>{2}</a:t>
            </a:r>
          </a:p>
        </p:txBody>
      </p:sp>
      <p:sp>
        <p:nvSpPr>
          <p:cNvPr id="35" name="TextBox 34">
            <a:extLst>
              <a:ext uri="{FF2B5EF4-FFF2-40B4-BE49-F238E27FC236}">
                <a16:creationId xmlns:a16="http://schemas.microsoft.com/office/drawing/2014/main" id="{4BAD60BF-B3DD-C399-4A6D-E264E8424CBB}"/>
              </a:ext>
            </a:extLst>
          </p:cNvPr>
          <p:cNvSpPr txBox="1"/>
          <p:nvPr/>
        </p:nvSpPr>
        <p:spPr>
          <a:xfrm>
            <a:off x="8336518" y="5438517"/>
            <a:ext cx="510076" cy="369332"/>
          </a:xfrm>
          <a:prstGeom prst="rect">
            <a:avLst/>
          </a:prstGeom>
          <a:noFill/>
        </p:spPr>
        <p:txBody>
          <a:bodyPr wrap="none" rtlCol="0">
            <a:spAutoFit/>
          </a:bodyPr>
          <a:lstStyle/>
          <a:p>
            <a:r>
              <a:rPr lang="en-US" dirty="0">
                <a:solidFill>
                  <a:srgbClr val="0070C0"/>
                </a:solidFill>
              </a:rPr>
              <a:t>1/6</a:t>
            </a:r>
          </a:p>
        </p:txBody>
      </p:sp>
      <p:sp>
        <p:nvSpPr>
          <p:cNvPr id="36" name="TextBox 35">
            <a:extLst>
              <a:ext uri="{FF2B5EF4-FFF2-40B4-BE49-F238E27FC236}">
                <a16:creationId xmlns:a16="http://schemas.microsoft.com/office/drawing/2014/main" id="{A73EC1BA-C135-A8DC-E1CB-FDBDF9A8C595}"/>
              </a:ext>
            </a:extLst>
          </p:cNvPr>
          <p:cNvSpPr txBox="1"/>
          <p:nvPr/>
        </p:nvSpPr>
        <p:spPr>
          <a:xfrm>
            <a:off x="9385344" y="5131682"/>
            <a:ext cx="631904" cy="369332"/>
          </a:xfrm>
          <a:prstGeom prst="rect">
            <a:avLst/>
          </a:prstGeom>
          <a:noFill/>
        </p:spPr>
        <p:txBody>
          <a:bodyPr wrap="none" rtlCol="0">
            <a:spAutoFit/>
          </a:bodyPr>
          <a:lstStyle/>
          <a:p>
            <a:r>
              <a:rPr lang="en-US" dirty="0"/>
              <a:t>{4,6}</a:t>
            </a:r>
          </a:p>
        </p:txBody>
      </p:sp>
      <p:sp>
        <p:nvSpPr>
          <p:cNvPr id="37" name="TextBox 36">
            <a:extLst>
              <a:ext uri="{FF2B5EF4-FFF2-40B4-BE49-F238E27FC236}">
                <a16:creationId xmlns:a16="http://schemas.microsoft.com/office/drawing/2014/main" id="{076DFAC3-71BD-3D87-3C3D-80D84E1790A3}"/>
              </a:ext>
            </a:extLst>
          </p:cNvPr>
          <p:cNvSpPr txBox="1"/>
          <p:nvPr/>
        </p:nvSpPr>
        <p:spPr>
          <a:xfrm>
            <a:off x="9475341" y="5452488"/>
            <a:ext cx="510076" cy="369332"/>
          </a:xfrm>
          <a:prstGeom prst="rect">
            <a:avLst/>
          </a:prstGeom>
          <a:noFill/>
        </p:spPr>
        <p:txBody>
          <a:bodyPr wrap="none" rtlCol="0">
            <a:spAutoFit/>
          </a:bodyPr>
          <a:lstStyle/>
          <a:p>
            <a:r>
              <a:rPr lang="en-US" dirty="0">
                <a:solidFill>
                  <a:srgbClr val="0070C0"/>
                </a:solidFill>
              </a:rPr>
              <a:t>2/6</a:t>
            </a:r>
          </a:p>
        </p:txBody>
      </p:sp>
      <p:cxnSp>
        <p:nvCxnSpPr>
          <p:cNvPr id="44" name="Straight Connector 43">
            <a:extLst>
              <a:ext uri="{FF2B5EF4-FFF2-40B4-BE49-F238E27FC236}">
                <a16:creationId xmlns:a16="http://schemas.microsoft.com/office/drawing/2014/main" id="{E1E023C3-3209-3E21-EC9A-74A170476E84}"/>
              </a:ext>
            </a:extLst>
          </p:cNvPr>
          <p:cNvCxnSpPr/>
          <p:nvPr/>
        </p:nvCxnSpPr>
        <p:spPr>
          <a:xfrm flipH="1" flipV="1">
            <a:off x="7756935" y="4320124"/>
            <a:ext cx="368947" cy="2181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1181E18-379E-16DE-9B67-42746E428627}"/>
              </a:ext>
            </a:extLst>
          </p:cNvPr>
          <p:cNvSpPr txBox="1"/>
          <p:nvPr/>
        </p:nvSpPr>
        <p:spPr>
          <a:xfrm>
            <a:off x="521590" y="2048410"/>
            <a:ext cx="5863297" cy="3469288"/>
          </a:xfrm>
          <a:prstGeom prst="rect">
            <a:avLst/>
          </a:prstGeom>
          <a:noFill/>
        </p:spPr>
        <p:txBody>
          <a:bodyPr wrap="square" rtlCol="0">
            <a:normAutofit/>
          </a:bodyPr>
          <a:lstStyle/>
          <a:p>
            <a:r>
              <a:rPr lang="en-US" sz="2000" dirty="0">
                <a:sym typeface="Symbol" panose="05050102010706020507" pitchFamily="18" charset="2"/>
              </a:rPr>
              <a:t>Matrix representation of joint probability of events: </a:t>
            </a:r>
            <a:br>
              <a:rPr lang="en-US" sz="2000" dirty="0">
                <a:sym typeface="Symbol" panose="05050102010706020507" pitchFamily="18" charset="2"/>
              </a:rPr>
            </a:br>
            <a:r>
              <a:rPr lang="en-US" sz="2000" dirty="0">
                <a:sym typeface="Symbol" panose="05050102010706020507" pitchFamily="18" charset="2"/>
              </a:rPr>
              <a:t>rows and columns are events, entries are probabilities</a:t>
            </a:r>
          </a:p>
          <a:p>
            <a:endParaRPr lang="en-US" sz="2000" dirty="0">
              <a:sym typeface="Symbol" panose="05050102010706020507" pitchFamily="18" charset="2"/>
            </a:endParaRPr>
          </a:p>
          <a:p>
            <a:r>
              <a:rPr lang="en-US" sz="2000" dirty="0">
                <a:sym typeface="Symbol" panose="05050102010706020507" pitchFamily="18" charset="2"/>
              </a:rPr>
              <a:t>In our example, binary events (features) so a 2x2 matrix</a:t>
            </a:r>
          </a:p>
          <a:p>
            <a:endParaRPr lang="en-US" sz="2000" dirty="0">
              <a:sym typeface="Symbol" panose="05050102010706020507" pitchFamily="18" charset="2"/>
            </a:endParaRPr>
          </a:p>
          <a:p>
            <a:r>
              <a:rPr lang="en-US" sz="2000" dirty="0">
                <a:sym typeface="Symbol" panose="05050102010706020507" pitchFamily="18" charset="2"/>
              </a:rPr>
              <a:t>Fill in matrix by assigning each sample to one matrix entry and then dividing the number of samples in each entry by the total number of samples</a:t>
            </a:r>
          </a:p>
          <a:p>
            <a:endParaRPr lang="en-US" dirty="0">
              <a:sym typeface="Symbol" panose="05050102010706020507" pitchFamily="18" charset="2"/>
            </a:endParaRPr>
          </a:p>
          <a:p>
            <a:endParaRPr lang="en-US" dirty="0">
              <a:sym typeface="Symbol" panose="05050102010706020507" pitchFamily="18" charset="2"/>
            </a:endParaRPr>
          </a:p>
          <a:p>
            <a:endParaRPr lang="en-US" dirty="0">
              <a:sym typeface="Symbol" panose="05050102010706020507" pitchFamily="18" charset="2"/>
            </a:endParaRPr>
          </a:p>
          <a:p>
            <a:endParaRPr lang="en-US" dirty="0">
              <a:solidFill>
                <a:srgbClr val="00B0F0"/>
              </a:solidFill>
              <a:sym typeface="Symbol" panose="05050102010706020507" pitchFamily="18" charset="2"/>
            </a:endParaRPr>
          </a:p>
        </p:txBody>
      </p:sp>
      <p:sp>
        <p:nvSpPr>
          <p:cNvPr id="9" name="TextBox 8">
            <a:extLst>
              <a:ext uri="{FF2B5EF4-FFF2-40B4-BE49-F238E27FC236}">
                <a16:creationId xmlns:a16="http://schemas.microsoft.com/office/drawing/2014/main" id="{5F814758-79B0-49EE-224D-8634A04E24A0}"/>
              </a:ext>
            </a:extLst>
          </p:cNvPr>
          <p:cNvSpPr txBox="1"/>
          <p:nvPr/>
        </p:nvSpPr>
        <p:spPr>
          <a:xfrm>
            <a:off x="9424138" y="2406877"/>
            <a:ext cx="308098" cy="369332"/>
          </a:xfrm>
          <a:prstGeom prst="rect">
            <a:avLst/>
          </a:prstGeom>
          <a:noFill/>
        </p:spPr>
        <p:txBody>
          <a:bodyPr wrap="none" rtlCol="0">
            <a:spAutoFit/>
          </a:bodyPr>
          <a:lstStyle/>
          <a:p>
            <a:pPr algn="l"/>
            <a:r>
              <a:rPr lang="en-US" dirty="0"/>
              <a:t>2</a:t>
            </a:r>
          </a:p>
        </p:txBody>
      </p:sp>
    </p:spTree>
    <p:extLst>
      <p:ext uri="{BB962C8B-B14F-4D97-AF65-F5344CB8AC3E}">
        <p14:creationId xmlns:p14="http://schemas.microsoft.com/office/powerpoint/2010/main" val="3928455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F1369C5F-6F0F-C68D-D9B2-330A799E338E}"/>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A458E3F3-BEE9-379C-0990-94BC1F9611B6}"/>
              </a:ext>
            </a:extLst>
          </p:cNvPr>
          <p:cNvSpPr/>
          <p:nvPr/>
        </p:nvSpPr>
        <p:spPr>
          <a:xfrm>
            <a:off x="413989" y="4402966"/>
            <a:ext cx="6333107" cy="1961257"/>
          </a:xfrm>
          <a:prstGeom prst="rect">
            <a:avLst/>
          </a:prstGeom>
          <a:solidFill>
            <a:srgbClr val="0070C0">
              <a:alpha val="7000"/>
            </a:srgbClr>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50D33424-2F1F-6919-9859-9E9AA2C2D7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57E47E-4B49-A32C-A801-F18EEF8C3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7318EC-E123-ED26-BE91-C0C77496C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1FD7D91-8023-4FDD-68BD-53F92AD28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0ADD9C7-A826-F208-FE5F-7642CA8F6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AD4CE1-71D6-A7B1-4278-3C1EF5A9B6A5}"/>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Marginalization </a:t>
            </a:r>
          </a:p>
        </p:txBody>
      </p:sp>
      <p:pic>
        <p:nvPicPr>
          <p:cNvPr id="53" name="Picture 52" descr="\documentclass{article}&#10;\usepackage{amsmath,mdframed}&#10;\usepackage{xcolor}&#10;\pagestyle{empty}&#10;\begin{document}&#10;&#10;\begin{mdframed}[leftmargin=125pt, rightmargin=-50pt, &#10;innertopmargin=-5pt,innerbottommargin=1pt,skipabove=-20pt, skipbelow=20pt]&#10;\begin{flalign}&#10;P(A) &amp;= P(A\land B) + P(A\land \lnot B) \ \ \text{(Marginalization)}&#10;\end{flalign}&#10;\end{mdframed}&#10;&#10;\end{document}" title="IguanaTex Bitmap Display">
            <a:extLst>
              <a:ext uri="{FF2B5EF4-FFF2-40B4-BE49-F238E27FC236}">
                <a16:creationId xmlns:a16="http://schemas.microsoft.com/office/drawing/2014/main" id="{BBC554C1-F3A4-85D9-C97B-60FEF90C40C3}"/>
              </a:ext>
            </a:extLst>
          </p:cNvPr>
          <p:cNvPicPr>
            <a:picLocks noChangeAspect="1"/>
          </p:cNvPicPr>
          <p:nvPr>
            <p:custDataLst>
              <p:tags r:id="rId1"/>
            </p:custDataLst>
          </p:nvPr>
        </p:nvPicPr>
        <p:blipFill>
          <a:blip r:embed="rId3"/>
          <a:stretch>
            <a:fillRect/>
          </a:stretch>
        </p:blipFill>
        <p:spPr>
          <a:xfrm>
            <a:off x="936393" y="2880093"/>
            <a:ext cx="4571910" cy="413382"/>
          </a:xfrm>
          <a:prstGeom prst="rect">
            <a:avLst/>
          </a:prstGeom>
          <a:solidFill>
            <a:schemeClr val="accent1">
              <a:alpha val="40000"/>
            </a:schemeClr>
          </a:solidFill>
        </p:spPr>
      </p:pic>
      <p:sp>
        <p:nvSpPr>
          <p:cNvPr id="3" name="Rectangle 2">
            <a:extLst>
              <a:ext uri="{FF2B5EF4-FFF2-40B4-BE49-F238E27FC236}">
                <a16:creationId xmlns:a16="http://schemas.microsoft.com/office/drawing/2014/main" id="{4CA8C3F7-64F0-7E6E-1552-3E74CDBB1769}"/>
              </a:ext>
            </a:extLst>
          </p:cNvPr>
          <p:cNvSpPr/>
          <p:nvPr/>
        </p:nvSpPr>
        <p:spPr>
          <a:xfrm>
            <a:off x="7378444" y="1986771"/>
            <a:ext cx="3355848"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521D507E-D2F4-3F7A-5785-D28D335ACBA6}"/>
              </a:ext>
            </a:extLst>
          </p:cNvPr>
          <p:cNvSpPr/>
          <p:nvPr/>
        </p:nvSpPr>
        <p:spPr>
          <a:xfrm>
            <a:off x="7740140" y="2413443"/>
            <a:ext cx="1727200" cy="846590"/>
          </a:xfrm>
          <a:prstGeom prst="ellipse">
            <a:avLst/>
          </a:prstGeom>
          <a:pattFill prst="pct5">
            <a:fgClr>
              <a:schemeClr val="tx1">
                <a:lumMod val="50000"/>
                <a:lumOff val="5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0461504-9898-C1D6-9839-DBD2F22D5E0E}"/>
              </a:ext>
            </a:extLst>
          </p:cNvPr>
          <p:cNvSpPr/>
          <p:nvPr/>
        </p:nvSpPr>
        <p:spPr>
          <a:xfrm>
            <a:off x="8883504" y="2413443"/>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19B41E3-B501-4E1C-31DE-AE47FD0B6178}"/>
              </a:ext>
            </a:extLst>
          </p:cNvPr>
          <p:cNvSpPr txBox="1"/>
          <p:nvPr/>
        </p:nvSpPr>
        <p:spPr>
          <a:xfrm>
            <a:off x="7848375" y="2636683"/>
            <a:ext cx="614271" cy="400110"/>
          </a:xfrm>
          <a:prstGeom prst="rect">
            <a:avLst/>
          </a:prstGeom>
          <a:noFill/>
        </p:spPr>
        <p:txBody>
          <a:bodyPr wrap="none" rtlCol="0">
            <a:spAutoFit/>
          </a:bodyPr>
          <a:lstStyle/>
          <a:p>
            <a:r>
              <a:rPr lang="en-US" sz="2000" dirty="0"/>
              <a:t>odd</a:t>
            </a:r>
          </a:p>
        </p:txBody>
      </p:sp>
      <p:sp>
        <p:nvSpPr>
          <p:cNvPr id="13" name="TextBox 12">
            <a:extLst>
              <a:ext uri="{FF2B5EF4-FFF2-40B4-BE49-F238E27FC236}">
                <a16:creationId xmlns:a16="http://schemas.microsoft.com/office/drawing/2014/main" id="{C989D29A-2CBD-8B81-88BF-D364A7F3E5D5}"/>
              </a:ext>
            </a:extLst>
          </p:cNvPr>
          <p:cNvSpPr txBox="1"/>
          <p:nvPr/>
        </p:nvSpPr>
        <p:spPr>
          <a:xfrm>
            <a:off x="9483348" y="2615306"/>
            <a:ext cx="829073" cy="400110"/>
          </a:xfrm>
          <a:prstGeom prst="rect">
            <a:avLst/>
          </a:prstGeom>
          <a:noFill/>
        </p:spPr>
        <p:txBody>
          <a:bodyPr wrap="none" rtlCol="0">
            <a:spAutoFit/>
          </a:bodyPr>
          <a:lstStyle/>
          <a:p>
            <a:r>
              <a:rPr lang="en-US" sz="2000" dirty="0"/>
              <a:t>prime</a:t>
            </a:r>
          </a:p>
        </p:txBody>
      </p:sp>
      <p:sp>
        <p:nvSpPr>
          <p:cNvPr id="15" name="TextBox 14">
            <a:extLst>
              <a:ext uri="{FF2B5EF4-FFF2-40B4-BE49-F238E27FC236}">
                <a16:creationId xmlns:a16="http://schemas.microsoft.com/office/drawing/2014/main" id="{B65911FA-C0A7-FB50-3642-7D2D08B2A06F}"/>
              </a:ext>
            </a:extLst>
          </p:cNvPr>
          <p:cNvSpPr txBox="1"/>
          <p:nvPr/>
        </p:nvSpPr>
        <p:spPr>
          <a:xfrm>
            <a:off x="8858495" y="2642173"/>
            <a:ext cx="184731" cy="369332"/>
          </a:xfrm>
          <a:prstGeom prst="rect">
            <a:avLst/>
          </a:prstGeom>
          <a:noFill/>
        </p:spPr>
        <p:txBody>
          <a:bodyPr wrap="none" rtlCol="0">
            <a:spAutoFit/>
          </a:bodyPr>
          <a:lstStyle/>
          <a:p>
            <a:endParaRPr lang="en-US" dirty="0"/>
          </a:p>
        </p:txBody>
      </p:sp>
      <p:sp>
        <p:nvSpPr>
          <p:cNvPr id="18" name="TextBox 17">
            <a:extLst>
              <a:ext uri="{FF2B5EF4-FFF2-40B4-BE49-F238E27FC236}">
                <a16:creationId xmlns:a16="http://schemas.microsoft.com/office/drawing/2014/main" id="{CA634F4C-4F30-8B3F-E41C-F8863088809C}"/>
              </a:ext>
            </a:extLst>
          </p:cNvPr>
          <p:cNvSpPr txBox="1"/>
          <p:nvPr/>
        </p:nvSpPr>
        <p:spPr>
          <a:xfrm>
            <a:off x="8626344" y="2713734"/>
            <a:ext cx="740908" cy="369332"/>
          </a:xfrm>
          <a:prstGeom prst="rect">
            <a:avLst/>
          </a:prstGeom>
          <a:noFill/>
        </p:spPr>
        <p:txBody>
          <a:bodyPr wrap="none" rtlCol="0">
            <a:spAutoFit/>
          </a:bodyPr>
          <a:lstStyle/>
          <a:p>
            <a:r>
              <a:rPr lang="en-US" dirty="0"/>
              <a:t>1  3  5</a:t>
            </a:r>
          </a:p>
        </p:txBody>
      </p:sp>
      <p:sp>
        <p:nvSpPr>
          <p:cNvPr id="19" name="TextBox 18">
            <a:extLst>
              <a:ext uri="{FF2B5EF4-FFF2-40B4-BE49-F238E27FC236}">
                <a16:creationId xmlns:a16="http://schemas.microsoft.com/office/drawing/2014/main" id="{B9E94865-3C06-174D-D715-D11CF0AD889F}"/>
              </a:ext>
            </a:extLst>
          </p:cNvPr>
          <p:cNvSpPr txBox="1"/>
          <p:nvPr/>
        </p:nvSpPr>
        <p:spPr>
          <a:xfrm>
            <a:off x="8539598" y="2037877"/>
            <a:ext cx="914400" cy="369332"/>
          </a:xfrm>
          <a:prstGeom prst="rect">
            <a:avLst/>
          </a:prstGeom>
          <a:noFill/>
        </p:spPr>
        <p:txBody>
          <a:bodyPr wrap="square" rtlCol="0">
            <a:spAutoFit/>
          </a:bodyPr>
          <a:lstStyle/>
          <a:p>
            <a:r>
              <a:rPr lang="en-US" dirty="0"/>
              <a:t>4  6</a:t>
            </a:r>
          </a:p>
        </p:txBody>
      </p:sp>
      <p:graphicFrame>
        <p:nvGraphicFramePr>
          <p:cNvPr id="25" name="Table 24">
            <a:extLst>
              <a:ext uri="{FF2B5EF4-FFF2-40B4-BE49-F238E27FC236}">
                <a16:creationId xmlns:a16="http://schemas.microsoft.com/office/drawing/2014/main" id="{2125B25C-9887-A3CF-0DCD-95E54A0A591C}"/>
              </a:ext>
            </a:extLst>
          </p:cNvPr>
          <p:cNvGraphicFramePr>
            <a:graphicFrameLocks noGrp="1"/>
          </p:cNvGraphicFramePr>
          <p:nvPr>
            <p:extLst>
              <p:ext uri="{D42A27DB-BD31-4B8C-83A1-F6EECF244321}">
                <p14:modId xmlns:p14="http://schemas.microsoft.com/office/powerpoint/2010/main" val="3052013749"/>
              </p:ext>
            </p:extLst>
          </p:nvPr>
        </p:nvGraphicFramePr>
        <p:xfrm>
          <a:off x="8125884" y="4794310"/>
          <a:ext cx="2299856" cy="1235016"/>
        </p:xfrm>
        <a:graphic>
          <a:graphicData uri="http://schemas.openxmlformats.org/drawingml/2006/table">
            <a:tbl>
              <a:tblPr bandRow="1">
                <a:tableStyleId>{2D5ABB26-0587-4C30-8999-92F81FD0307C}</a:tableStyleId>
              </a:tblPr>
              <a:tblGrid>
                <a:gridCol w="1149928">
                  <a:extLst>
                    <a:ext uri="{9D8B030D-6E8A-4147-A177-3AD203B41FA5}">
                      <a16:colId xmlns:a16="http://schemas.microsoft.com/office/drawing/2014/main" val="2785513782"/>
                    </a:ext>
                  </a:extLst>
                </a:gridCol>
                <a:gridCol w="1149928">
                  <a:extLst>
                    <a:ext uri="{9D8B030D-6E8A-4147-A177-3AD203B41FA5}">
                      <a16:colId xmlns:a16="http://schemas.microsoft.com/office/drawing/2014/main" val="682526169"/>
                    </a:ext>
                  </a:extLst>
                </a:gridCol>
              </a:tblGrid>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007454"/>
                  </a:ext>
                </a:extLst>
              </a:tr>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359867"/>
                  </a:ext>
                </a:extLst>
              </a:tr>
            </a:tbl>
          </a:graphicData>
        </a:graphic>
      </p:graphicFrame>
      <p:sp>
        <p:nvSpPr>
          <p:cNvPr id="26" name="TextBox 25">
            <a:extLst>
              <a:ext uri="{FF2B5EF4-FFF2-40B4-BE49-F238E27FC236}">
                <a16:creationId xmlns:a16="http://schemas.microsoft.com/office/drawing/2014/main" id="{7E02E2C8-3E37-C238-1E34-AD8CD6B85DF6}"/>
              </a:ext>
            </a:extLst>
          </p:cNvPr>
          <p:cNvSpPr txBox="1"/>
          <p:nvPr/>
        </p:nvSpPr>
        <p:spPr>
          <a:xfrm>
            <a:off x="7554893" y="4795820"/>
            <a:ext cx="570990" cy="369332"/>
          </a:xfrm>
          <a:prstGeom prst="rect">
            <a:avLst/>
          </a:prstGeom>
          <a:noFill/>
        </p:spPr>
        <p:txBody>
          <a:bodyPr wrap="none" rtlCol="0">
            <a:spAutoFit/>
          </a:bodyPr>
          <a:lstStyle/>
          <a:p>
            <a:r>
              <a:rPr lang="en-US" dirty="0"/>
              <a:t>odd</a:t>
            </a:r>
          </a:p>
        </p:txBody>
      </p:sp>
      <p:sp>
        <p:nvSpPr>
          <p:cNvPr id="27" name="TextBox 26">
            <a:extLst>
              <a:ext uri="{FF2B5EF4-FFF2-40B4-BE49-F238E27FC236}">
                <a16:creationId xmlns:a16="http://schemas.microsoft.com/office/drawing/2014/main" id="{17C93826-0F1B-AFCF-1372-E45F8B9973E1}"/>
              </a:ext>
            </a:extLst>
          </p:cNvPr>
          <p:cNvSpPr txBox="1"/>
          <p:nvPr/>
        </p:nvSpPr>
        <p:spPr>
          <a:xfrm>
            <a:off x="7389783" y="5572380"/>
            <a:ext cx="736099" cy="369332"/>
          </a:xfrm>
          <a:prstGeom prst="rect">
            <a:avLst/>
          </a:prstGeom>
          <a:noFill/>
        </p:spPr>
        <p:txBody>
          <a:bodyPr wrap="none" rtlCol="0">
            <a:spAutoFit/>
          </a:bodyPr>
          <a:lstStyle/>
          <a:p>
            <a:r>
              <a:rPr lang="en-US" dirty="0">
                <a:sym typeface="Symbol" panose="05050102010706020507" pitchFamily="18" charset="2"/>
              </a:rPr>
              <a:t>odd</a:t>
            </a:r>
            <a:endParaRPr lang="en-US" dirty="0"/>
          </a:p>
        </p:txBody>
      </p:sp>
      <p:sp>
        <p:nvSpPr>
          <p:cNvPr id="28" name="TextBox 27">
            <a:extLst>
              <a:ext uri="{FF2B5EF4-FFF2-40B4-BE49-F238E27FC236}">
                <a16:creationId xmlns:a16="http://schemas.microsoft.com/office/drawing/2014/main" id="{2EF16293-A779-94B8-D2C2-98870B33FD8A}"/>
              </a:ext>
            </a:extLst>
          </p:cNvPr>
          <p:cNvSpPr txBox="1"/>
          <p:nvPr/>
        </p:nvSpPr>
        <p:spPr>
          <a:xfrm>
            <a:off x="8258933" y="4424979"/>
            <a:ext cx="764953" cy="369332"/>
          </a:xfrm>
          <a:prstGeom prst="rect">
            <a:avLst/>
          </a:prstGeom>
          <a:noFill/>
        </p:spPr>
        <p:txBody>
          <a:bodyPr wrap="none" rtlCol="0">
            <a:spAutoFit/>
          </a:bodyPr>
          <a:lstStyle/>
          <a:p>
            <a:r>
              <a:rPr lang="en-US" dirty="0"/>
              <a:t>prime</a:t>
            </a:r>
          </a:p>
        </p:txBody>
      </p:sp>
      <p:sp>
        <p:nvSpPr>
          <p:cNvPr id="29" name="TextBox 28">
            <a:extLst>
              <a:ext uri="{FF2B5EF4-FFF2-40B4-BE49-F238E27FC236}">
                <a16:creationId xmlns:a16="http://schemas.microsoft.com/office/drawing/2014/main" id="{61889B0C-FD21-8DF3-B25E-A17948715225}"/>
              </a:ext>
            </a:extLst>
          </p:cNvPr>
          <p:cNvSpPr txBox="1"/>
          <p:nvPr/>
        </p:nvSpPr>
        <p:spPr>
          <a:xfrm>
            <a:off x="9209042" y="4424979"/>
            <a:ext cx="976549" cy="369332"/>
          </a:xfrm>
          <a:prstGeom prst="rect">
            <a:avLst/>
          </a:prstGeom>
          <a:noFill/>
        </p:spPr>
        <p:txBody>
          <a:bodyPr wrap="none" rtlCol="0">
            <a:spAutoFit/>
          </a:bodyPr>
          <a:lstStyle/>
          <a:p>
            <a:r>
              <a:rPr lang="en-US" dirty="0">
                <a:sym typeface="Symbol" panose="05050102010706020507" pitchFamily="18" charset="2"/>
              </a:rPr>
              <a:t> prime</a:t>
            </a:r>
            <a:endParaRPr lang="en-US" dirty="0"/>
          </a:p>
        </p:txBody>
      </p:sp>
      <p:sp>
        <p:nvSpPr>
          <p:cNvPr id="30" name="TextBox 29">
            <a:extLst>
              <a:ext uri="{FF2B5EF4-FFF2-40B4-BE49-F238E27FC236}">
                <a16:creationId xmlns:a16="http://schemas.microsoft.com/office/drawing/2014/main" id="{3A820483-EE6C-ABCB-B3C6-96255F1A4D57}"/>
              </a:ext>
            </a:extLst>
          </p:cNvPr>
          <p:cNvSpPr txBox="1"/>
          <p:nvPr/>
        </p:nvSpPr>
        <p:spPr>
          <a:xfrm>
            <a:off x="8258933" y="4773783"/>
            <a:ext cx="631904" cy="923330"/>
          </a:xfrm>
          <a:prstGeom prst="rect">
            <a:avLst/>
          </a:prstGeom>
          <a:noFill/>
        </p:spPr>
        <p:txBody>
          <a:bodyPr wrap="none" rtlCol="0">
            <a:spAutoFit/>
          </a:bodyPr>
          <a:lstStyle/>
          <a:p>
            <a:r>
              <a:rPr lang="en-US" dirty="0"/>
              <a:t>{3,5}</a:t>
            </a:r>
          </a:p>
          <a:p>
            <a:endParaRPr lang="en-US" dirty="0"/>
          </a:p>
          <a:p>
            <a:endParaRPr lang="en-US" dirty="0"/>
          </a:p>
        </p:txBody>
      </p:sp>
      <p:sp>
        <p:nvSpPr>
          <p:cNvPr id="31" name="TextBox 30">
            <a:extLst>
              <a:ext uri="{FF2B5EF4-FFF2-40B4-BE49-F238E27FC236}">
                <a16:creationId xmlns:a16="http://schemas.microsoft.com/office/drawing/2014/main" id="{E9EF74DE-45AE-B966-5261-B12238C71A06}"/>
              </a:ext>
            </a:extLst>
          </p:cNvPr>
          <p:cNvSpPr txBox="1"/>
          <p:nvPr/>
        </p:nvSpPr>
        <p:spPr>
          <a:xfrm>
            <a:off x="8324199" y="5042856"/>
            <a:ext cx="510076" cy="369332"/>
          </a:xfrm>
          <a:prstGeom prst="rect">
            <a:avLst/>
          </a:prstGeom>
          <a:noFill/>
        </p:spPr>
        <p:txBody>
          <a:bodyPr wrap="none" rtlCol="0">
            <a:spAutoFit/>
          </a:bodyPr>
          <a:lstStyle/>
          <a:p>
            <a:r>
              <a:rPr lang="en-US" dirty="0">
                <a:solidFill>
                  <a:srgbClr val="0070C0"/>
                </a:solidFill>
              </a:rPr>
              <a:t>2/6</a:t>
            </a:r>
          </a:p>
        </p:txBody>
      </p:sp>
      <p:sp>
        <p:nvSpPr>
          <p:cNvPr id="32" name="TextBox 31">
            <a:extLst>
              <a:ext uri="{FF2B5EF4-FFF2-40B4-BE49-F238E27FC236}">
                <a16:creationId xmlns:a16="http://schemas.microsoft.com/office/drawing/2014/main" id="{87D5AB12-B72D-5891-143F-DAA77EC77B6C}"/>
              </a:ext>
            </a:extLst>
          </p:cNvPr>
          <p:cNvSpPr txBox="1"/>
          <p:nvPr/>
        </p:nvSpPr>
        <p:spPr>
          <a:xfrm>
            <a:off x="9542667" y="4773783"/>
            <a:ext cx="442750" cy="369332"/>
          </a:xfrm>
          <a:prstGeom prst="rect">
            <a:avLst/>
          </a:prstGeom>
          <a:noFill/>
        </p:spPr>
        <p:txBody>
          <a:bodyPr wrap="none" rtlCol="0">
            <a:spAutoFit/>
          </a:bodyPr>
          <a:lstStyle/>
          <a:p>
            <a:r>
              <a:rPr lang="en-US" dirty="0"/>
              <a:t>{1}</a:t>
            </a:r>
          </a:p>
        </p:txBody>
      </p:sp>
      <p:sp>
        <p:nvSpPr>
          <p:cNvPr id="33" name="TextBox 32">
            <a:extLst>
              <a:ext uri="{FF2B5EF4-FFF2-40B4-BE49-F238E27FC236}">
                <a16:creationId xmlns:a16="http://schemas.microsoft.com/office/drawing/2014/main" id="{9F424504-D1E3-3BE3-2161-024E09913B86}"/>
              </a:ext>
            </a:extLst>
          </p:cNvPr>
          <p:cNvSpPr txBox="1"/>
          <p:nvPr/>
        </p:nvSpPr>
        <p:spPr>
          <a:xfrm>
            <a:off x="9504907" y="5050782"/>
            <a:ext cx="510076" cy="369332"/>
          </a:xfrm>
          <a:prstGeom prst="rect">
            <a:avLst/>
          </a:prstGeom>
          <a:noFill/>
        </p:spPr>
        <p:txBody>
          <a:bodyPr wrap="none" rtlCol="0">
            <a:spAutoFit/>
          </a:bodyPr>
          <a:lstStyle/>
          <a:p>
            <a:r>
              <a:rPr lang="en-US" dirty="0">
                <a:solidFill>
                  <a:srgbClr val="0070C0"/>
                </a:solidFill>
              </a:rPr>
              <a:t>1/6</a:t>
            </a:r>
          </a:p>
        </p:txBody>
      </p:sp>
      <p:sp>
        <p:nvSpPr>
          <p:cNvPr id="34" name="TextBox 33">
            <a:extLst>
              <a:ext uri="{FF2B5EF4-FFF2-40B4-BE49-F238E27FC236}">
                <a16:creationId xmlns:a16="http://schemas.microsoft.com/office/drawing/2014/main" id="{FAAF2B37-E59F-BC09-F550-D54E110F4CD1}"/>
              </a:ext>
            </a:extLst>
          </p:cNvPr>
          <p:cNvSpPr txBox="1"/>
          <p:nvPr/>
        </p:nvSpPr>
        <p:spPr>
          <a:xfrm>
            <a:off x="8408653" y="5369985"/>
            <a:ext cx="442750" cy="369332"/>
          </a:xfrm>
          <a:prstGeom prst="rect">
            <a:avLst/>
          </a:prstGeom>
          <a:noFill/>
        </p:spPr>
        <p:txBody>
          <a:bodyPr wrap="none" rtlCol="0">
            <a:spAutoFit/>
          </a:bodyPr>
          <a:lstStyle/>
          <a:p>
            <a:r>
              <a:rPr lang="en-US" dirty="0"/>
              <a:t>{2}</a:t>
            </a:r>
          </a:p>
        </p:txBody>
      </p:sp>
      <p:sp>
        <p:nvSpPr>
          <p:cNvPr id="35" name="TextBox 34">
            <a:extLst>
              <a:ext uri="{FF2B5EF4-FFF2-40B4-BE49-F238E27FC236}">
                <a16:creationId xmlns:a16="http://schemas.microsoft.com/office/drawing/2014/main" id="{8DD8D54E-C16D-D6B8-EFC0-0C56697E0B7B}"/>
              </a:ext>
            </a:extLst>
          </p:cNvPr>
          <p:cNvSpPr txBox="1"/>
          <p:nvPr/>
        </p:nvSpPr>
        <p:spPr>
          <a:xfrm>
            <a:off x="8336518" y="5694549"/>
            <a:ext cx="510076" cy="369332"/>
          </a:xfrm>
          <a:prstGeom prst="rect">
            <a:avLst/>
          </a:prstGeom>
          <a:noFill/>
        </p:spPr>
        <p:txBody>
          <a:bodyPr wrap="none" rtlCol="0">
            <a:spAutoFit/>
          </a:bodyPr>
          <a:lstStyle/>
          <a:p>
            <a:r>
              <a:rPr lang="en-US" dirty="0">
                <a:solidFill>
                  <a:srgbClr val="0070C0"/>
                </a:solidFill>
              </a:rPr>
              <a:t>1/6</a:t>
            </a:r>
          </a:p>
        </p:txBody>
      </p:sp>
      <p:sp>
        <p:nvSpPr>
          <p:cNvPr id="36" name="TextBox 35">
            <a:extLst>
              <a:ext uri="{FF2B5EF4-FFF2-40B4-BE49-F238E27FC236}">
                <a16:creationId xmlns:a16="http://schemas.microsoft.com/office/drawing/2014/main" id="{9CCF7F54-87F1-730F-B1B6-B5A68F4FF20D}"/>
              </a:ext>
            </a:extLst>
          </p:cNvPr>
          <p:cNvSpPr txBox="1"/>
          <p:nvPr/>
        </p:nvSpPr>
        <p:spPr>
          <a:xfrm>
            <a:off x="9385344" y="5387714"/>
            <a:ext cx="631904" cy="369332"/>
          </a:xfrm>
          <a:prstGeom prst="rect">
            <a:avLst/>
          </a:prstGeom>
          <a:noFill/>
        </p:spPr>
        <p:txBody>
          <a:bodyPr wrap="none" rtlCol="0">
            <a:spAutoFit/>
          </a:bodyPr>
          <a:lstStyle/>
          <a:p>
            <a:r>
              <a:rPr lang="en-US" dirty="0"/>
              <a:t>{4,6}</a:t>
            </a:r>
          </a:p>
        </p:txBody>
      </p:sp>
      <p:sp>
        <p:nvSpPr>
          <p:cNvPr id="37" name="TextBox 36">
            <a:extLst>
              <a:ext uri="{FF2B5EF4-FFF2-40B4-BE49-F238E27FC236}">
                <a16:creationId xmlns:a16="http://schemas.microsoft.com/office/drawing/2014/main" id="{75C42526-EF48-FD55-FCC4-5CD2519A5862}"/>
              </a:ext>
            </a:extLst>
          </p:cNvPr>
          <p:cNvSpPr txBox="1"/>
          <p:nvPr/>
        </p:nvSpPr>
        <p:spPr>
          <a:xfrm>
            <a:off x="9475341" y="5708520"/>
            <a:ext cx="510076" cy="369332"/>
          </a:xfrm>
          <a:prstGeom prst="rect">
            <a:avLst/>
          </a:prstGeom>
          <a:noFill/>
        </p:spPr>
        <p:txBody>
          <a:bodyPr wrap="none" rtlCol="0">
            <a:spAutoFit/>
          </a:bodyPr>
          <a:lstStyle/>
          <a:p>
            <a:r>
              <a:rPr lang="en-US" dirty="0">
                <a:solidFill>
                  <a:srgbClr val="0070C0"/>
                </a:solidFill>
              </a:rPr>
              <a:t>2/6</a:t>
            </a:r>
          </a:p>
        </p:txBody>
      </p:sp>
      <p:sp>
        <p:nvSpPr>
          <p:cNvPr id="38" name="TextBox 37">
            <a:extLst>
              <a:ext uri="{FF2B5EF4-FFF2-40B4-BE49-F238E27FC236}">
                <a16:creationId xmlns:a16="http://schemas.microsoft.com/office/drawing/2014/main" id="{06211AE5-3411-0DF2-63F3-1198BA8899B0}"/>
              </a:ext>
            </a:extLst>
          </p:cNvPr>
          <p:cNvSpPr txBox="1"/>
          <p:nvPr/>
        </p:nvSpPr>
        <p:spPr>
          <a:xfrm>
            <a:off x="10477737" y="4858190"/>
            <a:ext cx="510076" cy="369332"/>
          </a:xfrm>
          <a:prstGeom prst="rect">
            <a:avLst/>
          </a:prstGeom>
          <a:noFill/>
        </p:spPr>
        <p:txBody>
          <a:bodyPr wrap="none" rtlCol="0">
            <a:spAutoFit/>
          </a:bodyPr>
          <a:lstStyle/>
          <a:p>
            <a:r>
              <a:rPr lang="en-US" dirty="0">
                <a:solidFill>
                  <a:srgbClr val="0070C0"/>
                </a:solidFill>
              </a:rPr>
              <a:t>3/6</a:t>
            </a:r>
          </a:p>
        </p:txBody>
      </p:sp>
      <p:sp>
        <p:nvSpPr>
          <p:cNvPr id="40" name="TextBox 39">
            <a:extLst>
              <a:ext uri="{FF2B5EF4-FFF2-40B4-BE49-F238E27FC236}">
                <a16:creationId xmlns:a16="http://schemas.microsoft.com/office/drawing/2014/main" id="{3F0EF4E9-DBFE-AA14-3081-52DEAC0AAF7A}"/>
              </a:ext>
            </a:extLst>
          </p:cNvPr>
          <p:cNvSpPr txBox="1"/>
          <p:nvPr/>
        </p:nvSpPr>
        <p:spPr>
          <a:xfrm>
            <a:off x="10503325" y="5448764"/>
            <a:ext cx="510076" cy="369332"/>
          </a:xfrm>
          <a:prstGeom prst="rect">
            <a:avLst/>
          </a:prstGeom>
          <a:noFill/>
        </p:spPr>
        <p:txBody>
          <a:bodyPr wrap="none" rtlCol="0">
            <a:spAutoFit/>
          </a:bodyPr>
          <a:lstStyle/>
          <a:p>
            <a:r>
              <a:rPr lang="en-US" dirty="0">
                <a:solidFill>
                  <a:srgbClr val="0070C0"/>
                </a:solidFill>
              </a:rPr>
              <a:t>3/6</a:t>
            </a:r>
          </a:p>
        </p:txBody>
      </p:sp>
      <p:sp>
        <p:nvSpPr>
          <p:cNvPr id="41" name="TextBox 40">
            <a:extLst>
              <a:ext uri="{FF2B5EF4-FFF2-40B4-BE49-F238E27FC236}">
                <a16:creationId xmlns:a16="http://schemas.microsoft.com/office/drawing/2014/main" id="{163C4AA7-A74A-3E42-B42B-8FFB3D293765}"/>
              </a:ext>
            </a:extLst>
          </p:cNvPr>
          <p:cNvSpPr txBox="1"/>
          <p:nvPr/>
        </p:nvSpPr>
        <p:spPr>
          <a:xfrm>
            <a:off x="8358640" y="6049853"/>
            <a:ext cx="510076" cy="369332"/>
          </a:xfrm>
          <a:prstGeom prst="rect">
            <a:avLst/>
          </a:prstGeom>
          <a:noFill/>
        </p:spPr>
        <p:txBody>
          <a:bodyPr wrap="none" rtlCol="0">
            <a:spAutoFit/>
          </a:bodyPr>
          <a:lstStyle/>
          <a:p>
            <a:r>
              <a:rPr lang="en-US" dirty="0">
                <a:solidFill>
                  <a:srgbClr val="0070C0"/>
                </a:solidFill>
              </a:rPr>
              <a:t>3/6</a:t>
            </a:r>
          </a:p>
        </p:txBody>
      </p:sp>
      <p:sp>
        <p:nvSpPr>
          <p:cNvPr id="42" name="TextBox 41">
            <a:extLst>
              <a:ext uri="{FF2B5EF4-FFF2-40B4-BE49-F238E27FC236}">
                <a16:creationId xmlns:a16="http://schemas.microsoft.com/office/drawing/2014/main" id="{3E7A0FA5-D759-AB90-0080-BB279903AB06}"/>
              </a:ext>
            </a:extLst>
          </p:cNvPr>
          <p:cNvSpPr txBox="1"/>
          <p:nvPr/>
        </p:nvSpPr>
        <p:spPr>
          <a:xfrm>
            <a:off x="9540835" y="6050070"/>
            <a:ext cx="510076" cy="369332"/>
          </a:xfrm>
          <a:prstGeom prst="rect">
            <a:avLst/>
          </a:prstGeom>
          <a:noFill/>
        </p:spPr>
        <p:txBody>
          <a:bodyPr wrap="none" rtlCol="0">
            <a:spAutoFit/>
          </a:bodyPr>
          <a:lstStyle/>
          <a:p>
            <a:r>
              <a:rPr lang="en-US" dirty="0">
                <a:solidFill>
                  <a:srgbClr val="0070C0"/>
                </a:solidFill>
              </a:rPr>
              <a:t>3/6</a:t>
            </a:r>
          </a:p>
        </p:txBody>
      </p:sp>
      <p:cxnSp>
        <p:nvCxnSpPr>
          <p:cNvPr id="44" name="Straight Connector 43">
            <a:extLst>
              <a:ext uri="{FF2B5EF4-FFF2-40B4-BE49-F238E27FC236}">
                <a16:creationId xmlns:a16="http://schemas.microsoft.com/office/drawing/2014/main" id="{A1DB5B2F-F4E9-AE41-8B47-83C8DF3AA5AA}"/>
              </a:ext>
            </a:extLst>
          </p:cNvPr>
          <p:cNvCxnSpPr/>
          <p:nvPr/>
        </p:nvCxnSpPr>
        <p:spPr>
          <a:xfrm flipH="1" flipV="1">
            <a:off x="7756935" y="4576156"/>
            <a:ext cx="368947" cy="2181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A4513F5-AFE9-EC09-BF36-F9DF0F4C7AE1}"/>
              </a:ext>
            </a:extLst>
          </p:cNvPr>
          <p:cNvSpPr txBox="1"/>
          <p:nvPr/>
        </p:nvSpPr>
        <p:spPr>
          <a:xfrm>
            <a:off x="438737" y="2036817"/>
            <a:ext cx="6369675" cy="5100372"/>
          </a:xfrm>
          <a:prstGeom prst="rect">
            <a:avLst/>
          </a:prstGeom>
          <a:noFill/>
        </p:spPr>
        <p:txBody>
          <a:bodyPr wrap="square" rtlCol="0">
            <a:normAutofit/>
          </a:bodyPr>
          <a:lstStyle/>
          <a:p>
            <a:r>
              <a:rPr lang="en-US" sz="2000" dirty="0">
                <a:solidFill>
                  <a:schemeClr val="accent1"/>
                </a:solidFill>
                <a:sym typeface="Symbol" panose="05050102010706020507" pitchFamily="18" charset="2"/>
              </a:rPr>
              <a:t>Marginalization</a:t>
            </a:r>
            <a:r>
              <a:rPr lang="en-US" sz="2000" dirty="0">
                <a:sym typeface="Symbol" panose="05050102010706020507" pitchFamily="18" charset="2"/>
              </a:rPr>
              <a:t>: probability of event such as odd or</a:t>
            </a:r>
            <a:br>
              <a:rPr lang="en-US" sz="2000" dirty="0">
                <a:sym typeface="Symbol" panose="05050102010706020507" pitchFamily="18" charset="2"/>
              </a:rPr>
            </a:br>
            <a:r>
              <a:rPr lang="en-US" sz="2000" dirty="0">
                <a:sym typeface="Symbol" panose="05050102010706020507" pitchFamily="18" charset="2"/>
              </a:rPr>
              <a:t>  prime is obtained by computing row or column sums. </a:t>
            </a:r>
            <a:br>
              <a:rPr lang="en-US" sz="2000" dirty="0">
                <a:sym typeface="Symbol" panose="05050102010706020507" pitchFamily="18" charset="2"/>
              </a:rPr>
            </a:br>
            <a:endParaRPr lang="en-US" sz="2000" dirty="0">
              <a:sym typeface="Symbol" panose="05050102010706020507" pitchFamily="18" charset="2"/>
            </a:endParaRPr>
          </a:p>
          <a:p>
            <a:endParaRPr lang="en-US" sz="2000" dirty="0">
              <a:sym typeface="Symbol" panose="05050102010706020507" pitchFamily="18" charset="2"/>
            </a:endParaRPr>
          </a:p>
          <a:p>
            <a:endParaRPr lang="en-US" sz="2000" dirty="0">
              <a:sym typeface="Symbol" panose="05050102010706020507" pitchFamily="18" charset="2"/>
            </a:endParaRPr>
          </a:p>
          <a:p>
            <a:r>
              <a:rPr lang="en-US" sz="2000" dirty="0">
                <a:sym typeface="Symbol" panose="05050102010706020507" pitchFamily="18" charset="2"/>
              </a:rPr>
              <a:t>No need to enumerate events.</a:t>
            </a:r>
            <a:endParaRPr lang="en-US" dirty="0">
              <a:sym typeface="Symbol" panose="05050102010706020507" pitchFamily="18" charset="2"/>
            </a:endParaRPr>
          </a:p>
          <a:p>
            <a:endParaRPr lang="en-US" dirty="0">
              <a:sym typeface="Symbol" panose="05050102010706020507" pitchFamily="18" charset="2"/>
            </a:endParaRPr>
          </a:p>
          <a:p>
            <a:endParaRPr lang="en-US" dirty="0">
              <a:solidFill>
                <a:srgbClr val="00B0F0"/>
              </a:solidFill>
              <a:sym typeface="Symbol" panose="05050102010706020507" pitchFamily="18" charset="2"/>
            </a:endParaRPr>
          </a:p>
          <a:p>
            <a:r>
              <a:rPr lang="en-US" sz="2000" dirty="0">
                <a:sym typeface="Symbol" panose="05050102010706020507" pitchFamily="18" charset="2"/>
              </a:rPr>
              <a:t>We can go from joint probability to individual event probabilities but in general, not the other way around.</a:t>
            </a:r>
          </a:p>
          <a:p>
            <a:endParaRPr lang="en-US" sz="2000" dirty="0">
              <a:sym typeface="Symbol" panose="05050102010706020507" pitchFamily="18" charset="2"/>
            </a:endParaRPr>
          </a:p>
          <a:p>
            <a:r>
              <a:rPr lang="en-US" sz="2000" dirty="0">
                <a:sym typeface="Symbol" panose="05050102010706020507" pitchFamily="18" charset="2"/>
              </a:rPr>
              <a:t>Knowing P(A) and P(B) gives you row and column sums</a:t>
            </a:r>
          </a:p>
          <a:p>
            <a:r>
              <a:rPr lang="en-US" sz="2000" dirty="0">
                <a:sym typeface="Symbol" panose="05050102010706020507" pitchFamily="18" charset="2"/>
              </a:rPr>
              <a:t> in the 2x2 matrix, but this does not determine the matrix entries uniquely so in general P(AB)  P(A)*P(B)</a:t>
            </a:r>
          </a:p>
          <a:p>
            <a:endParaRPr lang="en-US" dirty="0">
              <a:sym typeface="Symbol" panose="05050102010706020507" pitchFamily="18" charset="2"/>
            </a:endParaRPr>
          </a:p>
          <a:p>
            <a:endParaRPr lang="en-US" dirty="0"/>
          </a:p>
        </p:txBody>
      </p:sp>
      <p:sp>
        <p:nvSpPr>
          <p:cNvPr id="9" name="TextBox 8">
            <a:extLst>
              <a:ext uri="{FF2B5EF4-FFF2-40B4-BE49-F238E27FC236}">
                <a16:creationId xmlns:a16="http://schemas.microsoft.com/office/drawing/2014/main" id="{3D2C0C3D-39AE-D26A-6D29-D8E5B584CCA2}"/>
              </a:ext>
            </a:extLst>
          </p:cNvPr>
          <p:cNvSpPr txBox="1"/>
          <p:nvPr/>
        </p:nvSpPr>
        <p:spPr>
          <a:xfrm>
            <a:off x="9424138" y="2406877"/>
            <a:ext cx="308098" cy="369332"/>
          </a:xfrm>
          <a:prstGeom prst="rect">
            <a:avLst/>
          </a:prstGeom>
          <a:noFill/>
        </p:spPr>
        <p:txBody>
          <a:bodyPr wrap="none" rtlCol="0">
            <a:spAutoFit/>
          </a:bodyPr>
          <a:lstStyle/>
          <a:p>
            <a:pPr algn="l"/>
            <a:r>
              <a:rPr lang="en-US" dirty="0"/>
              <a:t>2</a:t>
            </a:r>
          </a:p>
        </p:txBody>
      </p:sp>
    </p:spTree>
    <p:extLst>
      <p:ext uri="{BB962C8B-B14F-4D97-AF65-F5344CB8AC3E}">
        <p14:creationId xmlns:p14="http://schemas.microsoft.com/office/powerpoint/2010/main" val="3772134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46D09B10-D2F4-ACF7-3ABC-818B8F3C3F0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A31CAD6-30EB-7F1E-1A88-A215AA92DD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72148B2-320E-DEFE-CA0D-5C348B97E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50D8759-1E39-B52E-F8F7-A08432B9C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15CCAA8-FCB5-A22D-9603-CD874EAB1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DB65FD2-CD4A-02D4-AF90-1318C560B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D19D1-53C2-9D5F-8899-A6A6FBC79EBC}"/>
              </a:ext>
            </a:extLst>
          </p:cNvPr>
          <p:cNvSpPr>
            <a:spLocks noGrp="1"/>
          </p:cNvSpPr>
          <p:nvPr>
            <p:ph type="title"/>
          </p:nvPr>
        </p:nvSpPr>
        <p:spPr>
          <a:xfrm>
            <a:off x="432550" y="229865"/>
            <a:ext cx="10155244" cy="1033669"/>
          </a:xfrm>
        </p:spPr>
        <p:txBody>
          <a:bodyPr>
            <a:normAutofit/>
          </a:bodyPr>
          <a:lstStyle/>
          <a:p>
            <a:r>
              <a:rPr lang="en-US" sz="4000" dirty="0">
                <a:solidFill>
                  <a:schemeClr val="bg1"/>
                </a:solidFill>
              </a:rPr>
              <a:t>Generalization (I): categorical events/features</a:t>
            </a:r>
          </a:p>
        </p:txBody>
      </p:sp>
      <p:graphicFrame>
        <p:nvGraphicFramePr>
          <p:cNvPr id="17" name="Table 16">
            <a:extLst>
              <a:ext uri="{FF2B5EF4-FFF2-40B4-BE49-F238E27FC236}">
                <a16:creationId xmlns:a16="http://schemas.microsoft.com/office/drawing/2014/main" id="{846273DD-6A83-B74E-CB93-6DD925E0F329}"/>
              </a:ext>
            </a:extLst>
          </p:cNvPr>
          <p:cNvGraphicFramePr>
            <a:graphicFrameLocks noGrp="1"/>
          </p:cNvGraphicFramePr>
          <p:nvPr>
            <p:extLst>
              <p:ext uri="{D42A27DB-BD31-4B8C-83A1-F6EECF244321}">
                <p14:modId xmlns:p14="http://schemas.microsoft.com/office/powerpoint/2010/main" val="3569705982"/>
              </p:ext>
            </p:extLst>
          </p:nvPr>
        </p:nvGraphicFramePr>
        <p:xfrm>
          <a:off x="7915561" y="2524939"/>
          <a:ext cx="3094180" cy="1800160"/>
        </p:xfrm>
        <a:graphic>
          <a:graphicData uri="http://schemas.openxmlformats.org/drawingml/2006/table">
            <a:tbl>
              <a:tblPr>
                <a:tableStyleId>{2D5ABB26-0587-4C30-8999-92F81FD0307C}</a:tableStyleId>
              </a:tblPr>
              <a:tblGrid>
                <a:gridCol w="773545">
                  <a:extLst>
                    <a:ext uri="{9D8B030D-6E8A-4147-A177-3AD203B41FA5}">
                      <a16:colId xmlns:a16="http://schemas.microsoft.com/office/drawing/2014/main" val="4150550218"/>
                    </a:ext>
                  </a:extLst>
                </a:gridCol>
                <a:gridCol w="773545">
                  <a:extLst>
                    <a:ext uri="{9D8B030D-6E8A-4147-A177-3AD203B41FA5}">
                      <a16:colId xmlns:a16="http://schemas.microsoft.com/office/drawing/2014/main" val="3721284479"/>
                    </a:ext>
                  </a:extLst>
                </a:gridCol>
                <a:gridCol w="773545">
                  <a:extLst>
                    <a:ext uri="{9D8B030D-6E8A-4147-A177-3AD203B41FA5}">
                      <a16:colId xmlns:a16="http://schemas.microsoft.com/office/drawing/2014/main" val="1992801028"/>
                    </a:ext>
                  </a:extLst>
                </a:gridCol>
                <a:gridCol w="773545">
                  <a:extLst>
                    <a:ext uri="{9D8B030D-6E8A-4147-A177-3AD203B41FA5}">
                      <a16:colId xmlns:a16="http://schemas.microsoft.com/office/drawing/2014/main" val="3595503812"/>
                    </a:ext>
                  </a:extLst>
                </a:gridCol>
              </a:tblGrid>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4188907"/>
                  </a:ext>
                </a:extLst>
              </a:tr>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948390"/>
                  </a:ext>
                </a:extLst>
              </a:tr>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796996"/>
                  </a:ext>
                </a:extLst>
              </a:tr>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8384053"/>
                  </a:ext>
                </a:extLst>
              </a:tr>
            </a:tbl>
          </a:graphicData>
        </a:graphic>
      </p:graphicFrame>
      <p:sp>
        <p:nvSpPr>
          <p:cNvPr id="20" name="TextBox 19">
            <a:extLst>
              <a:ext uri="{FF2B5EF4-FFF2-40B4-BE49-F238E27FC236}">
                <a16:creationId xmlns:a16="http://schemas.microsoft.com/office/drawing/2014/main" id="{48F93175-9180-960A-9A40-8BEDB07BAA4E}"/>
              </a:ext>
            </a:extLst>
          </p:cNvPr>
          <p:cNvSpPr txBox="1"/>
          <p:nvPr/>
        </p:nvSpPr>
        <p:spPr>
          <a:xfrm>
            <a:off x="6622470" y="3184937"/>
            <a:ext cx="793359" cy="369332"/>
          </a:xfrm>
          <a:prstGeom prst="rect">
            <a:avLst/>
          </a:prstGeom>
          <a:noFill/>
        </p:spPr>
        <p:txBody>
          <a:bodyPr wrap="none" rtlCol="0">
            <a:spAutoFit/>
          </a:bodyPr>
          <a:lstStyle/>
          <a:p>
            <a:r>
              <a:rPr lang="en-US" dirty="0"/>
              <a:t>Grade</a:t>
            </a:r>
          </a:p>
        </p:txBody>
      </p:sp>
      <p:sp>
        <p:nvSpPr>
          <p:cNvPr id="21" name="TextBox 20">
            <a:extLst>
              <a:ext uri="{FF2B5EF4-FFF2-40B4-BE49-F238E27FC236}">
                <a16:creationId xmlns:a16="http://schemas.microsoft.com/office/drawing/2014/main" id="{26A11BCE-0518-DD76-E24A-3E1722EDB039}"/>
              </a:ext>
            </a:extLst>
          </p:cNvPr>
          <p:cNvSpPr txBox="1"/>
          <p:nvPr/>
        </p:nvSpPr>
        <p:spPr>
          <a:xfrm>
            <a:off x="7516493" y="2566906"/>
            <a:ext cx="335348" cy="400110"/>
          </a:xfrm>
          <a:prstGeom prst="rect">
            <a:avLst/>
          </a:prstGeom>
          <a:noFill/>
        </p:spPr>
        <p:txBody>
          <a:bodyPr wrap="none" rtlCol="0">
            <a:spAutoFit/>
          </a:bodyPr>
          <a:lstStyle/>
          <a:p>
            <a:r>
              <a:rPr lang="en-US" sz="2000" dirty="0"/>
              <a:t>A</a:t>
            </a:r>
          </a:p>
        </p:txBody>
      </p:sp>
      <p:sp>
        <p:nvSpPr>
          <p:cNvPr id="22" name="TextBox 21">
            <a:extLst>
              <a:ext uri="{FF2B5EF4-FFF2-40B4-BE49-F238E27FC236}">
                <a16:creationId xmlns:a16="http://schemas.microsoft.com/office/drawing/2014/main" id="{1E4E0173-0B5D-A715-0771-5802E1DE8DCF}"/>
              </a:ext>
            </a:extLst>
          </p:cNvPr>
          <p:cNvSpPr txBox="1"/>
          <p:nvPr/>
        </p:nvSpPr>
        <p:spPr>
          <a:xfrm>
            <a:off x="7511683" y="3014364"/>
            <a:ext cx="340158" cy="400110"/>
          </a:xfrm>
          <a:prstGeom prst="rect">
            <a:avLst/>
          </a:prstGeom>
          <a:noFill/>
        </p:spPr>
        <p:txBody>
          <a:bodyPr wrap="none" rtlCol="0">
            <a:spAutoFit/>
          </a:bodyPr>
          <a:lstStyle/>
          <a:p>
            <a:r>
              <a:rPr lang="en-US" sz="2000" dirty="0"/>
              <a:t>B</a:t>
            </a:r>
          </a:p>
        </p:txBody>
      </p:sp>
      <p:sp>
        <p:nvSpPr>
          <p:cNvPr id="23" name="TextBox 22">
            <a:extLst>
              <a:ext uri="{FF2B5EF4-FFF2-40B4-BE49-F238E27FC236}">
                <a16:creationId xmlns:a16="http://schemas.microsoft.com/office/drawing/2014/main" id="{487691F9-C454-C2C4-4D99-85B667CDE09A}"/>
              </a:ext>
            </a:extLst>
          </p:cNvPr>
          <p:cNvSpPr txBox="1"/>
          <p:nvPr/>
        </p:nvSpPr>
        <p:spPr>
          <a:xfrm>
            <a:off x="7521101" y="3461822"/>
            <a:ext cx="362600" cy="400110"/>
          </a:xfrm>
          <a:prstGeom prst="rect">
            <a:avLst/>
          </a:prstGeom>
          <a:noFill/>
        </p:spPr>
        <p:txBody>
          <a:bodyPr wrap="none" rtlCol="0">
            <a:spAutoFit/>
          </a:bodyPr>
          <a:lstStyle/>
          <a:p>
            <a:r>
              <a:rPr lang="en-US" sz="2000" dirty="0"/>
              <a:t>C</a:t>
            </a:r>
          </a:p>
        </p:txBody>
      </p:sp>
      <p:sp>
        <p:nvSpPr>
          <p:cNvPr id="39" name="TextBox 38">
            <a:extLst>
              <a:ext uri="{FF2B5EF4-FFF2-40B4-BE49-F238E27FC236}">
                <a16:creationId xmlns:a16="http://schemas.microsoft.com/office/drawing/2014/main" id="{3353D91F-6DCB-4724-DD4E-079E7E2E23DE}"/>
              </a:ext>
            </a:extLst>
          </p:cNvPr>
          <p:cNvSpPr txBox="1"/>
          <p:nvPr/>
        </p:nvSpPr>
        <p:spPr>
          <a:xfrm>
            <a:off x="7521101" y="3909280"/>
            <a:ext cx="360996" cy="400110"/>
          </a:xfrm>
          <a:prstGeom prst="rect">
            <a:avLst/>
          </a:prstGeom>
          <a:noFill/>
        </p:spPr>
        <p:txBody>
          <a:bodyPr wrap="none" rtlCol="0">
            <a:spAutoFit/>
          </a:bodyPr>
          <a:lstStyle/>
          <a:p>
            <a:r>
              <a:rPr lang="en-US" sz="2000" dirty="0"/>
              <a:t>D</a:t>
            </a:r>
          </a:p>
        </p:txBody>
      </p:sp>
      <p:sp>
        <p:nvSpPr>
          <p:cNvPr id="43" name="TextBox 42">
            <a:extLst>
              <a:ext uri="{FF2B5EF4-FFF2-40B4-BE49-F238E27FC236}">
                <a16:creationId xmlns:a16="http://schemas.microsoft.com/office/drawing/2014/main" id="{6233EDCC-B614-CB92-4F89-CAD481C577DD}"/>
              </a:ext>
            </a:extLst>
          </p:cNvPr>
          <p:cNvSpPr txBox="1"/>
          <p:nvPr/>
        </p:nvSpPr>
        <p:spPr>
          <a:xfrm>
            <a:off x="8275058" y="1820606"/>
            <a:ext cx="1673150" cy="369332"/>
          </a:xfrm>
          <a:prstGeom prst="rect">
            <a:avLst/>
          </a:prstGeom>
          <a:noFill/>
        </p:spPr>
        <p:txBody>
          <a:bodyPr wrap="none" rtlCol="0">
            <a:spAutoFit/>
          </a:bodyPr>
          <a:lstStyle/>
          <a:p>
            <a:r>
              <a:rPr lang="en-US" dirty="0"/>
              <a:t>Years in school</a:t>
            </a:r>
          </a:p>
        </p:txBody>
      </p:sp>
      <p:sp>
        <p:nvSpPr>
          <p:cNvPr id="46" name="TextBox 45">
            <a:extLst>
              <a:ext uri="{FF2B5EF4-FFF2-40B4-BE49-F238E27FC236}">
                <a16:creationId xmlns:a16="http://schemas.microsoft.com/office/drawing/2014/main" id="{8B0ACA21-728B-7EE2-A595-AA10319AFF71}"/>
              </a:ext>
            </a:extLst>
          </p:cNvPr>
          <p:cNvSpPr txBox="1"/>
          <p:nvPr/>
        </p:nvSpPr>
        <p:spPr>
          <a:xfrm>
            <a:off x="8089149" y="2179098"/>
            <a:ext cx="433132" cy="369332"/>
          </a:xfrm>
          <a:prstGeom prst="rect">
            <a:avLst/>
          </a:prstGeom>
          <a:noFill/>
        </p:spPr>
        <p:txBody>
          <a:bodyPr wrap="none" rtlCol="0">
            <a:spAutoFit/>
          </a:bodyPr>
          <a:lstStyle/>
          <a:p>
            <a:r>
              <a:rPr lang="en-US" dirty="0"/>
              <a:t>Y1</a:t>
            </a:r>
          </a:p>
        </p:txBody>
      </p:sp>
      <p:sp>
        <p:nvSpPr>
          <p:cNvPr id="47" name="TextBox 46">
            <a:extLst>
              <a:ext uri="{FF2B5EF4-FFF2-40B4-BE49-F238E27FC236}">
                <a16:creationId xmlns:a16="http://schemas.microsoft.com/office/drawing/2014/main" id="{B6846133-B172-CC3D-05AD-E0FE5401E288}"/>
              </a:ext>
            </a:extLst>
          </p:cNvPr>
          <p:cNvSpPr txBox="1"/>
          <p:nvPr/>
        </p:nvSpPr>
        <p:spPr>
          <a:xfrm>
            <a:off x="8803535" y="2166447"/>
            <a:ext cx="433132" cy="369332"/>
          </a:xfrm>
          <a:prstGeom prst="rect">
            <a:avLst/>
          </a:prstGeom>
          <a:noFill/>
        </p:spPr>
        <p:txBody>
          <a:bodyPr wrap="none" rtlCol="0">
            <a:spAutoFit/>
          </a:bodyPr>
          <a:lstStyle/>
          <a:p>
            <a:pPr algn="l"/>
            <a:r>
              <a:rPr lang="en-US" dirty="0"/>
              <a:t>Y2</a:t>
            </a:r>
          </a:p>
        </p:txBody>
      </p:sp>
      <p:sp>
        <p:nvSpPr>
          <p:cNvPr id="48" name="TextBox 47">
            <a:extLst>
              <a:ext uri="{FF2B5EF4-FFF2-40B4-BE49-F238E27FC236}">
                <a16:creationId xmlns:a16="http://schemas.microsoft.com/office/drawing/2014/main" id="{B90EEEFB-E96D-EC98-DE2F-0F4FAEE7B16A}"/>
              </a:ext>
            </a:extLst>
          </p:cNvPr>
          <p:cNvSpPr txBox="1"/>
          <p:nvPr/>
        </p:nvSpPr>
        <p:spPr>
          <a:xfrm>
            <a:off x="9555825" y="2155607"/>
            <a:ext cx="433132" cy="369332"/>
          </a:xfrm>
          <a:prstGeom prst="rect">
            <a:avLst/>
          </a:prstGeom>
          <a:noFill/>
        </p:spPr>
        <p:txBody>
          <a:bodyPr wrap="none" rtlCol="0">
            <a:spAutoFit/>
          </a:bodyPr>
          <a:lstStyle/>
          <a:p>
            <a:pPr algn="l"/>
            <a:r>
              <a:rPr lang="en-US" dirty="0"/>
              <a:t>Y3</a:t>
            </a:r>
          </a:p>
        </p:txBody>
      </p:sp>
      <p:sp>
        <p:nvSpPr>
          <p:cNvPr id="49" name="TextBox 48">
            <a:extLst>
              <a:ext uri="{FF2B5EF4-FFF2-40B4-BE49-F238E27FC236}">
                <a16:creationId xmlns:a16="http://schemas.microsoft.com/office/drawing/2014/main" id="{9170F755-D1E1-EC6A-E76C-E37157B7F694}"/>
              </a:ext>
            </a:extLst>
          </p:cNvPr>
          <p:cNvSpPr txBox="1"/>
          <p:nvPr/>
        </p:nvSpPr>
        <p:spPr>
          <a:xfrm>
            <a:off x="10392400" y="2166447"/>
            <a:ext cx="433132" cy="369332"/>
          </a:xfrm>
          <a:prstGeom prst="rect">
            <a:avLst/>
          </a:prstGeom>
          <a:noFill/>
        </p:spPr>
        <p:txBody>
          <a:bodyPr wrap="none" rtlCol="0">
            <a:spAutoFit/>
          </a:bodyPr>
          <a:lstStyle/>
          <a:p>
            <a:pPr algn="l"/>
            <a:r>
              <a:rPr lang="en-US" dirty="0"/>
              <a:t>Y4</a:t>
            </a:r>
          </a:p>
        </p:txBody>
      </p:sp>
      <p:sp>
        <p:nvSpPr>
          <p:cNvPr id="50" name="TextBox 49">
            <a:extLst>
              <a:ext uri="{FF2B5EF4-FFF2-40B4-BE49-F238E27FC236}">
                <a16:creationId xmlns:a16="http://schemas.microsoft.com/office/drawing/2014/main" id="{898B58BF-6D82-0F25-6C0B-6B7110E634BE}"/>
              </a:ext>
            </a:extLst>
          </p:cNvPr>
          <p:cNvSpPr txBox="1"/>
          <p:nvPr/>
        </p:nvSpPr>
        <p:spPr>
          <a:xfrm>
            <a:off x="7964716" y="2572273"/>
            <a:ext cx="620683" cy="369332"/>
          </a:xfrm>
          <a:prstGeom prst="rect">
            <a:avLst/>
          </a:prstGeom>
          <a:noFill/>
        </p:spPr>
        <p:txBody>
          <a:bodyPr wrap="none" rtlCol="0">
            <a:spAutoFit/>
          </a:bodyPr>
          <a:lstStyle/>
          <a:p>
            <a:pPr algn="l"/>
            <a:r>
              <a:rPr lang="en-US" dirty="0"/>
              <a:t>0.12</a:t>
            </a:r>
          </a:p>
        </p:txBody>
      </p:sp>
      <p:sp>
        <p:nvSpPr>
          <p:cNvPr id="51" name="TextBox 50">
            <a:extLst>
              <a:ext uri="{FF2B5EF4-FFF2-40B4-BE49-F238E27FC236}">
                <a16:creationId xmlns:a16="http://schemas.microsoft.com/office/drawing/2014/main" id="{26C512CC-A27A-F2B7-D9BE-96CE993DC84B}"/>
              </a:ext>
            </a:extLst>
          </p:cNvPr>
          <p:cNvSpPr txBox="1"/>
          <p:nvPr/>
        </p:nvSpPr>
        <p:spPr>
          <a:xfrm>
            <a:off x="8753670" y="2568690"/>
            <a:ext cx="620683" cy="369332"/>
          </a:xfrm>
          <a:prstGeom prst="rect">
            <a:avLst/>
          </a:prstGeom>
          <a:noFill/>
        </p:spPr>
        <p:txBody>
          <a:bodyPr wrap="none" rtlCol="0">
            <a:spAutoFit/>
          </a:bodyPr>
          <a:lstStyle/>
          <a:p>
            <a:pPr algn="l"/>
            <a:r>
              <a:rPr lang="en-US" dirty="0"/>
              <a:t>0.08</a:t>
            </a:r>
          </a:p>
        </p:txBody>
      </p:sp>
      <p:sp>
        <p:nvSpPr>
          <p:cNvPr id="52" name="TextBox 51">
            <a:extLst>
              <a:ext uri="{FF2B5EF4-FFF2-40B4-BE49-F238E27FC236}">
                <a16:creationId xmlns:a16="http://schemas.microsoft.com/office/drawing/2014/main" id="{32CCD5DA-DC36-2E95-B434-C57A20802F92}"/>
              </a:ext>
            </a:extLst>
          </p:cNvPr>
          <p:cNvSpPr txBox="1"/>
          <p:nvPr/>
        </p:nvSpPr>
        <p:spPr>
          <a:xfrm>
            <a:off x="9532240" y="2568690"/>
            <a:ext cx="620683" cy="369332"/>
          </a:xfrm>
          <a:prstGeom prst="rect">
            <a:avLst/>
          </a:prstGeom>
          <a:noFill/>
        </p:spPr>
        <p:txBody>
          <a:bodyPr wrap="none" rtlCol="0">
            <a:spAutoFit/>
          </a:bodyPr>
          <a:lstStyle/>
          <a:p>
            <a:pPr algn="l"/>
            <a:r>
              <a:rPr lang="en-US" dirty="0"/>
              <a:t>0.13</a:t>
            </a:r>
          </a:p>
        </p:txBody>
      </p:sp>
      <p:sp>
        <p:nvSpPr>
          <p:cNvPr id="53" name="TextBox 52">
            <a:extLst>
              <a:ext uri="{FF2B5EF4-FFF2-40B4-BE49-F238E27FC236}">
                <a16:creationId xmlns:a16="http://schemas.microsoft.com/office/drawing/2014/main" id="{66A843EC-EF21-4068-ABAD-777729798E07}"/>
              </a:ext>
            </a:extLst>
          </p:cNvPr>
          <p:cNvSpPr txBox="1"/>
          <p:nvPr/>
        </p:nvSpPr>
        <p:spPr>
          <a:xfrm>
            <a:off x="10310810" y="2568690"/>
            <a:ext cx="620683" cy="369332"/>
          </a:xfrm>
          <a:prstGeom prst="rect">
            <a:avLst/>
          </a:prstGeom>
          <a:noFill/>
        </p:spPr>
        <p:txBody>
          <a:bodyPr wrap="none" rtlCol="0">
            <a:spAutoFit/>
          </a:bodyPr>
          <a:lstStyle/>
          <a:p>
            <a:pPr algn="l"/>
            <a:r>
              <a:rPr lang="en-US" dirty="0"/>
              <a:t>0.03</a:t>
            </a:r>
          </a:p>
        </p:txBody>
      </p:sp>
      <p:sp>
        <p:nvSpPr>
          <p:cNvPr id="54" name="TextBox 53">
            <a:extLst>
              <a:ext uri="{FF2B5EF4-FFF2-40B4-BE49-F238E27FC236}">
                <a16:creationId xmlns:a16="http://schemas.microsoft.com/office/drawing/2014/main" id="{FD34ED5F-09FE-BEF8-FAA6-A0F11643E288}"/>
              </a:ext>
            </a:extLst>
          </p:cNvPr>
          <p:cNvSpPr txBox="1"/>
          <p:nvPr/>
        </p:nvSpPr>
        <p:spPr>
          <a:xfrm>
            <a:off x="425394" y="4608536"/>
            <a:ext cx="5587631" cy="1754326"/>
          </a:xfrm>
          <a:prstGeom prst="rect">
            <a:avLst/>
          </a:prstGeom>
          <a:noFill/>
        </p:spPr>
        <p:txBody>
          <a:bodyPr wrap="square" rtlCol="0">
            <a:spAutoFit/>
          </a:bodyPr>
          <a:lstStyle/>
          <a:p>
            <a:pPr algn="l"/>
            <a:r>
              <a:rPr lang="en-US" dirty="0"/>
              <a:t>In my class, I have 120 students. Each one has 1,2,3 or 4 years of school, and their grade is A,B,C or D. What is joint probability of grades and years of school?</a:t>
            </a:r>
          </a:p>
          <a:p>
            <a:pPr algn="l"/>
            <a:endParaRPr lang="en-US" dirty="0"/>
          </a:p>
          <a:p>
            <a:pPr algn="l"/>
            <a:r>
              <a:rPr lang="en-US" dirty="0"/>
              <a:t>Construction: enumerate sample space &amp; count # of samples in each matrix entry; divide by sample size.</a:t>
            </a:r>
          </a:p>
        </p:txBody>
      </p:sp>
      <p:graphicFrame>
        <p:nvGraphicFramePr>
          <p:cNvPr id="56" name="Table 55">
            <a:extLst>
              <a:ext uri="{FF2B5EF4-FFF2-40B4-BE49-F238E27FC236}">
                <a16:creationId xmlns:a16="http://schemas.microsoft.com/office/drawing/2014/main" id="{E19AD766-1E2C-8A6D-281C-ACA37994ABD7}"/>
              </a:ext>
            </a:extLst>
          </p:cNvPr>
          <p:cNvGraphicFramePr>
            <a:graphicFrameLocks noGrp="1"/>
          </p:cNvGraphicFramePr>
          <p:nvPr>
            <p:extLst>
              <p:ext uri="{D42A27DB-BD31-4B8C-83A1-F6EECF244321}">
                <p14:modId xmlns:p14="http://schemas.microsoft.com/office/powerpoint/2010/main" val="533686747"/>
              </p:ext>
            </p:extLst>
          </p:nvPr>
        </p:nvGraphicFramePr>
        <p:xfrm>
          <a:off x="1780659" y="2492775"/>
          <a:ext cx="1397160" cy="1854200"/>
        </p:xfrm>
        <a:graphic>
          <a:graphicData uri="http://schemas.openxmlformats.org/drawingml/2006/table">
            <a:tbl>
              <a:tblPr>
                <a:tableStyleId>{2D5ABB26-0587-4C30-8999-92F81FD0307C}</a:tableStyleId>
              </a:tblPr>
              <a:tblGrid>
                <a:gridCol w="698580">
                  <a:extLst>
                    <a:ext uri="{9D8B030D-6E8A-4147-A177-3AD203B41FA5}">
                      <a16:colId xmlns:a16="http://schemas.microsoft.com/office/drawing/2014/main" val="3309997760"/>
                    </a:ext>
                  </a:extLst>
                </a:gridCol>
                <a:gridCol w="698580">
                  <a:extLst>
                    <a:ext uri="{9D8B030D-6E8A-4147-A177-3AD203B41FA5}">
                      <a16:colId xmlns:a16="http://schemas.microsoft.com/office/drawing/2014/main" val="4050647756"/>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694614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964186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787861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949033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1954101"/>
                  </a:ext>
                </a:extLst>
              </a:tr>
            </a:tbl>
          </a:graphicData>
        </a:graphic>
      </p:graphicFrame>
      <p:sp>
        <p:nvSpPr>
          <p:cNvPr id="57" name="TextBox 56">
            <a:extLst>
              <a:ext uri="{FF2B5EF4-FFF2-40B4-BE49-F238E27FC236}">
                <a16:creationId xmlns:a16="http://schemas.microsoft.com/office/drawing/2014/main" id="{88B6A9E4-E972-D322-6C6A-8D5E763FBA46}"/>
              </a:ext>
            </a:extLst>
          </p:cNvPr>
          <p:cNvSpPr txBox="1"/>
          <p:nvPr/>
        </p:nvSpPr>
        <p:spPr>
          <a:xfrm>
            <a:off x="1252182" y="2506455"/>
            <a:ext cx="437940" cy="369332"/>
          </a:xfrm>
          <a:prstGeom prst="rect">
            <a:avLst/>
          </a:prstGeom>
          <a:noFill/>
        </p:spPr>
        <p:txBody>
          <a:bodyPr wrap="none" rtlCol="0">
            <a:spAutoFit/>
          </a:bodyPr>
          <a:lstStyle/>
          <a:p>
            <a:pPr algn="l"/>
            <a:r>
              <a:rPr lang="en-US" dirty="0"/>
              <a:t>S1</a:t>
            </a:r>
          </a:p>
        </p:txBody>
      </p:sp>
      <p:sp>
        <p:nvSpPr>
          <p:cNvPr id="58" name="TextBox 57">
            <a:extLst>
              <a:ext uri="{FF2B5EF4-FFF2-40B4-BE49-F238E27FC236}">
                <a16:creationId xmlns:a16="http://schemas.microsoft.com/office/drawing/2014/main" id="{64DFC67F-8A8F-BD01-0EA0-95806BB91E74}"/>
              </a:ext>
            </a:extLst>
          </p:cNvPr>
          <p:cNvSpPr txBox="1"/>
          <p:nvPr/>
        </p:nvSpPr>
        <p:spPr>
          <a:xfrm>
            <a:off x="1954490" y="2502075"/>
            <a:ext cx="320922" cy="369332"/>
          </a:xfrm>
          <a:prstGeom prst="rect">
            <a:avLst/>
          </a:prstGeom>
          <a:noFill/>
        </p:spPr>
        <p:txBody>
          <a:bodyPr wrap="none" rtlCol="0">
            <a:spAutoFit/>
          </a:bodyPr>
          <a:lstStyle/>
          <a:p>
            <a:pPr algn="l"/>
            <a:r>
              <a:rPr lang="en-US" dirty="0"/>
              <a:t>A</a:t>
            </a:r>
          </a:p>
        </p:txBody>
      </p:sp>
      <p:sp>
        <p:nvSpPr>
          <p:cNvPr id="59" name="TextBox 58">
            <a:extLst>
              <a:ext uri="{FF2B5EF4-FFF2-40B4-BE49-F238E27FC236}">
                <a16:creationId xmlns:a16="http://schemas.microsoft.com/office/drawing/2014/main" id="{7E03E584-3B87-2E7B-B26C-4D250F51C17D}"/>
              </a:ext>
            </a:extLst>
          </p:cNvPr>
          <p:cNvSpPr txBox="1"/>
          <p:nvPr/>
        </p:nvSpPr>
        <p:spPr>
          <a:xfrm>
            <a:off x="2621095" y="2494915"/>
            <a:ext cx="308098" cy="369332"/>
          </a:xfrm>
          <a:prstGeom prst="rect">
            <a:avLst/>
          </a:prstGeom>
          <a:noFill/>
        </p:spPr>
        <p:txBody>
          <a:bodyPr wrap="none" rtlCol="0">
            <a:spAutoFit/>
          </a:bodyPr>
          <a:lstStyle/>
          <a:p>
            <a:pPr algn="l"/>
            <a:r>
              <a:rPr lang="en-US" dirty="0"/>
              <a:t>3</a:t>
            </a:r>
          </a:p>
        </p:txBody>
      </p:sp>
      <p:sp>
        <p:nvSpPr>
          <p:cNvPr id="60" name="TextBox 59">
            <a:extLst>
              <a:ext uri="{FF2B5EF4-FFF2-40B4-BE49-F238E27FC236}">
                <a16:creationId xmlns:a16="http://schemas.microsoft.com/office/drawing/2014/main" id="{768C1041-D998-B04F-F34A-198F05B90D7D}"/>
              </a:ext>
            </a:extLst>
          </p:cNvPr>
          <p:cNvSpPr txBox="1"/>
          <p:nvPr/>
        </p:nvSpPr>
        <p:spPr>
          <a:xfrm>
            <a:off x="1235814" y="2877852"/>
            <a:ext cx="437940" cy="369332"/>
          </a:xfrm>
          <a:prstGeom prst="rect">
            <a:avLst/>
          </a:prstGeom>
          <a:noFill/>
        </p:spPr>
        <p:txBody>
          <a:bodyPr wrap="none" rtlCol="0">
            <a:spAutoFit/>
          </a:bodyPr>
          <a:lstStyle/>
          <a:p>
            <a:pPr algn="l"/>
            <a:r>
              <a:rPr lang="en-US" dirty="0"/>
              <a:t>S2</a:t>
            </a:r>
          </a:p>
        </p:txBody>
      </p:sp>
      <p:sp>
        <p:nvSpPr>
          <p:cNvPr id="61" name="TextBox 60">
            <a:extLst>
              <a:ext uri="{FF2B5EF4-FFF2-40B4-BE49-F238E27FC236}">
                <a16:creationId xmlns:a16="http://schemas.microsoft.com/office/drawing/2014/main" id="{40A46876-CE40-6662-B191-96FF23B44DD3}"/>
              </a:ext>
            </a:extLst>
          </p:cNvPr>
          <p:cNvSpPr txBox="1"/>
          <p:nvPr/>
        </p:nvSpPr>
        <p:spPr>
          <a:xfrm>
            <a:off x="1957123" y="2864247"/>
            <a:ext cx="324128" cy="369332"/>
          </a:xfrm>
          <a:prstGeom prst="rect">
            <a:avLst/>
          </a:prstGeom>
          <a:noFill/>
        </p:spPr>
        <p:txBody>
          <a:bodyPr wrap="none" rtlCol="0">
            <a:spAutoFit/>
          </a:bodyPr>
          <a:lstStyle/>
          <a:p>
            <a:pPr algn="l"/>
            <a:r>
              <a:rPr lang="en-US" dirty="0"/>
              <a:t>B</a:t>
            </a:r>
          </a:p>
        </p:txBody>
      </p:sp>
      <p:sp>
        <p:nvSpPr>
          <p:cNvPr id="62" name="TextBox 61">
            <a:extLst>
              <a:ext uri="{FF2B5EF4-FFF2-40B4-BE49-F238E27FC236}">
                <a16:creationId xmlns:a16="http://schemas.microsoft.com/office/drawing/2014/main" id="{70E7850D-3ACD-9A75-46A7-921A9B711898}"/>
              </a:ext>
            </a:extLst>
          </p:cNvPr>
          <p:cNvSpPr txBox="1"/>
          <p:nvPr/>
        </p:nvSpPr>
        <p:spPr>
          <a:xfrm>
            <a:off x="2652955" y="2849306"/>
            <a:ext cx="308098" cy="369332"/>
          </a:xfrm>
          <a:prstGeom prst="rect">
            <a:avLst/>
          </a:prstGeom>
          <a:noFill/>
        </p:spPr>
        <p:txBody>
          <a:bodyPr wrap="none" rtlCol="0">
            <a:spAutoFit/>
          </a:bodyPr>
          <a:lstStyle/>
          <a:p>
            <a:pPr algn="l"/>
            <a:r>
              <a:rPr lang="en-US" dirty="0"/>
              <a:t>2</a:t>
            </a:r>
          </a:p>
        </p:txBody>
      </p:sp>
      <p:sp>
        <p:nvSpPr>
          <p:cNvPr id="63" name="TextBox 62">
            <a:extLst>
              <a:ext uri="{FF2B5EF4-FFF2-40B4-BE49-F238E27FC236}">
                <a16:creationId xmlns:a16="http://schemas.microsoft.com/office/drawing/2014/main" id="{D7557307-3550-14E8-62FF-70716CFB44F7}"/>
              </a:ext>
            </a:extLst>
          </p:cNvPr>
          <p:cNvSpPr txBox="1"/>
          <p:nvPr/>
        </p:nvSpPr>
        <p:spPr>
          <a:xfrm>
            <a:off x="1246865" y="3318576"/>
            <a:ext cx="437940" cy="369332"/>
          </a:xfrm>
          <a:prstGeom prst="rect">
            <a:avLst/>
          </a:prstGeom>
          <a:noFill/>
        </p:spPr>
        <p:txBody>
          <a:bodyPr wrap="none" rtlCol="0">
            <a:spAutoFit/>
          </a:bodyPr>
          <a:lstStyle/>
          <a:p>
            <a:pPr algn="l"/>
            <a:r>
              <a:rPr lang="en-US" dirty="0"/>
              <a:t>S3</a:t>
            </a:r>
          </a:p>
        </p:txBody>
      </p:sp>
      <p:sp>
        <p:nvSpPr>
          <p:cNvPr id="64" name="TextBox 63">
            <a:extLst>
              <a:ext uri="{FF2B5EF4-FFF2-40B4-BE49-F238E27FC236}">
                <a16:creationId xmlns:a16="http://schemas.microsoft.com/office/drawing/2014/main" id="{F5A5A6FD-944C-BF76-B484-2CD63E54173B}"/>
              </a:ext>
            </a:extLst>
          </p:cNvPr>
          <p:cNvSpPr txBox="1"/>
          <p:nvPr/>
        </p:nvSpPr>
        <p:spPr>
          <a:xfrm>
            <a:off x="1949117" y="3247019"/>
            <a:ext cx="320922" cy="369332"/>
          </a:xfrm>
          <a:prstGeom prst="rect">
            <a:avLst/>
          </a:prstGeom>
          <a:noFill/>
        </p:spPr>
        <p:txBody>
          <a:bodyPr wrap="none" rtlCol="0">
            <a:spAutoFit/>
          </a:bodyPr>
          <a:lstStyle/>
          <a:p>
            <a:pPr algn="l"/>
            <a:r>
              <a:rPr lang="en-US" dirty="0"/>
              <a:t>A</a:t>
            </a:r>
          </a:p>
        </p:txBody>
      </p:sp>
      <p:sp>
        <p:nvSpPr>
          <p:cNvPr id="65" name="TextBox 64">
            <a:extLst>
              <a:ext uri="{FF2B5EF4-FFF2-40B4-BE49-F238E27FC236}">
                <a16:creationId xmlns:a16="http://schemas.microsoft.com/office/drawing/2014/main" id="{DEB54932-314D-8C2A-348B-B79F3F4A14B4}"/>
              </a:ext>
            </a:extLst>
          </p:cNvPr>
          <p:cNvSpPr txBox="1"/>
          <p:nvPr/>
        </p:nvSpPr>
        <p:spPr>
          <a:xfrm>
            <a:off x="2615722" y="3239859"/>
            <a:ext cx="354584" cy="369332"/>
          </a:xfrm>
          <a:prstGeom prst="rect">
            <a:avLst/>
          </a:prstGeom>
          <a:noFill/>
        </p:spPr>
        <p:txBody>
          <a:bodyPr wrap="none" rtlCol="0">
            <a:spAutoFit/>
          </a:bodyPr>
          <a:lstStyle/>
          <a:p>
            <a:pPr algn="l"/>
            <a:r>
              <a:rPr lang="en-US" dirty="0"/>
              <a:t> 3</a:t>
            </a:r>
          </a:p>
        </p:txBody>
      </p:sp>
      <p:sp>
        <p:nvSpPr>
          <p:cNvPr id="67" name="TextBox 66">
            <a:extLst>
              <a:ext uri="{FF2B5EF4-FFF2-40B4-BE49-F238E27FC236}">
                <a16:creationId xmlns:a16="http://schemas.microsoft.com/office/drawing/2014/main" id="{0DA5A352-5817-13C2-1302-F21D45076DDC}"/>
              </a:ext>
            </a:extLst>
          </p:cNvPr>
          <p:cNvSpPr txBox="1"/>
          <p:nvPr/>
        </p:nvSpPr>
        <p:spPr>
          <a:xfrm>
            <a:off x="1925072" y="3574864"/>
            <a:ext cx="381836" cy="369332"/>
          </a:xfrm>
          <a:prstGeom prst="rect">
            <a:avLst/>
          </a:prstGeom>
          <a:noFill/>
        </p:spPr>
        <p:txBody>
          <a:bodyPr wrap="none" rtlCol="0">
            <a:spAutoFit/>
          </a:bodyPr>
          <a:lstStyle/>
          <a:p>
            <a:pPr algn="l"/>
            <a:r>
              <a:rPr lang="en-US" dirty="0"/>
              <a:t>…</a:t>
            </a:r>
          </a:p>
        </p:txBody>
      </p:sp>
      <p:sp>
        <p:nvSpPr>
          <p:cNvPr id="68" name="TextBox 67">
            <a:extLst>
              <a:ext uri="{FF2B5EF4-FFF2-40B4-BE49-F238E27FC236}">
                <a16:creationId xmlns:a16="http://schemas.microsoft.com/office/drawing/2014/main" id="{69B97619-B4EE-5F0E-D611-BCD3D5512B2A}"/>
              </a:ext>
            </a:extLst>
          </p:cNvPr>
          <p:cNvSpPr txBox="1"/>
          <p:nvPr/>
        </p:nvSpPr>
        <p:spPr>
          <a:xfrm>
            <a:off x="2659724" y="3561637"/>
            <a:ext cx="381836" cy="369332"/>
          </a:xfrm>
          <a:prstGeom prst="rect">
            <a:avLst/>
          </a:prstGeom>
          <a:noFill/>
        </p:spPr>
        <p:txBody>
          <a:bodyPr wrap="none" rtlCol="0">
            <a:spAutoFit/>
          </a:bodyPr>
          <a:lstStyle/>
          <a:p>
            <a:pPr algn="l"/>
            <a:r>
              <a:rPr lang="en-US" dirty="0"/>
              <a:t>…</a:t>
            </a:r>
          </a:p>
        </p:txBody>
      </p:sp>
      <p:sp>
        <p:nvSpPr>
          <p:cNvPr id="69" name="TextBox 68">
            <a:extLst>
              <a:ext uri="{FF2B5EF4-FFF2-40B4-BE49-F238E27FC236}">
                <a16:creationId xmlns:a16="http://schemas.microsoft.com/office/drawing/2014/main" id="{AC8A259C-8EEC-75F0-B506-C939B08C0B4E}"/>
              </a:ext>
            </a:extLst>
          </p:cNvPr>
          <p:cNvSpPr txBox="1"/>
          <p:nvPr/>
        </p:nvSpPr>
        <p:spPr>
          <a:xfrm>
            <a:off x="1918660" y="3941403"/>
            <a:ext cx="381836" cy="369332"/>
          </a:xfrm>
          <a:prstGeom prst="rect">
            <a:avLst/>
          </a:prstGeom>
          <a:noFill/>
        </p:spPr>
        <p:txBody>
          <a:bodyPr wrap="none" rtlCol="0">
            <a:spAutoFit/>
          </a:bodyPr>
          <a:lstStyle/>
          <a:p>
            <a:pPr algn="l"/>
            <a:r>
              <a:rPr lang="en-US" dirty="0"/>
              <a:t>…</a:t>
            </a:r>
          </a:p>
        </p:txBody>
      </p:sp>
      <p:sp>
        <p:nvSpPr>
          <p:cNvPr id="70" name="TextBox 69">
            <a:extLst>
              <a:ext uri="{FF2B5EF4-FFF2-40B4-BE49-F238E27FC236}">
                <a16:creationId xmlns:a16="http://schemas.microsoft.com/office/drawing/2014/main" id="{F0181267-A414-6841-E63F-355059B16EBD}"/>
              </a:ext>
            </a:extLst>
          </p:cNvPr>
          <p:cNvSpPr txBox="1"/>
          <p:nvPr/>
        </p:nvSpPr>
        <p:spPr>
          <a:xfrm>
            <a:off x="2650360" y="3901458"/>
            <a:ext cx="381836" cy="369332"/>
          </a:xfrm>
          <a:prstGeom prst="rect">
            <a:avLst/>
          </a:prstGeom>
          <a:noFill/>
        </p:spPr>
        <p:txBody>
          <a:bodyPr wrap="none" rtlCol="0">
            <a:spAutoFit/>
          </a:bodyPr>
          <a:lstStyle/>
          <a:p>
            <a:pPr algn="l"/>
            <a:r>
              <a:rPr lang="en-US" dirty="0"/>
              <a:t>…</a:t>
            </a:r>
          </a:p>
        </p:txBody>
      </p:sp>
      <p:sp>
        <p:nvSpPr>
          <p:cNvPr id="71" name="TextBox 70">
            <a:extLst>
              <a:ext uri="{FF2B5EF4-FFF2-40B4-BE49-F238E27FC236}">
                <a16:creationId xmlns:a16="http://schemas.microsoft.com/office/drawing/2014/main" id="{ABB6CE35-6F3C-9E14-BD98-2C8DB06E0E07}"/>
              </a:ext>
            </a:extLst>
          </p:cNvPr>
          <p:cNvSpPr txBox="1"/>
          <p:nvPr/>
        </p:nvSpPr>
        <p:spPr>
          <a:xfrm>
            <a:off x="1924945" y="4370166"/>
            <a:ext cx="381836" cy="369332"/>
          </a:xfrm>
          <a:prstGeom prst="rect">
            <a:avLst/>
          </a:prstGeom>
          <a:noFill/>
        </p:spPr>
        <p:txBody>
          <a:bodyPr wrap="none" rtlCol="0">
            <a:spAutoFit/>
          </a:bodyPr>
          <a:lstStyle/>
          <a:p>
            <a:pPr algn="l"/>
            <a:r>
              <a:rPr lang="en-US" dirty="0"/>
              <a:t>…</a:t>
            </a:r>
          </a:p>
        </p:txBody>
      </p:sp>
      <p:sp>
        <p:nvSpPr>
          <p:cNvPr id="72" name="TextBox 71">
            <a:extLst>
              <a:ext uri="{FF2B5EF4-FFF2-40B4-BE49-F238E27FC236}">
                <a16:creationId xmlns:a16="http://schemas.microsoft.com/office/drawing/2014/main" id="{1ADA7B20-4A8B-75C6-72DF-9248A19228B8}"/>
              </a:ext>
            </a:extLst>
          </p:cNvPr>
          <p:cNvSpPr txBox="1"/>
          <p:nvPr/>
        </p:nvSpPr>
        <p:spPr>
          <a:xfrm>
            <a:off x="2656645" y="4330221"/>
            <a:ext cx="381836" cy="369332"/>
          </a:xfrm>
          <a:prstGeom prst="rect">
            <a:avLst/>
          </a:prstGeom>
          <a:noFill/>
        </p:spPr>
        <p:txBody>
          <a:bodyPr wrap="none" rtlCol="0">
            <a:spAutoFit/>
          </a:bodyPr>
          <a:lstStyle/>
          <a:p>
            <a:pPr algn="l"/>
            <a:r>
              <a:rPr lang="en-US" dirty="0"/>
              <a:t>…</a:t>
            </a:r>
          </a:p>
        </p:txBody>
      </p:sp>
      <p:sp>
        <p:nvSpPr>
          <p:cNvPr id="73" name="TextBox 72">
            <a:extLst>
              <a:ext uri="{FF2B5EF4-FFF2-40B4-BE49-F238E27FC236}">
                <a16:creationId xmlns:a16="http://schemas.microsoft.com/office/drawing/2014/main" id="{0D323C82-5C47-1D18-B60F-C9E9E78343A8}"/>
              </a:ext>
            </a:extLst>
          </p:cNvPr>
          <p:cNvSpPr txBox="1"/>
          <p:nvPr/>
        </p:nvSpPr>
        <p:spPr>
          <a:xfrm>
            <a:off x="1281210" y="3584569"/>
            <a:ext cx="381836" cy="369332"/>
          </a:xfrm>
          <a:prstGeom prst="rect">
            <a:avLst/>
          </a:prstGeom>
          <a:noFill/>
        </p:spPr>
        <p:txBody>
          <a:bodyPr wrap="none" rtlCol="0">
            <a:spAutoFit/>
          </a:bodyPr>
          <a:lstStyle/>
          <a:p>
            <a:pPr algn="l"/>
            <a:r>
              <a:rPr lang="en-US" dirty="0"/>
              <a:t>…</a:t>
            </a:r>
          </a:p>
        </p:txBody>
      </p:sp>
      <p:sp>
        <p:nvSpPr>
          <p:cNvPr id="74" name="TextBox 73">
            <a:extLst>
              <a:ext uri="{FF2B5EF4-FFF2-40B4-BE49-F238E27FC236}">
                <a16:creationId xmlns:a16="http://schemas.microsoft.com/office/drawing/2014/main" id="{29245211-4AF2-0A49-CAE5-CFE0FE6BCA3A}"/>
              </a:ext>
            </a:extLst>
          </p:cNvPr>
          <p:cNvSpPr txBox="1"/>
          <p:nvPr/>
        </p:nvSpPr>
        <p:spPr>
          <a:xfrm>
            <a:off x="1274917" y="3963556"/>
            <a:ext cx="381836" cy="369332"/>
          </a:xfrm>
          <a:prstGeom prst="rect">
            <a:avLst/>
          </a:prstGeom>
          <a:noFill/>
        </p:spPr>
        <p:txBody>
          <a:bodyPr wrap="none" rtlCol="0">
            <a:spAutoFit/>
          </a:bodyPr>
          <a:lstStyle/>
          <a:p>
            <a:pPr algn="l"/>
            <a:r>
              <a:rPr lang="en-US" dirty="0"/>
              <a:t>…</a:t>
            </a:r>
          </a:p>
        </p:txBody>
      </p:sp>
      <p:sp>
        <p:nvSpPr>
          <p:cNvPr id="75" name="TextBox 74">
            <a:extLst>
              <a:ext uri="{FF2B5EF4-FFF2-40B4-BE49-F238E27FC236}">
                <a16:creationId xmlns:a16="http://schemas.microsoft.com/office/drawing/2014/main" id="{9F9EE8B4-FDC9-B0E8-4F11-DCD02DD6D83B}"/>
              </a:ext>
            </a:extLst>
          </p:cNvPr>
          <p:cNvSpPr txBox="1"/>
          <p:nvPr/>
        </p:nvSpPr>
        <p:spPr>
          <a:xfrm>
            <a:off x="1712172" y="2085413"/>
            <a:ext cx="793359" cy="369332"/>
          </a:xfrm>
          <a:prstGeom prst="rect">
            <a:avLst/>
          </a:prstGeom>
          <a:noFill/>
        </p:spPr>
        <p:txBody>
          <a:bodyPr wrap="none" rtlCol="0">
            <a:spAutoFit/>
          </a:bodyPr>
          <a:lstStyle/>
          <a:p>
            <a:pPr algn="l"/>
            <a:r>
              <a:rPr lang="en-US" dirty="0"/>
              <a:t>Grade</a:t>
            </a:r>
          </a:p>
        </p:txBody>
      </p:sp>
      <p:sp>
        <p:nvSpPr>
          <p:cNvPr id="76" name="TextBox 75">
            <a:extLst>
              <a:ext uri="{FF2B5EF4-FFF2-40B4-BE49-F238E27FC236}">
                <a16:creationId xmlns:a16="http://schemas.microsoft.com/office/drawing/2014/main" id="{E7859D8E-0BD0-E663-6E90-8F987B2AD856}"/>
              </a:ext>
            </a:extLst>
          </p:cNvPr>
          <p:cNvSpPr txBox="1"/>
          <p:nvPr/>
        </p:nvSpPr>
        <p:spPr>
          <a:xfrm>
            <a:off x="2543681" y="2085413"/>
            <a:ext cx="490327" cy="369332"/>
          </a:xfrm>
          <a:prstGeom prst="rect">
            <a:avLst/>
          </a:prstGeom>
          <a:noFill/>
        </p:spPr>
        <p:txBody>
          <a:bodyPr wrap="none" rtlCol="0">
            <a:spAutoFit/>
          </a:bodyPr>
          <a:lstStyle/>
          <a:p>
            <a:pPr algn="l"/>
            <a:r>
              <a:rPr lang="en-US" dirty="0"/>
              <a:t>Yrs</a:t>
            </a:r>
          </a:p>
        </p:txBody>
      </p:sp>
      <p:sp>
        <p:nvSpPr>
          <p:cNvPr id="77" name="TextBox 76">
            <a:extLst>
              <a:ext uri="{FF2B5EF4-FFF2-40B4-BE49-F238E27FC236}">
                <a16:creationId xmlns:a16="http://schemas.microsoft.com/office/drawing/2014/main" id="{DFB14C83-A910-6946-B11A-E8225742A2E8}"/>
              </a:ext>
            </a:extLst>
          </p:cNvPr>
          <p:cNvSpPr txBox="1"/>
          <p:nvPr/>
        </p:nvSpPr>
        <p:spPr>
          <a:xfrm>
            <a:off x="11092625" y="2568690"/>
            <a:ext cx="620683" cy="369332"/>
          </a:xfrm>
          <a:prstGeom prst="rect">
            <a:avLst/>
          </a:prstGeom>
          <a:noFill/>
        </p:spPr>
        <p:txBody>
          <a:bodyPr wrap="none" rtlCol="0">
            <a:spAutoFit/>
          </a:bodyPr>
          <a:lstStyle/>
          <a:p>
            <a:pPr algn="l"/>
            <a:r>
              <a:rPr lang="en-US" dirty="0"/>
              <a:t>0.36</a:t>
            </a:r>
          </a:p>
        </p:txBody>
      </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8125C4E-F5F8-1FB9-252B-3415534DD411}"/>
                  </a:ext>
                </a:extLst>
              </p:cNvPr>
              <p:cNvSpPr txBox="1"/>
              <p:nvPr/>
            </p:nvSpPr>
            <p:spPr>
              <a:xfrm>
                <a:off x="7077337" y="5105311"/>
                <a:ext cx="4844596" cy="1043106"/>
              </a:xfrm>
              <a:prstGeom prst="rect">
                <a:avLst/>
              </a:prstGeom>
              <a:noFill/>
            </p:spPr>
            <p:txBody>
              <a:bodyPr wrap="none" rtlCol="0">
                <a:spAutoFit/>
              </a:bodyPr>
              <a:lstStyle/>
              <a:p>
                <a:r>
                  <a:rPr lang="en-US" sz="2000" dirty="0"/>
                  <a:t>Marginalization: since </a:t>
                </a:r>
                <a14:m>
                  <m:oMath xmlns:m="http://schemas.openxmlformats.org/officeDocument/2006/math">
                    <m:nary>
                      <m:naryPr>
                        <m:chr m:val="∑"/>
                        <m:ctrlPr>
                          <a:rPr lang="en-US" sz="2000" i="1">
                            <a:latin typeface="Cambria Math" panose="02040503050406030204" pitchFamily="18" charset="0"/>
                            <a:sym typeface="Symbol" panose="05050102010706020507" pitchFamily="18" charset="2"/>
                          </a:rPr>
                        </m:ctrlPr>
                      </m:naryPr>
                      <m:sub>
                        <m:r>
                          <m:rPr>
                            <m:sty m:val="p"/>
                            <m:brk m:alnAt="23"/>
                          </m:rPr>
                          <a:rPr lang="en-US" sz="2000">
                            <a:latin typeface="Cambria Math" panose="02040503050406030204" pitchFamily="18" charset="0"/>
                            <a:sym typeface="Symbol" panose="05050102010706020507" pitchFamily="18" charset="2"/>
                          </a:rPr>
                          <m:t>i</m:t>
                        </m:r>
                        <m:r>
                          <a:rPr lang="en-US" sz="2000">
                            <a:latin typeface="Cambria Math" panose="02040503050406030204" pitchFamily="18" charset="0"/>
                            <a:sym typeface="Symbol" panose="05050102010706020507" pitchFamily="18" charset="2"/>
                          </a:rPr>
                          <m:t>=1</m:t>
                        </m:r>
                      </m:sub>
                      <m:sup>
                        <m:r>
                          <a:rPr lang="en-US" sz="2000">
                            <a:latin typeface="Cambria Math" panose="02040503050406030204" pitchFamily="18" charset="0"/>
                            <a:sym typeface="Symbol" panose="05050102010706020507" pitchFamily="18" charset="2"/>
                          </a:rPr>
                          <m:t>4</m:t>
                        </m:r>
                      </m:sup>
                      <m:e>
                        <m:r>
                          <m:rPr>
                            <m:sty m:val="p"/>
                          </m:rPr>
                          <a:rPr lang="en-US" sz="2000">
                            <a:latin typeface="Cambria Math" panose="02040503050406030204" pitchFamily="18" charset="0"/>
                            <a:sym typeface="Symbol" panose="05050102010706020507" pitchFamily="18" charset="2"/>
                          </a:rPr>
                          <m:t>P</m:t>
                        </m:r>
                        <m:r>
                          <a:rPr lang="en-US" sz="2000">
                            <a:latin typeface="Cambria Math" panose="02040503050406030204" pitchFamily="18" charset="0"/>
                            <a:sym typeface="Symbol" panose="05050102010706020507" pitchFamily="18" charset="2"/>
                          </a:rPr>
                          <m:t>(</m:t>
                        </m:r>
                        <m:r>
                          <m:rPr>
                            <m:sty m:val="p"/>
                          </m:rPr>
                          <a:rPr lang="en-US" sz="2000">
                            <a:latin typeface="Cambria Math" panose="02040503050406030204" pitchFamily="18" charset="0"/>
                            <a:sym typeface="Symbol" panose="05050102010706020507" pitchFamily="18" charset="2"/>
                          </a:rPr>
                          <m:t>Yi</m:t>
                        </m:r>
                        <m:r>
                          <a:rPr lang="en-US" sz="2000">
                            <a:latin typeface="Cambria Math" panose="02040503050406030204" pitchFamily="18" charset="0"/>
                            <a:sym typeface="Symbol" panose="05050102010706020507" pitchFamily="18" charset="2"/>
                          </a:rPr>
                          <m:t>)</m:t>
                        </m:r>
                      </m:e>
                    </m:nary>
                  </m:oMath>
                </a14:m>
                <a:r>
                  <a:rPr lang="en-US" sz="2000" dirty="0"/>
                  <a:t> = 1</a:t>
                </a:r>
                <a:br>
                  <a:rPr lang="en-US" sz="2000" dirty="0"/>
                </a:br>
                <a:r>
                  <a:rPr lang="en-US" sz="2000" dirty="0"/>
                  <a:t>P(A)= P(A</a:t>
                </a:r>
                <a:r>
                  <a:rPr lang="en-US" sz="2000" dirty="0">
                    <a:sym typeface="Symbol" panose="05050102010706020507" pitchFamily="18" charset="2"/>
                  </a:rPr>
                  <a:t>Y1) + P(AY2)+P(AY3)+P(AY4)</a:t>
                </a:r>
              </a:p>
              <a:p>
                <a:pPr algn="l"/>
                <a:r>
                  <a:rPr lang="en-US" sz="2000" dirty="0">
                    <a:sym typeface="Symbol" panose="05050102010706020507" pitchFamily="18" charset="2"/>
                  </a:rPr>
                  <a:t>         = </a:t>
                </a:r>
                <a14:m>
                  <m:oMath xmlns:m="http://schemas.openxmlformats.org/officeDocument/2006/math">
                    <m:nary>
                      <m:naryPr>
                        <m:chr m:val="∑"/>
                        <m:ctrlPr>
                          <a:rPr lang="en-US" sz="2000" i="1" smtClean="0">
                            <a:latin typeface="Cambria Math" panose="02040503050406030204" pitchFamily="18" charset="0"/>
                            <a:sym typeface="Symbol" panose="05050102010706020507" pitchFamily="18" charset="2"/>
                          </a:rPr>
                        </m:ctrlPr>
                      </m:naryPr>
                      <m:sub>
                        <m:r>
                          <m:rPr>
                            <m:sty m:val="p"/>
                            <m:brk m:alnAt="23"/>
                          </m:rPr>
                          <a:rPr lang="en-US" sz="2000" b="0" i="0" smtClean="0">
                            <a:latin typeface="Cambria Math" panose="02040503050406030204" pitchFamily="18" charset="0"/>
                            <a:sym typeface="Symbol" panose="05050102010706020507" pitchFamily="18" charset="2"/>
                          </a:rPr>
                          <m:t>i</m:t>
                        </m:r>
                        <m:r>
                          <a:rPr lang="en-US" sz="2000" b="0" i="0" smtClean="0">
                            <a:latin typeface="Cambria Math" panose="02040503050406030204" pitchFamily="18" charset="0"/>
                            <a:sym typeface="Symbol" panose="05050102010706020507" pitchFamily="18" charset="2"/>
                          </a:rPr>
                          <m:t>=1</m:t>
                        </m:r>
                      </m:sub>
                      <m:sup>
                        <m:r>
                          <a:rPr lang="en-US" sz="2000" b="0" i="0" smtClean="0">
                            <a:latin typeface="Cambria Math" panose="02040503050406030204" pitchFamily="18" charset="0"/>
                            <a:sym typeface="Symbol" panose="05050102010706020507" pitchFamily="18" charset="2"/>
                          </a:rPr>
                          <m:t>4</m:t>
                        </m:r>
                      </m:sup>
                      <m:e>
                        <m:r>
                          <m:rPr>
                            <m:sty m:val="p"/>
                          </m:rPr>
                          <a:rPr lang="en-US" sz="2000" b="0" i="0" smtClean="0">
                            <a:latin typeface="Cambria Math" panose="02040503050406030204" pitchFamily="18" charset="0"/>
                            <a:sym typeface="Symbol" panose="05050102010706020507" pitchFamily="18" charset="2"/>
                          </a:rPr>
                          <m:t>P</m:t>
                        </m:r>
                        <m:r>
                          <a:rPr lang="en-US" sz="2000" b="0" i="0" smtClean="0">
                            <a:latin typeface="Cambria Math" panose="02040503050406030204" pitchFamily="18" charset="0"/>
                            <a:sym typeface="Symbol" panose="05050102010706020507" pitchFamily="18" charset="2"/>
                          </a:rPr>
                          <m:t>(</m:t>
                        </m:r>
                        <m:r>
                          <m:rPr>
                            <m:sty m:val="p"/>
                          </m:rPr>
                          <a:rPr lang="en-US" sz="2000" b="0" i="0" smtClean="0">
                            <a:latin typeface="Cambria Math" panose="02040503050406030204" pitchFamily="18" charset="0"/>
                            <a:sym typeface="Symbol" panose="05050102010706020507" pitchFamily="18" charset="2"/>
                          </a:rPr>
                          <m:t>A</m:t>
                        </m:r>
                        <m:r>
                          <a:rPr lang="en-US" sz="2000" b="0" i="0" smtClean="0">
                            <a:latin typeface="Cambria Math" panose="02040503050406030204" pitchFamily="18" charset="0"/>
                            <a:sym typeface="Symbol" panose="05050102010706020507" pitchFamily="18" charset="2"/>
                          </a:rPr>
                          <m:t>  </m:t>
                        </m:r>
                        <m:r>
                          <m:rPr>
                            <m:sty m:val="p"/>
                          </m:rPr>
                          <a:rPr lang="en-US" sz="2000" b="0" i="0" smtClean="0">
                            <a:latin typeface="Cambria Math" panose="02040503050406030204" pitchFamily="18" charset="0"/>
                            <a:sym typeface="Symbol" panose="05050102010706020507" pitchFamily="18" charset="2"/>
                          </a:rPr>
                          <m:t>Yi</m:t>
                        </m:r>
                        <m:r>
                          <a:rPr lang="en-US" sz="2000" b="0" i="0" smtClean="0">
                            <a:latin typeface="Cambria Math" panose="02040503050406030204" pitchFamily="18" charset="0"/>
                            <a:sym typeface="Symbol" panose="05050102010706020507" pitchFamily="18" charset="2"/>
                          </a:rPr>
                          <m:t>)</m:t>
                        </m:r>
                      </m:e>
                    </m:nary>
                  </m:oMath>
                </a14:m>
                <a:r>
                  <a:rPr lang="en-US" sz="2000" dirty="0">
                    <a:sym typeface="Symbol" panose="05050102010706020507" pitchFamily="18" charset="2"/>
                  </a:rPr>
                  <a:t> </a:t>
                </a:r>
                <a:endParaRPr lang="en-US" sz="2000" dirty="0"/>
              </a:p>
            </p:txBody>
          </p:sp>
        </mc:Choice>
        <mc:Fallback xmlns="">
          <p:sp>
            <p:nvSpPr>
              <p:cNvPr id="78" name="TextBox 77">
                <a:extLst>
                  <a:ext uri="{FF2B5EF4-FFF2-40B4-BE49-F238E27FC236}">
                    <a16:creationId xmlns:a16="http://schemas.microsoft.com/office/drawing/2014/main" id="{08125C4E-F5F8-1FB9-252B-3415534DD411}"/>
                  </a:ext>
                </a:extLst>
              </p:cNvPr>
              <p:cNvSpPr txBox="1">
                <a:spLocks noRot="1" noChangeAspect="1" noMove="1" noResize="1" noEditPoints="1" noAdjustHandles="1" noChangeArrowheads="1" noChangeShapeType="1" noTextEdit="1"/>
              </p:cNvSpPr>
              <p:nvPr/>
            </p:nvSpPr>
            <p:spPr>
              <a:xfrm>
                <a:off x="7077337" y="5105311"/>
                <a:ext cx="4844596" cy="1043106"/>
              </a:xfrm>
              <a:prstGeom prst="rect">
                <a:avLst/>
              </a:prstGeom>
              <a:blipFill>
                <a:blip r:embed="rId2"/>
                <a:stretch>
                  <a:fillRect l="-1384" t="-45930" r="-629" b="-68605"/>
                </a:stretch>
              </a:blipFill>
            </p:spPr>
            <p:txBody>
              <a:bodyPr/>
              <a:lstStyle/>
              <a:p>
                <a:r>
                  <a:rPr lang="en-US">
                    <a:noFill/>
                  </a:rPr>
                  <a:t> </a:t>
                </a:r>
              </a:p>
            </p:txBody>
          </p:sp>
        </mc:Fallback>
      </mc:AlternateContent>
      <p:sp>
        <p:nvSpPr>
          <p:cNvPr id="81" name="TextBox 80">
            <a:extLst>
              <a:ext uri="{FF2B5EF4-FFF2-40B4-BE49-F238E27FC236}">
                <a16:creationId xmlns:a16="http://schemas.microsoft.com/office/drawing/2014/main" id="{EB74CA24-E098-021C-B3D4-B9C8C1236C65}"/>
              </a:ext>
            </a:extLst>
          </p:cNvPr>
          <p:cNvSpPr txBox="1"/>
          <p:nvPr/>
        </p:nvSpPr>
        <p:spPr>
          <a:xfrm>
            <a:off x="10392400" y="2982910"/>
            <a:ext cx="381836" cy="369332"/>
          </a:xfrm>
          <a:prstGeom prst="rect">
            <a:avLst/>
          </a:prstGeom>
          <a:noFill/>
        </p:spPr>
        <p:txBody>
          <a:bodyPr wrap="none" rtlCol="0">
            <a:spAutoFit/>
          </a:bodyPr>
          <a:lstStyle/>
          <a:p>
            <a:pPr algn="l"/>
            <a:r>
              <a:rPr lang="en-US" dirty="0"/>
              <a:t>…</a:t>
            </a:r>
          </a:p>
        </p:txBody>
      </p:sp>
      <p:sp>
        <p:nvSpPr>
          <p:cNvPr id="82" name="TextBox 81">
            <a:extLst>
              <a:ext uri="{FF2B5EF4-FFF2-40B4-BE49-F238E27FC236}">
                <a16:creationId xmlns:a16="http://schemas.microsoft.com/office/drawing/2014/main" id="{1405C292-4C50-8B18-D34E-BC1D3B72D921}"/>
              </a:ext>
            </a:extLst>
          </p:cNvPr>
          <p:cNvSpPr txBox="1"/>
          <p:nvPr/>
        </p:nvSpPr>
        <p:spPr>
          <a:xfrm>
            <a:off x="9684419" y="2981246"/>
            <a:ext cx="381836" cy="369332"/>
          </a:xfrm>
          <a:prstGeom prst="rect">
            <a:avLst/>
          </a:prstGeom>
          <a:noFill/>
        </p:spPr>
        <p:txBody>
          <a:bodyPr wrap="none" rtlCol="0">
            <a:spAutoFit/>
          </a:bodyPr>
          <a:lstStyle/>
          <a:p>
            <a:pPr algn="l"/>
            <a:r>
              <a:rPr lang="en-US" dirty="0"/>
              <a:t>…</a:t>
            </a:r>
          </a:p>
        </p:txBody>
      </p:sp>
      <p:sp>
        <p:nvSpPr>
          <p:cNvPr id="83" name="TextBox 82">
            <a:extLst>
              <a:ext uri="{FF2B5EF4-FFF2-40B4-BE49-F238E27FC236}">
                <a16:creationId xmlns:a16="http://schemas.microsoft.com/office/drawing/2014/main" id="{031E31D0-7965-32A6-C972-8A9A67429868}"/>
              </a:ext>
            </a:extLst>
          </p:cNvPr>
          <p:cNvSpPr txBox="1"/>
          <p:nvPr/>
        </p:nvSpPr>
        <p:spPr>
          <a:xfrm>
            <a:off x="8848188" y="2985488"/>
            <a:ext cx="381836" cy="369332"/>
          </a:xfrm>
          <a:prstGeom prst="rect">
            <a:avLst/>
          </a:prstGeom>
          <a:noFill/>
        </p:spPr>
        <p:txBody>
          <a:bodyPr wrap="none" rtlCol="0">
            <a:spAutoFit/>
          </a:bodyPr>
          <a:lstStyle/>
          <a:p>
            <a:pPr algn="l"/>
            <a:r>
              <a:rPr lang="en-US" dirty="0"/>
              <a:t>…</a:t>
            </a:r>
          </a:p>
        </p:txBody>
      </p:sp>
      <p:sp>
        <p:nvSpPr>
          <p:cNvPr id="84" name="TextBox 83">
            <a:extLst>
              <a:ext uri="{FF2B5EF4-FFF2-40B4-BE49-F238E27FC236}">
                <a16:creationId xmlns:a16="http://schemas.microsoft.com/office/drawing/2014/main" id="{F7E7A59B-022E-9A1C-470C-6AB83B00A848}"/>
              </a:ext>
            </a:extLst>
          </p:cNvPr>
          <p:cNvSpPr txBox="1"/>
          <p:nvPr/>
        </p:nvSpPr>
        <p:spPr>
          <a:xfrm>
            <a:off x="8090679" y="2972921"/>
            <a:ext cx="381836" cy="369332"/>
          </a:xfrm>
          <a:prstGeom prst="rect">
            <a:avLst/>
          </a:prstGeom>
          <a:noFill/>
        </p:spPr>
        <p:txBody>
          <a:bodyPr wrap="none" rtlCol="0">
            <a:spAutoFit/>
          </a:bodyPr>
          <a:lstStyle/>
          <a:p>
            <a:pPr algn="l"/>
            <a:r>
              <a:rPr lang="en-US" dirty="0"/>
              <a:t>…</a:t>
            </a:r>
          </a:p>
        </p:txBody>
      </p:sp>
      <p:sp>
        <p:nvSpPr>
          <p:cNvPr id="85" name="TextBox 84">
            <a:extLst>
              <a:ext uri="{FF2B5EF4-FFF2-40B4-BE49-F238E27FC236}">
                <a16:creationId xmlns:a16="http://schemas.microsoft.com/office/drawing/2014/main" id="{09F762DD-6B55-F94F-4A7C-41E89B8AEE26}"/>
              </a:ext>
            </a:extLst>
          </p:cNvPr>
          <p:cNvSpPr txBox="1"/>
          <p:nvPr/>
        </p:nvSpPr>
        <p:spPr>
          <a:xfrm>
            <a:off x="10439949" y="3394619"/>
            <a:ext cx="381836" cy="369332"/>
          </a:xfrm>
          <a:prstGeom prst="rect">
            <a:avLst/>
          </a:prstGeom>
          <a:noFill/>
        </p:spPr>
        <p:txBody>
          <a:bodyPr wrap="none" rtlCol="0">
            <a:spAutoFit/>
          </a:bodyPr>
          <a:lstStyle/>
          <a:p>
            <a:pPr algn="l"/>
            <a:r>
              <a:rPr lang="en-US" dirty="0"/>
              <a:t>…</a:t>
            </a:r>
          </a:p>
        </p:txBody>
      </p:sp>
      <p:sp>
        <p:nvSpPr>
          <p:cNvPr id="86" name="TextBox 85">
            <a:extLst>
              <a:ext uri="{FF2B5EF4-FFF2-40B4-BE49-F238E27FC236}">
                <a16:creationId xmlns:a16="http://schemas.microsoft.com/office/drawing/2014/main" id="{90402F92-EBB6-FF7F-D1D1-439BA48AC1C0}"/>
              </a:ext>
            </a:extLst>
          </p:cNvPr>
          <p:cNvSpPr txBox="1"/>
          <p:nvPr/>
        </p:nvSpPr>
        <p:spPr>
          <a:xfrm>
            <a:off x="9731968" y="3392955"/>
            <a:ext cx="381836" cy="369332"/>
          </a:xfrm>
          <a:prstGeom prst="rect">
            <a:avLst/>
          </a:prstGeom>
          <a:noFill/>
        </p:spPr>
        <p:txBody>
          <a:bodyPr wrap="none" rtlCol="0">
            <a:spAutoFit/>
          </a:bodyPr>
          <a:lstStyle/>
          <a:p>
            <a:pPr algn="l"/>
            <a:r>
              <a:rPr lang="en-US" dirty="0"/>
              <a:t>…</a:t>
            </a:r>
          </a:p>
        </p:txBody>
      </p:sp>
      <p:sp>
        <p:nvSpPr>
          <p:cNvPr id="87" name="TextBox 86">
            <a:extLst>
              <a:ext uri="{FF2B5EF4-FFF2-40B4-BE49-F238E27FC236}">
                <a16:creationId xmlns:a16="http://schemas.microsoft.com/office/drawing/2014/main" id="{BA45131D-83D4-FB37-034E-E2319A7EA206}"/>
              </a:ext>
            </a:extLst>
          </p:cNvPr>
          <p:cNvSpPr txBox="1"/>
          <p:nvPr/>
        </p:nvSpPr>
        <p:spPr>
          <a:xfrm>
            <a:off x="8895737" y="3397197"/>
            <a:ext cx="381836" cy="369332"/>
          </a:xfrm>
          <a:prstGeom prst="rect">
            <a:avLst/>
          </a:prstGeom>
          <a:noFill/>
        </p:spPr>
        <p:txBody>
          <a:bodyPr wrap="none" rtlCol="0">
            <a:spAutoFit/>
          </a:bodyPr>
          <a:lstStyle/>
          <a:p>
            <a:pPr algn="l"/>
            <a:r>
              <a:rPr lang="en-US" dirty="0"/>
              <a:t>…</a:t>
            </a:r>
          </a:p>
        </p:txBody>
      </p:sp>
      <p:sp>
        <p:nvSpPr>
          <p:cNvPr id="88" name="TextBox 87">
            <a:extLst>
              <a:ext uri="{FF2B5EF4-FFF2-40B4-BE49-F238E27FC236}">
                <a16:creationId xmlns:a16="http://schemas.microsoft.com/office/drawing/2014/main" id="{1C5B8C27-C26B-4181-ED41-BBEB66D98D2E}"/>
              </a:ext>
            </a:extLst>
          </p:cNvPr>
          <p:cNvSpPr txBox="1"/>
          <p:nvPr/>
        </p:nvSpPr>
        <p:spPr>
          <a:xfrm>
            <a:off x="8138228" y="3384630"/>
            <a:ext cx="381836" cy="369332"/>
          </a:xfrm>
          <a:prstGeom prst="rect">
            <a:avLst/>
          </a:prstGeom>
          <a:noFill/>
        </p:spPr>
        <p:txBody>
          <a:bodyPr wrap="none" rtlCol="0">
            <a:spAutoFit/>
          </a:bodyPr>
          <a:lstStyle/>
          <a:p>
            <a:pPr algn="l"/>
            <a:r>
              <a:rPr lang="en-US" dirty="0"/>
              <a:t>…</a:t>
            </a:r>
          </a:p>
        </p:txBody>
      </p:sp>
      <p:sp>
        <p:nvSpPr>
          <p:cNvPr id="89" name="TextBox 88">
            <a:extLst>
              <a:ext uri="{FF2B5EF4-FFF2-40B4-BE49-F238E27FC236}">
                <a16:creationId xmlns:a16="http://schemas.microsoft.com/office/drawing/2014/main" id="{CAD573A4-2246-3BF7-283C-0FD51323A3CD}"/>
              </a:ext>
            </a:extLst>
          </p:cNvPr>
          <p:cNvSpPr txBox="1"/>
          <p:nvPr/>
        </p:nvSpPr>
        <p:spPr>
          <a:xfrm>
            <a:off x="10412239" y="3901719"/>
            <a:ext cx="381836" cy="369332"/>
          </a:xfrm>
          <a:prstGeom prst="rect">
            <a:avLst/>
          </a:prstGeom>
          <a:noFill/>
        </p:spPr>
        <p:txBody>
          <a:bodyPr wrap="none" rtlCol="0">
            <a:spAutoFit/>
          </a:bodyPr>
          <a:lstStyle/>
          <a:p>
            <a:pPr algn="l"/>
            <a:r>
              <a:rPr lang="en-US" dirty="0"/>
              <a:t>…</a:t>
            </a:r>
          </a:p>
        </p:txBody>
      </p:sp>
      <p:sp>
        <p:nvSpPr>
          <p:cNvPr id="90" name="TextBox 89">
            <a:extLst>
              <a:ext uri="{FF2B5EF4-FFF2-40B4-BE49-F238E27FC236}">
                <a16:creationId xmlns:a16="http://schemas.microsoft.com/office/drawing/2014/main" id="{D589F107-544C-CBAC-6186-C52C4C4B4D4C}"/>
              </a:ext>
            </a:extLst>
          </p:cNvPr>
          <p:cNvSpPr txBox="1"/>
          <p:nvPr/>
        </p:nvSpPr>
        <p:spPr>
          <a:xfrm>
            <a:off x="9704258" y="3900055"/>
            <a:ext cx="381836" cy="369332"/>
          </a:xfrm>
          <a:prstGeom prst="rect">
            <a:avLst/>
          </a:prstGeom>
          <a:noFill/>
        </p:spPr>
        <p:txBody>
          <a:bodyPr wrap="none" rtlCol="0">
            <a:spAutoFit/>
          </a:bodyPr>
          <a:lstStyle/>
          <a:p>
            <a:pPr algn="l"/>
            <a:r>
              <a:rPr lang="en-US" dirty="0"/>
              <a:t>…</a:t>
            </a:r>
          </a:p>
        </p:txBody>
      </p:sp>
      <p:sp>
        <p:nvSpPr>
          <p:cNvPr id="91" name="TextBox 90">
            <a:extLst>
              <a:ext uri="{FF2B5EF4-FFF2-40B4-BE49-F238E27FC236}">
                <a16:creationId xmlns:a16="http://schemas.microsoft.com/office/drawing/2014/main" id="{399AE538-333D-884D-255C-D5C01F341D7A}"/>
              </a:ext>
            </a:extLst>
          </p:cNvPr>
          <p:cNvSpPr txBox="1"/>
          <p:nvPr/>
        </p:nvSpPr>
        <p:spPr>
          <a:xfrm>
            <a:off x="8868027" y="3904297"/>
            <a:ext cx="381836" cy="369332"/>
          </a:xfrm>
          <a:prstGeom prst="rect">
            <a:avLst/>
          </a:prstGeom>
          <a:noFill/>
        </p:spPr>
        <p:txBody>
          <a:bodyPr wrap="none" rtlCol="0">
            <a:spAutoFit/>
          </a:bodyPr>
          <a:lstStyle/>
          <a:p>
            <a:pPr algn="l"/>
            <a:r>
              <a:rPr lang="en-US" dirty="0"/>
              <a:t>…</a:t>
            </a:r>
          </a:p>
        </p:txBody>
      </p:sp>
      <p:sp>
        <p:nvSpPr>
          <p:cNvPr id="92" name="TextBox 91">
            <a:extLst>
              <a:ext uri="{FF2B5EF4-FFF2-40B4-BE49-F238E27FC236}">
                <a16:creationId xmlns:a16="http://schemas.microsoft.com/office/drawing/2014/main" id="{2A17641E-5C75-AC0E-6A1B-02ECF1F524CC}"/>
              </a:ext>
            </a:extLst>
          </p:cNvPr>
          <p:cNvSpPr txBox="1"/>
          <p:nvPr/>
        </p:nvSpPr>
        <p:spPr>
          <a:xfrm>
            <a:off x="8110518" y="3891730"/>
            <a:ext cx="381836" cy="369332"/>
          </a:xfrm>
          <a:prstGeom prst="rect">
            <a:avLst/>
          </a:prstGeom>
          <a:noFill/>
        </p:spPr>
        <p:txBody>
          <a:bodyPr wrap="none" rtlCol="0">
            <a:spAutoFit/>
          </a:bodyPr>
          <a:lstStyle/>
          <a:p>
            <a:pPr algn="l"/>
            <a:r>
              <a:rPr lang="en-US" dirty="0"/>
              <a:t>…</a:t>
            </a:r>
          </a:p>
        </p:txBody>
      </p:sp>
      <p:sp>
        <p:nvSpPr>
          <p:cNvPr id="93" name="TextBox 92">
            <a:extLst>
              <a:ext uri="{FF2B5EF4-FFF2-40B4-BE49-F238E27FC236}">
                <a16:creationId xmlns:a16="http://schemas.microsoft.com/office/drawing/2014/main" id="{5B2C0EE5-3617-033F-CED1-00E7A3298082}"/>
              </a:ext>
            </a:extLst>
          </p:cNvPr>
          <p:cNvSpPr txBox="1"/>
          <p:nvPr/>
        </p:nvSpPr>
        <p:spPr>
          <a:xfrm>
            <a:off x="8160911" y="4554931"/>
            <a:ext cx="2426883" cy="369332"/>
          </a:xfrm>
          <a:prstGeom prst="rect">
            <a:avLst/>
          </a:prstGeom>
          <a:noFill/>
        </p:spPr>
        <p:txBody>
          <a:bodyPr wrap="none" rtlCol="0">
            <a:spAutoFit/>
          </a:bodyPr>
          <a:lstStyle/>
          <a:p>
            <a:pPr algn="l"/>
            <a:r>
              <a:rPr lang="en-US" dirty="0"/>
              <a:t>Joint probability matrix</a:t>
            </a:r>
          </a:p>
        </p:txBody>
      </p:sp>
      <p:sp>
        <p:nvSpPr>
          <p:cNvPr id="94" name="TextBox 93">
            <a:extLst>
              <a:ext uri="{FF2B5EF4-FFF2-40B4-BE49-F238E27FC236}">
                <a16:creationId xmlns:a16="http://schemas.microsoft.com/office/drawing/2014/main" id="{D2E38E91-A339-BA46-B77C-CE870A107A66}"/>
              </a:ext>
            </a:extLst>
          </p:cNvPr>
          <p:cNvSpPr txBox="1"/>
          <p:nvPr/>
        </p:nvSpPr>
        <p:spPr>
          <a:xfrm>
            <a:off x="3183720" y="3232244"/>
            <a:ext cx="1110945" cy="369332"/>
          </a:xfrm>
          <a:prstGeom prst="rect">
            <a:avLst/>
          </a:prstGeom>
          <a:noFill/>
        </p:spPr>
        <p:txBody>
          <a:bodyPr wrap="none" rtlCol="0">
            <a:spAutoFit/>
          </a:bodyPr>
          <a:lstStyle/>
          <a:p>
            <a:pPr algn="l"/>
            <a:r>
              <a:rPr lang="en-US" dirty="0"/>
              <a:t>Raw data</a:t>
            </a:r>
          </a:p>
        </p:txBody>
      </p:sp>
      <p:cxnSp>
        <p:nvCxnSpPr>
          <p:cNvPr id="96" name="Straight Connector 95">
            <a:extLst>
              <a:ext uri="{FF2B5EF4-FFF2-40B4-BE49-F238E27FC236}">
                <a16:creationId xmlns:a16="http://schemas.microsoft.com/office/drawing/2014/main" id="{06D2E6A2-3ED0-6E2C-3C55-3DAD8F8F2AEE}"/>
              </a:ext>
            </a:extLst>
          </p:cNvPr>
          <p:cNvCxnSpPr/>
          <p:nvPr/>
        </p:nvCxnSpPr>
        <p:spPr>
          <a:xfrm>
            <a:off x="7681762" y="2334677"/>
            <a:ext cx="233799" cy="19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08924494-A9DE-5FCC-6FCD-8B963A771F6F}"/>
              </a:ext>
            </a:extLst>
          </p:cNvPr>
          <p:cNvSpPr txBox="1"/>
          <p:nvPr/>
        </p:nvSpPr>
        <p:spPr>
          <a:xfrm>
            <a:off x="7082282" y="6187144"/>
            <a:ext cx="4335161" cy="646331"/>
          </a:xfrm>
          <a:prstGeom prst="rect">
            <a:avLst/>
          </a:prstGeom>
          <a:noFill/>
        </p:spPr>
        <p:txBody>
          <a:bodyPr wrap="none" rtlCol="0">
            <a:spAutoFit/>
          </a:bodyPr>
          <a:lstStyle/>
          <a:p>
            <a:pPr algn="l"/>
            <a:r>
              <a:rPr lang="en-US" dirty="0"/>
              <a:t>Generalization: joint probability tensor for </a:t>
            </a:r>
            <a:br>
              <a:rPr lang="en-US" dirty="0"/>
            </a:br>
            <a:r>
              <a:rPr lang="en-US" dirty="0"/>
              <a:t>3 or more features</a:t>
            </a:r>
          </a:p>
        </p:txBody>
      </p:sp>
      <p:sp>
        <p:nvSpPr>
          <p:cNvPr id="98" name="Rectangle 97">
            <a:extLst>
              <a:ext uri="{FF2B5EF4-FFF2-40B4-BE49-F238E27FC236}">
                <a16:creationId xmlns:a16="http://schemas.microsoft.com/office/drawing/2014/main" id="{7D6DA2F6-B0E7-3C42-AE02-01EEDD12CEC4}"/>
              </a:ext>
            </a:extLst>
          </p:cNvPr>
          <p:cNvSpPr/>
          <p:nvPr/>
        </p:nvSpPr>
        <p:spPr>
          <a:xfrm>
            <a:off x="350982" y="1940674"/>
            <a:ext cx="5779514" cy="4469358"/>
          </a:xfrm>
          <a:prstGeom prst="rect">
            <a:avLst/>
          </a:pr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0290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29246F5E-100C-2571-1BFB-EF2BCB77CB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5F7D3E-911C-AEEC-2D44-0408CC38B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CA32E7-93DF-8D05-1F66-4F267F2CB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F3A00CC-858D-C793-A2D0-977609A6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99B2BD5-D97C-8631-FEF5-EAA4AA03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A5B8E0E-5FD2-6641-0528-23EBAEBC0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43CCC-7BF2-07B2-13C0-1044D63CDBDC}"/>
              </a:ext>
            </a:extLst>
          </p:cNvPr>
          <p:cNvSpPr>
            <a:spLocks noGrp="1"/>
          </p:cNvSpPr>
          <p:nvPr>
            <p:ph type="title"/>
          </p:nvPr>
        </p:nvSpPr>
        <p:spPr>
          <a:xfrm>
            <a:off x="432550" y="229865"/>
            <a:ext cx="10155244" cy="1033669"/>
          </a:xfrm>
        </p:spPr>
        <p:txBody>
          <a:bodyPr>
            <a:normAutofit fontScale="90000"/>
          </a:bodyPr>
          <a:lstStyle/>
          <a:p>
            <a:r>
              <a:rPr lang="en-US" sz="4000" dirty="0">
                <a:solidFill>
                  <a:schemeClr val="bg1"/>
                </a:solidFill>
              </a:rPr>
              <a:t>Generalization (II): numerical/continuous events/features</a:t>
            </a:r>
          </a:p>
        </p:txBody>
      </p:sp>
      <p:sp>
        <p:nvSpPr>
          <p:cNvPr id="4" name="Content Placeholder 2">
            <a:extLst>
              <a:ext uri="{FF2B5EF4-FFF2-40B4-BE49-F238E27FC236}">
                <a16:creationId xmlns:a16="http://schemas.microsoft.com/office/drawing/2014/main" id="{9617C367-7A1F-5A6E-F483-1728D6C95798}"/>
              </a:ext>
            </a:extLst>
          </p:cNvPr>
          <p:cNvSpPr>
            <a:spLocks noGrp="1"/>
          </p:cNvSpPr>
          <p:nvPr>
            <p:ph idx="1"/>
          </p:nvPr>
        </p:nvSpPr>
        <p:spPr>
          <a:xfrm>
            <a:off x="535376" y="2111396"/>
            <a:ext cx="6788967" cy="2116319"/>
          </a:xfrm>
        </p:spPr>
        <p:txBody>
          <a:bodyPr anchor="ctr">
            <a:normAutofit fontScale="55000" lnSpcReduction="20000"/>
          </a:bodyPr>
          <a:lstStyle/>
          <a:p>
            <a:pPr marL="0" indent="0">
              <a:buNone/>
            </a:pPr>
            <a:r>
              <a:rPr lang="en-US" sz="4000" dirty="0"/>
              <a:t>Numerical/continuous events: intuitively, </a:t>
            </a:r>
            <a:br>
              <a:rPr lang="en-US" sz="4000" dirty="0"/>
            </a:br>
            <a:r>
              <a:rPr lang="en-US" sz="4000" dirty="0"/>
              <a:t>“infinite” number of rows and columns</a:t>
            </a:r>
          </a:p>
          <a:p>
            <a:pPr marL="0" indent="0">
              <a:buNone/>
            </a:pPr>
            <a:endParaRPr lang="en-US" sz="4000" dirty="0"/>
          </a:p>
          <a:p>
            <a:pPr marL="0" indent="0">
              <a:buNone/>
            </a:pPr>
            <a:r>
              <a:rPr lang="en-US" sz="4000" dirty="0"/>
              <a:t>Probability </a:t>
            </a:r>
            <a:r>
              <a:rPr lang="en-US" sz="4000" dirty="0">
                <a:sym typeface="Symbol" panose="05050102010706020507" pitchFamily="18" charset="2"/>
              </a:rPr>
              <a:t> </a:t>
            </a:r>
            <a:r>
              <a:rPr lang="en-US" sz="4000" dirty="0"/>
              <a:t>probability density function (pdf)</a:t>
            </a:r>
          </a:p>
          <a:p>
            <a:pPr marL="0" indent="0">
              <a:buNone/>
            </a:pPr>
            <a:endParaRPr lang="en-US" sz="4000" dirty="0"/>
          </a:p>
          <a:p>
            <a:pPr marL="0" indent="0">
              <a:buNone/>
            </a:pPr>
            <a:r>
              <a:rPr lang="en-US" sz="4000" dirty="0"/>
              <a:t>Marginalization: integration</a:t>
            </a:r>
          </a:p>
          <a:p>
            <a:pPr marL="0" indent="0">
              <a:buNone/>
            </a:pPr>
            <a:endParaRPr lang="en-US" sz="2400" dirty="0"/>
          </a:p>
          <a:p>
            <a:pPr marL="0" indent="0">
              <a:buNone/>
            </a:pPr>
            <a:endParaRPr lang="en-US" sz="2400" dirty="0"/>
          </a:p>
        </p:txBody>
      </p:sp>
      <p:pic>
        <p:nvPicPr>
          <p:cNvPr id="7" name="Picture 6" descr="\documentclass{article}&#10;\usepackage{amsmath}&#10;\pagestyle{empty}&#10;\begin{document}&#10;&#10;$p(x_1,x_2) = \frac{1}{2\pi} e^{-\frac{x_1^2+x_2^2}{2}}$&#10;\end{document}" title="IguanaTex Bitmap Display">
            <a:extLst>
              <a:ext uri="{FF2B5EF4-FFF2-40B4-BE49-F238E27FC236}">
                <a16:creationId xmlns:a16="http://schemas.microsoft.com/office/drawing/2014/main" id="{DDC2B739-840E-76DF-F51F-58EF295C53F3}"/>
              </a:ext>
            </a:extLst>
          </p:cNvPr>
          <p:cNvPicPr>
            <a:picLocks noChangeAspect="1"/>
          </p:cNvPicPr>
          <p:nvPr>
            <p:custDataLst>
              <p:tags r:id="rId1"/>
            </p:custDataLst>
          </p:nvPr>
        </p:nvPicPr>
        <p:blipFill>
          <a:blip r:embed="rId4"/>
          <a:stretch>
            <a:fillRect/>
          </a:stretch>
        </p:blipFill>
        <p:spPr>
          <a:xfrm>
            <a:off x="8027434" y="5593545"/>
            <a:ext cx="2848204" cy="503997"/>
          </a:xfrm>
          <a:prstGeom prst="rect">
            <a:avLst/>
          </a:prstGeom>
        </p:spPr>
      </p:pic>
      <p:sp>
        <p:nvSpPr>
          <p:cNvPr id="9" name="TextBox 8">
            <a:extLst>
              <a:ext uri="{FF2B5EF4-FFF2-40B4-BE49-F238E27FC236}">
                <a16:creationId xmlns:a16="http://schemas.microsoft.com/office/drawing/2014/main" id="{77CF0774-10CD-08FB-3712-75F5E9FB87B6}"/>
              </a:ext>
            </a:extLst>
          </p:cNvPr>
          <p:cNvSpPr txBox="1"/>
          <p:nvPr/>
        </p:nvSpPr>
        <p:spPr>
          <a:xfrm>
            <a:off x="7799637" y="6356852"/>
            <a:ext cx="3440365" cy="400110"/>
          </a:xfrm>
          <a:prstGeom prst="rect">
            <a:avLst/>
          </a:prstGeom>
          <a:noFill/>
        </p:spPr>
        <p:txBody>
          <a:bodyPr wrap="none" rtlCol="0">
            <a:spAutoFit/>
          </a:bodyPr>
          <a:lstStyle/>
          <a:p>
            <a:r>
              <a:rPr lang="en-US" sz="2000" dirty="0"/>
              <a:t>2-D Gaussian with mean (0,0)</a:t>
            </a:r>
          </a:p>
        </p:txBody>
      </p:sp>
      <p:pic>
        <p:nvPicPr>
          <p:cNvPr id="13" name="Picture 12" descr="A rainbow colored cone&#10;&#10;AI-generated content may be incorrect.">
            <a:extLst>
              <a:ext uri="{FF2B5EF4-FFF2-40B4-BE49-F238E27FC236}">
                <a16:creationId xmlns:a16="http://schemas.microsoft.com/office/drawing/2014/main" id="{E49884C8-490D-B609-22B9-E63CD464351C}"/>
              </a:ext>
            </a:extLst>
          </p:cNvPr>
          <p:cNvPicPr>
            <a:picLocks noChangeAspect="1"/>
          </p:cNvPicPr>
          <p:nvPr/>
        </p:nvPicPr>
        <p:blipFill>
          <a:blip r:embed="rId5"/>
          <a:stretch>
            <a:fillRect/>
          </a:stretch>
        </p:blipFill>
        <p:spPr>
          <a:xfrm>
            <a:off x="6724072" y="1859594"/>
            <a:ext cx="5157075" cy="3477491"/>
          </a:xfrm>
          <a:prstGeom prst="rect">
            <a:avLst/>
          </a:prstGeom>
        </p:spPr>
      </p:pic>
      <p:sp>
        <p:nvSpPr>
          <p:cNvPr id="15" name="TextBox 14">
            <a:extLst>
              <a:ext uri="{FF2B5EF4-FFF2-40B4-BE49-F238E27FC236}">
                <a16:creationId xmlns:a16="http://schemas.microsoft.com/office/drawing/2014/main" id="{71E0341F-1D71-D989-8009-B6FED2544DF4}"/>
              </a:ext>
            </a:extLst>
          </p:cNvPr>
          <p:cNvSpPr txBox="1"/>
          <p:nvPr/>
        </p:nvSpPr>
        <p:spPr>
          <a:xfrm>
            <a:off x="10153648" y="4761272"/>
            <a:ext cx="389850" cy="400110"/>
          </a:xfrm>
          <a:prstGeom prst="rect">
            <a:avLst/>
          </a:prstGeom>
          <a:noFill/>
        </p:spPr>
        <p:txBody>
          <a:bodyPr wrap="none" rtlCol="0">
            <a:spAutoFit/>
          </a:bodyPr>
          <a:lstStyle/>
          <a:p>
            <a:pPr algn="l"/>
            <a:r>
              <a:rPr lang="en-US" sz="2000" i="1" dirty="0"/>
              <a:t>x</a:t>
            </a:r>
            <a:r>
              <a:rPr lang="en-US" sz="2000" i="1" baseline="-25000" dirty="0"/>
              <a:t>1</a:t>
            </a:r>
          </a:p>
        </p:txBody>
      </p:sp>
      <p:sp>
        <p:nvSpPr>
          <p:cNvPr id="19" name="TextBox 18">
            <a:extLst>
              <a:ext uri="{FF2B5EF4-FFF2-40B4-BE49-F238E27FC236}">
                <a16:creationId xmlns:a16="http://schemas.microsoft.com/office/drawing/2014/main" id="{1931B163-F4A2-B2A1-0F03-4AC57C8E310D}"/>
              </a:ext>
            </a:extLst>
          </p:cNvPr>
          <p:cNvSpPr txBox="1"/>
          <p:nvPr/>
        </p:nvSpPr>
        <p:spPr>
          <a:xfrm>
            <a:off x="7808873" y="4561217"/>
            <a:ext cx="389850" cy="400110"/>
          </a:xfrm>
          <a:prstGeom prst="rect">
            <a:avLst/>
          </a:prstGeom>
          <a:noFill/>
        </p:spPr>
        <p:txBody>
          <a:bodyPr wrap="none" rtlCol="0">
            <a:spAutoFit/>
          </a:bodyPr>
          <a:lstStyle/>
          <a:p>
            <a:pPr algn="l"/>
            <a:r>
              <a:rPr lang="en-US" sz="2000" i="1" dirty="0"/>
              <a:t>x</a:t>
            </a:r>
            <a:r>
              <a:rPr lang="en-US" sz="2000" i="1" baseline="-25000" dirty="0"/>
              <a:t>2</a:t>
            </a:r>
          </a:p>
        </p:txBody>
      </p:sp>
      <p:sp>
        <p:nvSpPr>
          <p:cNvPr id="24" name="TextBox 23">
            <a:extLst>
              <a:ext uri="{FF2B5EF4-FFF2-40B4-BE49-F238E27FC236}">
                <a16:creationId xmlns:a16="http://schemas.microsoft.com/office/drawing/2014/main" id="{C75936AA-8281-725A-3968-07EDC75F1D0F}"/>
              </a:ext>
            </a:extLst>
          </p:cNvPr>
          <p:cNvSpPr txBox="1"/>
          <p:nvPr/>
        </p:nvSpPr>
        <p:spPr>
          <a:xfrm>
            <a:off x="6982691" y="2154109"/>
            <a:ext cx="883575" cy="369332"/>
          </a:xfrm>
          <a:prstGeom prst="rect">
            <a:avLst/>
          </a:prstGeom>
          <a:noFill/>
        </p:spPr>
        <p:txBody>
          <a:bodyPr wrap="none" rtlCol="0">
            <a:spAutoFit/>
          </a:bodyPr>
          <a:lstStyle/>
          <a:p>
            <a:pPr algn="l"/>
            <a:r>
              <a:rPr lang="en-US" i="1" dirty="0"/>
              <a:t>p(x</a:t>
            </a:r>
            <a:r>
              <a:rPr lang="en-US" i="1" baseline="-25000" dirty="0"/>
              <a:t>1</a:t>
            </a:r>
            <a:r>
              <a:rPr lang="en-US" i="1" dirty="0"/>
              <a:t>,x</a:t>
            </a:r>
            <a:r>
              <a:rPr lang="en-US" i="1" baseline="-25000" dirty="0"/>
              <a:t>2</a:t>
            </a:r>
            <a:r>
              <a:rPr lang="en-US" i="1" dirty="0"/>
              <a:t>)</a:t>
            </a:r>
          </a:p>
        </p:txBody>
      </p:sp>
      <p:pic>
        <p:nvPicPr>
          <p:cNvPr id="10" name="Picture 9" descr="\documentclass{article}&#10;\usepackage{amsmath}&#10;\pagestyle{empty}&#10;\begin{document}&#10;&#10;\begin{align*}&#10;p_1(x_1) &amp;= \frac{1}{2\pi}\int_{-\infty}^{\infty} e^{-\frac{x_1^2}{2}} e^{-\frac{x_2^2}{2}}dx_2 \nonumber \\&#10;&amp;= \frac{1}{2\pi}e^{-\frac{x_1^2}{2}} \int_{-\infty}^{\infty}  e^{-\frac{x_2^2}{2}}dx_2\\&#10;&amp;= \frac{1}{\sqrt{2\pi}} e^{-\frac{x_1^2}{2}}&#10;\end{align*}&#10;&#10;\end{document}" title="IguanaTex Bitmap Display">
            <a:extLst>
              <a:ext uri="{FF2B5EF4-FFF2-40B4-BE49-F238E27FC236}">
                <a16:creationId xmlns:a16="http://schemas.microsoft.com/office/drawing/2014/main" id="{55D7109C-93C3-B113-39F7-D1D3321D739B}"/>
              </a:ext>
            </a:extLst>
          </p:cNvPr>
          <p:cNvPicPr>
            <a:picLocks noChangeAspect="1"/>
          </p:cNvPicPr>
          <p:nvPr>
            <p:custDataLst>
              <p:tags r:id="rId2"/>
            </p:custDataLst>
          </p:nvPr>
        </p:nvPicPr>
        <p:blipFill>
          <a:blip r:embed="rId6"/>
          <a:stretch>
            <a:fillRect/>
          </a:stretch>
        </p:blipFill>
        <p:spPr>
          <a:xfrm>
            <a:off x="673417" y="4206607"/>
            <a:ext cx="3704184" cy="2260956"/>
          </a:xfrm>
          <a:prstGeom prst="rect">
            <a:avLst/>
          </a:prstGeom>
        </p:spPr>
      </p:pic>
    </p:spTree>
    <p:extLst>
      <p:ext uri="{BB962C8B-B14F-4D97-AF65-F5344CB8AC3E}">
        <p14:creationId xmlns:p14="http://schemas.microsoft.com/office/powerpoint/2010/main" val="714596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5E16C9-92A8-8789-3821-E8D8E537C33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87C5826-40BD-8B8B-FEAE-57B2B904F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90C612AF-421A-0E2C-32F8-5EC700CDA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A2550439-1914-2749-4E41-8898A5D98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5E58E86F-E940-2714-6F14-7EEB032C3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B12128EF-6A19-0118-CB95-0419EA70C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E66BF4E4-FF76-D1B7-4ABD-9586DF429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D2070946-46F0-3B12-BF66-FA2D3158D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952E27A-0936-C1E1-9B4B-189F932483D5}"/>
              </a:ext>
            </a:extLst>
          </p:cNvPr>
          <p:cNvSpPr>
            <a:spLocks noGrp="1"/>
          </p:cNvSpPr>
          <p:nvPr>
            <p:ph type="title"/>
          </p:nvPr>
        </p:nvSpPr>
        <p:spPr>
          <a:xfrm>
            <a:off x="1748397" y="1527362"/>
            <a:ext cx="8147713" cy="3081242"/>
          </a:xfrm>
        </p:spPr>
        <p:txBody>
          <a:bodyPr vert="horz" lIns="91440" tIns="45720" rIns="91440" bIns="45720" rtlCol="0" anchor="ctr">
            <a:normAutofit/>
          </a:bodyPr>
          <a:lstStyle/>
          <a:p>
            <a:pPr algn="ctr"/>
            <a:r>
              <a:rPr lang="en-US" sz="4800" dirty="0">
                <a:solidFill>
                  <a:srgbClr val="FFFFFF"/>
                </a:solidFill>
              </a:rPr>
              <a:t>Conditional</a:t>
            </a:r>
            <a:r>
              <a:rPr lang="en-US" sz="4800" kern="1200" dirty="0">
                <a:solidFill>
                  <a:srgbClr val="FFFFFF"/>
                </a:solidFill>
                <a:latin typeface="+mj-lt"/>
                <a:ea typeface="+mj-ea"/>
                <a:cs typeface="+mj-cs"/>
              </a:rPr>
              <a:t> Probability</a:t>
            </a:r>
          </a:p>
        </p:txBody>
      </p:sp>
    </p:spTree>
    <p:extLst>
      <p:ext uri="{BB962C8B-B14F-4D97-AF65-F5344CB8AC3E}">
        <p14:creationId xmlns:p14="http://schemas.microsoft.com/office/powerpoint/2010/main" val="2618397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9EAE62-2620-9D2B-1B9F-4880916AC2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01D151-349E-5C36-3196-36DE5F777D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0E3ACF2-AD3A-8FBB-CCBD-F1653D2A0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C4CD75D-5523-375B-375C-F2B108B3A0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98C2812-AD0F-4DD5-55D5-90EF8E3DA4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A734A29-192B-4E9C-D2DA-62CB316F2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67FB0-0DA8-7ECD-04F8-5EEECAF06F4A}"/>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Conditional probability</a:t>
            </a:r>
          </a:p>
        </p:txBody>
      </p:sp>
      <p:graphicFrame>
        <p:nvGraphicFramePr>
          <p:cNvPr id="3" name="Table 2">
            <a:extLst>
              <a:ext uri="{FF2B5EF4-FFF2-40B4-BE49-F238E27FC236}">
                <a16:creationId xmlns:a16="http://schemas.microsoft.com/office/drawing/2014/main" id="{3B30DD88-8F13-4DEE-CDB7-F459C6124248}"/>
              </a:ext>
            </a:extLst>
          </p:cNvPr>
          <p:cNvGraphicFramePr>
            <a:graphicFrameLocks noGrp="1"/>
          </p:cNvGraphicFramePr>
          <p:nvPr>
            <p:extLst>
              <p:ext uri="{D42A27DB-BD31-4B8C-83A1-F6EECF244321}">
                <p14:modId xmlns:p14="http://schemas.microsoft.com/office/powerpoint/2010/main" val="3193275319"/>
              </p:ext>
            </p:extLst>
          </p:nvPr>
        </p:nvGraphicFramePr>
        <p:xfrm>
          <a:off x="8583084" y="2339853"/>
          <a:ext cx="2299856" cy="1235016"/>
        </p:xfrm>
        <a:graphic>
          <a:graphicData uri="http://schemas.openxmlformats.org/drawingml/2006/table">
            <a:tbl>
              <a:tblPr bandRow="1">
                <a:tableStyleId>{2D5ABB26-0587-4C30-8999-92F81FD0307C}</a:tableStyleId>
              </a:tblPr>
              <a:tblGrid>
                <a:gridCol w="1149928">
                  <a:extLst>
                    <a:ext uri="{9D8B030D-6E8A-4147-A177-3AD203B41FA5}">
                      <a16:colId xmlns:a16="http://schemas.microsoft.com/office/drawing/2014/main" val="2785513782"/>
                    </a:ext>
                  </a:extLst>
                </a:gridCol>
                <a:gridCol w="1149928">
                  <a:extLst>
                    <a:ext uri="{9D8B030D-6E8A-4147-A177-3AD203B41FA5}">
                      <a16:colId xmlns:a16="http://schemas.microsoft.com/office/drawing/2014/main" val="682526169"/>
                    </a:ext>
                  </a:extLst>
                </a:gridCol>
              </a:tblGrid>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007454"/>
                  </a:ext>
                </a:extLst>
              </a:tr>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359867"/>
                  </a:ext>
                </a:extLst>
              </a:tr>
            </a:tbl>
          </a:graphicData>
        </a:graphic>
      </p:graphicFrame>
      <p:sp>
        <p:nvSpPr>
          <p:cNvPr id="4" name="TextBox 3">
            <a:extLst>
              <a:ext uri="{FF2B5EF4-FFF2-40B4-BE49-F238E27FC236}">
                <a16:creationId xmlns:a16="http://schemas.microsoft.com/office/drawing/2014/main" id="{925A7321-ED63-3C50-D41D-AA063F15F81F}"/>
              </a:ext>
            </a:extLst>
          </p:cNvPr>
          <p:cNvSpPr txBox="1"/>
          <p:nvPr/>
        </p:nvSpPr>
        <p:spPr>
          <a:xfrm>
            <a:off x="8012093" y="2341363"/>
            <a:ext cx="570990" cy="369332"/>
          </a:xfrm>
          <a:prstGeom prst="rect">
            <a:avLst/>
          </a:prstGeom>
          <a:noFill/>
        </p:spPr>
        <p:txBody>
          <a:bodyPr wrap="none" rtlCol="0">
            <a:spAutoFit/>
          </a:bodyPr>
          <a:lstStyle/>
          <a:p>
            <a:r>
              <a:rPr lang="en-US" dirty="0"/>
              <a:t>odd</a:t>
            </a:r>
          </a:p>
        </p:txBody>
      </p:sp>
      <p:sp>
        <p:nvSpPr>
          <p:cNvPr id="7" name="TextBox 6">
            <a:extLst>
              <a:ext uri="{FF2B5EF4-FFF2-40B4-BE49-F238E27FC236}">
                <a16:creationId xmlns:a16="http://schemas.microsoft.com/office/drawing/2014/main" id="{A88871F6-3118-334C-687B-6222BD9A4071}"/>
              </a:ext>
            </a:extLst>
          </p:cNvPr>
          <p:cNvSpPr txBox="1"/>
          <p:nvPr/>
        </p:nvSpPr>
        <p:spPr>
          <a:xfrm>
            <a:off x="7846983" y="3117923"/>
            <a:ext cx="736099" cy="369332"/>
          </a:xfrm>
          <a:prstGeom prst="rect">
            <a:avLst/>
          </a:prstGeom>
          <a:noFill/>
        </p:spPr>
        <p:txBody>
          <a:bodyPr wrap="none" rtlCol="0">
            <a:spAutoFit/>
          </a:bodyPr>
          <a:lstStyle/>
          <a:p>
            <a:r>
              <a:rPr lang="en-US" dirty="0">
                <a:sym typeface="Symbol" panose="05050102010706020507" pitchFamily="18" charset="2"/>
              </a:rPr>
              <a:t>odd</a:t>
            </a:r>
            <a:endParaRPr lang="en-US" dirty="0"/>
          </a:p>
        </p:txBody>
      </p:sp>
      <p:sp>
        <p:nvSpPr>
          <p:cNvPr id="9" name="TextBox 8">
            <a:extLst>
              <a:ext uri="{FF2B5EF4-FFF2-40B4-BE49-F238E27FC236}">
                <a16:creationId xmlns:a16="http://schemas.microsoft.com/office/drawing/2014/main" id="{587FF527-01A4-D769-49E1-07B685C31556}"/>
              </a:ext>
            </a:extLst>
          </p:cNvPr>
          <p:cNvSpPr txBox="1"/>
          <p:nvPr/>
        </p:nvSpPr>
        <p:spPr>
          <a:xfrm>
            <a:off x="8716133" y="1970522"/>
            <a:ext cx="764953" cy="369332"/>
          </a:xfrm>
          <a:prstGeom prst="rect">
            <a:avLst/>
          </a:prstGeom>
          <a:noFill/>
        </p:spPr>
        <p:txBody>
          <a:bodyPr wrap="none" rtlCol="0">
            <a:spAutoFit/>
          </a:bodyPr>
          <a:lstStyle/>
          <a:p>
            <a:r>
              <a:rPr lang="en-US" dirty="0"/>
              <a:t>prime</a:t>
            </a:r>
          </a:p>
        </p:txBody>
      </p:sp>
      <p:sp>
        <p:nvSpPr>
          <p:cNvPr id="10" name="TextBox 9">
            <a:extLst>
              <a:ext uri="{FF2B5EF4-FFF2-40B4-BE49-F238E27FC236}">
                <a16:creationId xmlns:a16="http://schemas.microsoft.com/office/drawing/2014/main" id="{AF049F8E-23F3-8E32-3234-76FDB323D461}"/>
              </a:ext>
            </a:extLst>
          </p:cNvPr>
          <p:cNvSpPr txBox="1"/>
          <p:nvPr/>
        </p:nvSpPr>
        <p:spPr>
          <a:xfrm>
            <a:off x="9666242" y="1970522"/>
            <a:ext cx="976549" cy="369332"/>
          </a:xfrm>
          <a:prstGeom prst="rect">
            <a:avLst/>
          </a:prstGeom>
          <a:noFill/>
        </p:spPr>
        <p:txBody>
          <a:bodyPr wrap="none" rtlCol="0">
            <a:spAutoFit/>
          </a:bodyPr>
          <a:lstStyle/>
          <a:p>
            <a:r>
              <a:rPr lang="en-US" dirty="0">
                <a:sym typeface="Symbol" panose="05050102010706020507" pitchFamily="18" charset="2"/>
              </a:rPr>
              <a:t> prime</a:t>
            </a:r>
            <a:endParaRPr lang="en-US" dirty="0"/>
          </a:p>
        </p:txBody>
      </p:sp>
      <p:sp>
        <p:nvSpPr>
          <p:cNvPr id="11" name="TextBox 10">
            <a:extLst>
              <a:ext uri="{FF2B5EF4-FFF2-40B4-BE49-F238E27FC236}">
                <a16:creationId xmlns:a16="http://schemas.microsoft.com/office/drawing/2014/main" id="{76C765FF-F521-5A6A-7484-22896CA7FC4D}"/>
              </a:ext>
            </a:extLst>
          </p:cNvPr>
          <p:cNvSpPr txBox="1"/>
          <p:nvPr/>
        </p:nvSpPr>
        <p:spPr>
          <a:xfrm>
            <a:off x="8716133" y="2319326"/>
            <a:ext cx="631904" cy="923330"/>
          </a:xfrm>
          <a:prstGeom prst="rect">
            <a:avLst/>
          </a:prstGeom>
          <a:noFill/>
        </p:spPr>
        <p:txBody>
          <a:bodyPr wrap="none" rtlCol="0">
            <a:spAutoFit/>
          </a:bodyPr>
          <a:lstStyle/>
          <a:p>
            <a:r>
              <a:rPr lang="en-US" dirty="0"/>
              <a:t>{3,5}</a:t>
            </a:r>
          </a:p>
          <a:p>
            <a:endParaRPr lang="en-US" dirty="0"/>
          </a:p>
          <a:p>
            <a:endParaRPr lang="en-US" dirty="0"/>
          </a:p>
        </p:txBody>
      </p:sp>
      <p:sp>
        <p:nvSpPr>
          <p:cNvPr id="12" name="TextBox 11">
            <a:extLst>
              <a:ext uri="{FF2B5EF4-FFF2-40B4-BE49-F238E27FC236}">
                <a16:creationId xmlns:a16="http://schemas.microsoft.com/office/drawing/2014/main" id="{CF5E2FDA-54BA-B86F-7F5B-068CF395117E}"/>
              </a:ext>
            </a:extLst>
          </p:cNvPr>
          <p:cNvSpPr txBox="1"/>
          <p:nvPr/>
        </p:nvSpPr>
        <p:spPr>
          <a:xfrm>
            <a:off x="8781399" y="2588399"/>
            <a:ext cx="510076" cy="369332"/>
          </a:xfrm>
          <a:prstGeom prst="rect">
            <a:avLst/>
          </a:prstGeom>
          <a:noFill/>
        </p:spPr>
        <p:txBody>
          <a:bodyPr wrap="none" rtlCol="0">
            <a:spAutoFit/>
          </a:bodyPr>
          <a:lstStyle/>
          <a:p>
            <a:r>
              <a:rPr lang="en-US" dirty="0">
                <a:solidFill>
                  <a:srgbClr val="0070C0"/>
                </a:solidFill>
              </a:rPr>
              <a:t>2/6</a:t>
            </a:r>
          </a:p>
        </p:txBody>
      </p:sp>
      <p:sp>
        <p:nvSpPr>
          <p:cNvPr id="13" name="TextBox 12">
            <a:extLst>
              <a:ext uri="{FF2B5EF4-FFF2-40B4-BE49-F238E27FC236}">
                <a16:creationId xmlns:a16="http://schemas.microsoft.com/office/drawing/2014/main" id="{7AC4FB9B-E955-7A72-4ED6-9500C1760261}"/>
              </a:ext>
            </a:extLst>
          </p:cNvPr>
          <p:cNvSpPr txBox="1"/>
          <p:nvPr/>
        </p:nvSpPr>
        <p:spPr>
          <a:xfrm>
            <a:off x="9999867" y="2319326"/>
            <a:ext cx="442750" cy="369332"/>
          </a:xfrm>
          <a:prstGeom prst="rect">
            <a:avLst/>
          </a:prstGeom>
          <a:noFill/>
        </p:spPr>
        <p:txBody>
          <a:bodyPr wrap="none" rtlCol="0">
            <a:spAutoFit/>
          </a:bodyPr>
          <a:lstStyle/>
          <a:p>
            <a:r>
              <a:rPr lang="en-US" dirty="0"/>
              <a:t>{1}</a:t>
            </a:r>
          </a:p>
        </p:txBody>
      </p:sp>
      <p:sp>
        <p:nvSpPr>
          <p:cNvPr id="15" name="TextBox 14">
            <a:extLst>
              <a:ext uri="{FF2B5EF4-FFF2-40B4-BE49-F238E27FC236}">
                <a16:creationId xmlns:a16="http://schemas.microsoft.com/office/drawing/2014/main" id="{C189AC9E-D51D-EA67-4ADB-BB18B627012D}"/>
              </a:ext>
            </a:extLst>
          </p:cNvPr>
          <p:cNvSpPr txBox="1"/>
          <p:nvPr/>
        </p:nvSpPr>
        <p:spPr>
          <a:xfrm>
            <a:off x="9962107" y="2596325"/>
            <a:ext cx="510076" cy="369332"/>
          </a:xfrm>
          <a:prstGeom prst="rect">
            <a:avLst/>
          </a:prstGeom>
          <a:noFill/>
        </p:spPr>
        <p:txBody>
          <a:bodyPr wrap="none" rtlCol="0">
            <a:spAutoFit/>
          </a:bodyPr>
          <a:lstStyle/>
          <a:p>
            <a:r>
              <a:rPr lang="en-US" dirty="0">
                <a:solidFill>
                  <a:srgbClr val="0070C0"/>
                </a:solidFill>
              </a:rPr>
              <a:t>1/6</a:t>
            </a:r>
          </a:p>
        </p:txBody>
      </p:sp>
      <p:sp>
        <p:nvSpPr>
          <p:cNvPr id="17" name="TextBox 16">
            <a:extLst>
              <a:ext uri="{FF2B5EF4-FFF2-40B4-BE49-F238E27FC236}">
                <a16:creationId xmlns:a16="http://schemas.microsoft.com/office/drawing/2014/main" id="{34BA7B9F-B37E-47BB-E082-AF1E96440A5D}"/>
              </a:ext>
            </a:extLst>
          </p:cNvPr>
          <p:cNvSpPr txBox="1"/>
          <p:nvPr/>
        </p:nvSpPr>
        <p:spPr>
          <a:xfrm>
            <a:off x="8865853" y="2915528"/>
            <a:ext cx="442750" cy="369332"/>
          </a:xfrm>
          <a:prstGeom prst="rect">
            <a:avLst/>
          </a:prstGeom>
          <a:noFill/>
        </p:spPr>
        <p:txBody>
          <a:bodyPr wrap="none" rtlCol="0">
            <a:spAutoFit/>
          </a:bodyPr>
          <a:lstStyle/>
          <a:p>
            <a:r>
              <a:rPr lang="en-US" dirty="0"/>
              <a:t>{2}</a:t>
            </a:r>
          </a:p>
        </p:txBody>
      </p:sp>
      <p:sp>
        <p:nvSpPr>
          <p:cNvPr id="18" name="TextBox 17">
            <a:extLst>
              <a:ext uri="{FF2B5EF4-FFF2-40B4-BE49-F238E27FC236}">
                <a16:creationId xmlns:a16="http://schemas.microsoft.com/office/drawing/2014/main" id="{141A1C93-8EAA-00D9-1AD2-8C6E7DC37A69}"/>
              </a:ext>
            </a:extLst>
          </p:cNvPr>
          <p:cNvSpPr txBox="1"/>
          <p:nvPr/>
        </p:nvSpPr>
        <p:spPr>
          <a:xfrm>
            <a:off x="8793718" y="3240092"/>
            <a:ext cx="510076" cy="369332"/>
          </a:xfrm>
          <a:prstGeom prst="rect">
            <a:avLst/>
          </a:prstGeom>
          <a:noFill/>
        </p:spPr>
        <p:txBody>
          <a:bodyPr wrap="none" rtlCol="0">
            <a:spAutoFit/>
          </a:bodyPr>
          <a:lstStyle/>
          <a:p>
            <a:r>
              <a:rPr lang="en-US" dirty="0">
                <a:solidFill>
                  <a:srgbClr val="0070C0"/>
                </a:solidFill>
              </a:rPr>
              <a:t>1/6</a:t>
            </a:r>
          </a:p>
        </p:txBody>
      </p:sp>
      <p:sp>
        <p:nvSpPr>
          <p:cNvPr id="19" name="TextBox 18">
            <a:extLst>
              <a:ext uri="{FF2B5EF4-FFF2-40B4-BE49-F238E27FC236}">
                <a16:creationId xmlns:a16="http://schemas.microsoft.com/office/drawing/2014/main" id="{C8A21C37-7EC5-5E90-1F42-481B67DB0F43}"/>
              </a:ext>
            </a:extLst>
          </p:cNvPr>
          <p:cNvSpPr txBox="1"/>
          <p:nvPr/>
        </p:nvSpPr>
        <p:spPr>
          <a:xfrm>
            <a:off x="9842544" y="2933257"/>
            <a:ext cx="631904" cy="369332"/>
          </a:xfrm>
          <a:prstGeom prst="rect">
            <a:avLst/>
          </a:prstGeom>
          <a:noFill/>
        </p:spPr>
        <p:txBody>
          <a:bodyPr wrap="none" rtlCol="0">
            <a:spAutoFit/>
          </a:bodyPr>
          <a:lstStyle/>
          <a:p>
            <a:r>
              <a:rPr lang="en-US" dirty="0"/>
              <a:t>{4,6}</a:t>
            </a:r>
          </a:p>
        </p:txBody>
      </p:sp>
      <p:sp>
        <p:nvSpPr>
          <p:cNvPr id="20" name="TextBox 19">
            <a:extLst>
              <a:ext uri="{FF2B5EF4-FFF2-40B4-BE49-F238E27FC236}">
                <a16:creationId xmlns:a16="http://schemas.microsoft.com/office/drawing/2014/main" id="{D1749915-A5C6-F0B4-2B65-6CD74CD8B870}"/>
              </a:ext>
            </a:extLst>
          </p:cNvPr>
          <p:cNvSpPr txBox="1"/>
          <p:nvPr/>
        </p:nvSpPr>
        <p:spPr>
          <a:xfrm>
            <a:off x="9932541" y="3254063"/>
            <a:ext cx="510076" cy="369332"/>
          </a:xfrm>
          <a:prstGeom prst="rect">
            <a:avLst/>
          </a:prstGeom>
          <a:noFill/>
        </p:spPr>
        <p:txBody>
          <a:bodyPr wrap="none" rtlCol="0">
            <a:spAutoFit/>
          </a:bodyPr>
          <a:lstStyle/>
          <a:p>
            <a:r>
              <a:rPr lang="en-US" dirty="0">
                <a:solidFill>
                  <a:srgbClr val="0070C0"/>
                </a:solidFill>
              </a:rPr>
              <a:t>3/6</a:t>
            </a:r>
          </a:p>
        </p:txBody>
      </p:sp>
      <p:sp>
        <p:nvSpPr>
          <p:cNvPr id="21" name="TextBox 20">
            <a:extLst>
              <a:ext uri="{FF2B5EF4-FFF2-40B4-BE49-F238E27FC236}">
                <a16:creationId xmlns:a16="http://schemas.microsoft.com/office/drawing/2014/main" id="{CF4349F2-5701-C6C6-792A-15032680426C}"/>
              </a:ext>
            </a:extLst>
          </p:cNvPr>
          <p:cNvSpPr txBox="1"/>
          <p:nvPr/>
        </p:nvSpPr>
        <p:spPr>
          <a:xfrm>
            <a:off x="10934937" y="2403733"/>
            <a:ext cx="510076" cy="369332"/>
          </a:xfrm>
          <a:prstGeom prst="rect">
            <a:avLst/>
          </a:prstGeom>
          <a:noFill/>
        </p:spPr>
        <p:txBody>
          <a:bodyPr wrap="none" rtlCol="0">
            <a:spAutoFit/>
          </a:bodyPr>
          <a:lstStyle/>
          <a:p>
            <a:r>
              <a:rPr lang="en-US" dirty="0">
                <a:solidFill>
                  <a:srgbClr val="0070C0"/>
                </a:solidFill>
              </a:rPr>
              <a:t>3/6</a:t>
            </a:r>
          </a:p>
        </p:txBody>
      </p:sp>
      <p:sp>
        <p:nvSpPr>
          <p:cNvPr id="22" name="TextBox 21">
            <a:extLst>
              <a:ext uri="{FF2B5EF4-FFF2-40B4-BE49-F238E27FC236}">
                <a16:creationId xmlns:a16="http://schemas.microsoft.com/office/drawing/2014/main" id="{9B1B5A0D-AA84-7054-A96E-AA7A71A8DE4E}"/>
              </a:ext>
            </a:extLst>
          </p:cNvPr>
          <p:cNvSpPr txBox="1"/>
          <p:nvPr/>
        </p:nvSpPr>
        <p:spPr>
          <a:xfrm>
            <a:off x="10960525" y="2994307"/>
            <a:ext cx="510076" cy="369332"/>
          </a:xfrm>
          <a:prstGeom prst="rect">
            <a:avLst/>
          </a:prstGeom>
          <a:noFill/>
        </p:spPr>
        <p:txBody>
          <a:bodyPr wrap="none" rtlCol="0">
            <a:spAutoFit/>
          </a:bodyPr>
          <a:lstStyle/>
          <a:p>
            <a:r>
              <a:rPr lang="en-US" dirty="0">
                <a:solidFill>
                  <a:srgbClr val="0070C0"/>
                </a:solidFill>
              </a:rPr>
              <a:t>3/6</a:t>
            </a:r>
          </a:p>
        </p:txBody>
      </p:sp>
      <p:sp>
        <p:nvSpPr>
          <p:cNvPr id="23" name="TextBox 22">
            <a:extLst>
              <a:ext uri="{FF2B5EF4-FFF2-40B4-BE49-F238E27FC236}">
                <a16:creationId xmlns:a16="http://schemas.microsoft.com/office/drawing/2014/main" id="{BD39484D-592C-668B-DD5F-188019305DEA}"/>
              </a:ext>
            </a:extLst>
          </p:cNvPr>
          <p:cNvSpPr txBox="1"/>
          <p:nvPr/>
        </p:nvSpPr>
        <p:spPr>
          <a:xfrm>
            <a:off x="8815840" y="3595396"/>
            <a:ext cx="510076" cy="369332"/>
          </a:xfrm>
          <a:prstGeom prst="rect">
            <a:avLst/>
          </a:prstGeom>
          <a:noFill/>
        </p:spPr>
        <p:txBody>
          <a:bodyPr wrap="none" rtlCol="0">
            <a:spAutoFit/>
          </a:bodyPr>
          <a:lstStyle/>
          <a:p>
            <a:r>
              <a:rPr lang="en-US" dirty="0"/>
              <a:t>3/6</a:t>
            </a:r>
          </a:p>
        </p:txBody>
      </p:sp>
      <p:sp>
        <p:nvSpPr>
          <p:cNvPr id="24" name="TextBox 23">
            <a:extLst>
              <a:ext uri="{FF2B5EF4-FFF2-40B4-BE49-F238E27FC236}">
                <a16:creationId xmlns:a16="http://schemas.microsoft.com/office/drawing/2014/main" id="{689877CA-1DDA-95B6-F6AF-25C0EED17DB0}"/>
              </a:ext>
            </a:extLst>
          </p:cNvPr>
          <p:cNvSpPr txBox="1"/>
          <p:nvPr/>
        </p:nvSpPr>
        <p:spPr>
          <a:xfrm>
            <a:off x="9998035" y="3595613"/>
            <a:ext cx="510076" cy="369332"/>
          </a:xfrm>
          <a:prstGeom prst="rect">
            <a:avLst/>
          </a:prstGeom>
          <a:noFill/>
        </p:spPr>
        <p:txBody>
          <a:bodyPr wrap="none" rtlCol="0">
            <a:spAutoFit/>
          </a:bodyPr>
          <a:lstStyle/>
          <a:p>
            <a:r>
              <a:rPr lang="en-US" dirty="0"/>
              <a:t>3/6</a:t>
            </a:r>
          </a:p>
        </p:txBody>
      </p:sp>
      <p:cxnSp>
        <p:nvCxnSpPr>
          <p:cNvPr id="25" name="Straight Connector 24">
            <a:extLst>
              <a:ext uri="{FF2B5EF4-FFF2-40B4-BE49-F238E27FC236}">
                <a16:creationId xmlns:a16="http://schemas.microsoft.com/office/drawing/2014/main" id="{C4EB6B07-5818-A360-B162-4194940EE056}"/>
              </a:ext>
            </a:extLst>
          </p:cNvPr>
          <p:cNvCxnSpPr/>
          <p:nvPr/>
        </p:nvCxnSpPr>
        <p:spPr>
          <a:xfrm flipH="1" flipV="1">
            <a:off x="8214135" y="2121699"/>
            <a:ext cx="368947" cy="2181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38ABFB1-222D-2639-670D-48D607A2820E}"/>
              </a:ext>
            </a:extLst>
          </p:cNvPr>
          <p:cNvSpPr txBox="1"/>
          <p:nvPr/>
        </p:nvSpPr>
        <p:spPr>
          <a:xfrm rot="16200000">
            <a:off x="7378897" y="2064461"/>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27" name="TextBox 26">
            <a:extLst>
              <a:ext uri="{FF2B5EF4-FFF2-40B4-BE49-F238E27FC236}">
                <a16:creationId xmlns:a16="http://schemas.microsoft.com/office/drawing/2014/main" id="{0E92773F-82EC-4FDE-064C-69521EBF8CF8}"/>
              </a:ext>
            </a:extLst>
          </p:cNvPr>
          <p:cNvSpPr txBox="1"/>
          <p:nvPr/>
        </p:nvSpPr>
        <p:spPr>
          <a:xfrm>
            <a:off x="8903968" y="1728752"/>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28" name="Content Placeholder 2">
            <a:extLst>
              <a:ext uri="{FF2B5EF4-FFF2-40B4-BE49-F238E27FC236}">
                <a16:creationId xmlns:a16="http://schemas.microsoft.com/office/drawing/2014/main" id="{544D2129-8128-3D1C-0767-B908CCEC881B}"/>
              </a:ext>
            </a:extLst>
          </p:cNvPr>
          <p:cNvSpPr>
            <a:spLocks noGrp="1"/>
          </p:cNvSpPr>
          <p:nvPr>
            <p:ph idx="1"/>
          </p:nvPr>
        </p:nvSpPr>
        <p:spPr>
          <a:xfrm>
            <a:off x="377879" y="2025425"/>
            <a:ext cx="5738062" cy="3139893"/>
          </a:xfrm>
        </p:spPr>
        <p:txBody>
          <a:bodyPr anchor="ctr">
            <a:normAutofit fontScale="77500" lnSpcReduction="20000"/>
          </a:bodyPr>
          <a:lstStyle/>
          <a:p>
            <a:pPr marL="0" indent="0">
              <a:buNone/>
            </a:pPr>
            <a:r>
              <a:rPr lang="en-US" dirty="0"/>
              <a:t>What is the probability that the number on the die is prime, given that it is odd?</a:t>
            </a:r>
          </a:p>
          <a:p>
            <a:pPr marL="0" indent="0">
              <a:buNone/>
            </a:pPr>
            <a:r>
              <a:rPr lang="en-US" dirty="0"/>
              <a:t>Ans: Possible outcomes for odd are {1,3,5}. </a:t>
            </a:r>
            <a:br>
              <a:rPr lang="en-US" dirty="0"/>
            </a:br>
            <a:r>
              <a:rPr lang="en-US" dirty="0"/>
              <a:t>{3,5} are prime so probability is 2/3.</a:t>
            </a:r>
          </a:p>
          <a:p>
            <a:pPr marL="0" indent="0">
              <a:buNone/>
            </a:pPr>
            <a:r>
              <a:rPr lang="en-US" dirty="0"/>
              <a:t>Can we calculate this from joint probability table without knowing sample space?</a:t>
            </a:r>
          </a:p>
          <a:p>
            <a:pPr marL="0" indent="0">
              <a:buNone/>
            </a:pPr>
            <a:r>
              <a:rPr lang="en-US" dirty="0"/>
              <a:t>Ans: </a:t>
            </a:r>
          </a:p>
          <a:p>
            <a:pPr marL="457200" lvl="1" indent="0">
              <a:buNone/>
            </a:pPr>
            <a:endParaRPr lang="en-US" dirty="0"/>
          </a:p>
          <a:p>
            <a:pPr marL="457200" lvl="1" indent="0">
              <a:buNone/>
            </a:pPr>
            <a:r>
              <a:rPr lang="en-US" dirty="0">
                <a:solidFill>
                  <a:srgbClr val="0070C0"/>
                </a:solidFill>
              </a:rPr>
              <a:t> </a:t>
            </a:r>
            <a:endParaRPr lang="en-US" dirty="0"/>
          </a:p>
          <a:p>
            <a:endParaRPr lang="en-US" dirty="0"/>
          </a:p>
        </p:txBody>
      </p:sp>
      <p:pic>
        <p:nvPicPr>
          <p:cNvPr id="46" name="Picture 45" descr="\documentclass{article}&#10;\usepackage{amsmath}&#10;\pagestyle{empty}&#10;\begin{document}&#10;\begin{align*}&#10;P(prime | odd) &amp;= \frac{P(prime \land odd)}{P(odd)} \text{\ \ (Definition of conditional probability)}\\&#10;&amp;= \frac{\frac{2}{6}}{\frac{3}{6}} = \frac{2}{3}&#10;\end{align*}&#10;\end{document}" title="IguanaTex Bitmap Display">
            <a:extLst>
              <a:ext uri="{FF2B5EF4-FFF2-40B4-BE49-F238E27FC236}">
                <a16:creationId xmlns:a16="http://schemas.microsoft.com/office/drawing/2014/main" id="{6515E090-9764-8036-39E5-98354671AB8D}"/>
              </a:ext>
            </a:extLst>
          </p:cNvPr>
          <p:cNvPicPr>
            <a:picLocks noChangeAspect="1"/>
          </p:cNvPicPr>
          <p:nvPr>
            <p:custDataLst>
              <p:tags r:id="rId1"/>
            </p:custDataLst>
          </p:nvPr>
        </p:nvPicPr>
        <p:blipFill>
          <a:blip r:embed="rId5"/>
          <a:stretch>
            <a:fillRect/>
          </a:stretch>
        </p:blipFill>
        <p:spPr>
          <a:xfrm>
            <a:off x="432550" y="4215129"/>
            <a:ext cx="6907595" cy="1190646"/>
          </a:xfrm>
          <a:prstGeom prst="rect">
            <a:avLst/>
          </a:prstGeom>
        </p:spPr>
      </p:pic>
      <p:sp>
        <p:nvSpPr>
          <p:cNvPr id="33" name="TextBox 32">
            <a:extLst>
              <a:ext uri="{FF2B5EF4-FFF2-40B4-BE49-F238E27FC236}">
                <a16:creationId xmlns:a16="http://schemas.microsoft.com/office/drawing/2014/main" id="{AA4A5F71-D540-07B2-C18D-005698F9B66D}"/>
              </a:ext>
            </a:extLst>
          </p:cNvPr>
          <p:cNvSpPr txBox="1"/>
          <p:nvPr/>
        </p:nvSpPr>
        <p:spPr>
          <a:xfrm>
            <a:off x="7974832" y="5263919"/>
            <a:ext cx="3974550" cy="1200329"/>
          </a:xfrm>
          <a:prstGeom prst="rect">
            <a:avLst/>
          </a:prstGeom>
          <a:noFill/>
        </p:spPr>
        <p:txBody>
          <a:bodyPr wrap="none" rtlCol="0">
            <a:spAutoFit/>
          </a:bodyPr>
          <a:lstStyle/>
          <a:p>
            <a:pPr algn="l"/>
            <a:r>
              <a:rPr lang="en-US" dirty="0"/>
              <a:t>Intuitively, conditional probability</a:t>
            </a:r>
            <a:br>
              <a:rPr lang="en-US" dirty="0"/>
            </a:br>
            <a:r>
              <a:rPr lang="en-US" dirty="0"/>
              <a:t>(</a:t>
            </a:r>
            <a:r>
              <a:rPr lang="en-US" dirty="0" err="1"/>
              <a:t>i</a:t>
            </a:r>
            <a:r>
              <a:rPr lang="en-US" dirty="0"/>
              <a:t>)  selects a row or column</a:t>
            </a:r>
            <a:br>
              <a:rPr lang="en-US" dirty="0"/>
            </a:br>
            <a:r>
              <a:rPr lang="en-US" dirty="0"/>
              <a:t>(ii) normalizes the probabilities in that</a:t>
            </a:r>
            <a:br>
              <a:rPr lang="en-US" dirty="0"/>
            </a:br>
            <a:r>
              <a:rPr lang="en-US" dirty="0"/>
              <a:t>row or column by the row/column sum</a:t>
            </a:r>
          </a:p>
        </p:txBody>
      </p:sp>
      <p:sp>
        <p:nvSpPr>
          <p:cNvPr id="29" name="Rectangle 28">
            <a:extLst>
              <a:ext uri="{FF2B5EF4-FFF2-40B4-BE49-F238E27FC236}">
                <a16:creationId xmlns:a16="http://schemas.microsoft.com/office/drawing/2014/main" id="{90863C98-9E4D-B841-F20F-7693A16DBABC}"/>
              </a:ext>
            </a:extLst>
          </p:cNvPr>
          <p:cNvSpPr/>
          <p:nvPr/>
        </p:nvSpPr>
        <p:spPr>
          <a:xfrm>
            <a:off x="8583082" y="2339853"/>
            <a:ext cx="1138876" cy="617878"/>
          </a:xfrm>
          <a:prstGeom prst="rect">
            <a:avLst/>
          </a:prstGeom>
          <a:solidFill>
            <a:srgbClr val="FF0000">
              <a:alpha val="7000"/>
            </a:srgbClr>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descr="\documentclass{article}&#10;\usepackage{amsmath,mdframed}&#10;\usepackage{xcolor}&#10;\pagestyle{empty}&#10;\begin{document}&#10;&#10;\begin{mdframed}[leftmargin=125pt, rightmargin=-50pt, &#10;innertopmargin=-5pt,innerbottommargin=1pt,skipabove=-20pt, skipbelow=20pt]&#10;\begin{flalign}&#10;P(A|B) &amp;= \frac{P(A\land B)}{P(B)} \ \ \text{(Conditional probability)}&#10;\end{flalign}&#10;\end{mdframed}&#10;&#10;\end{document}" title="IguanaTex Bitmap Display">
            <a:extLst>
              <a:ext uri="{FF2B5EF4-FFF2-40B4-BE49-F238E27FC236}">
                <a16:creationId xmlns:a16="http://schemas.microsoft.com/office/drawing/2014/main" id="{6274809C-A79C-0963-8F4D-242A4EBE323C}"/>
              </a:ext>
            </a:extLst>
          </p:cNvPr>
          <p:cNvPicPr>
            <a:picLocks noChangeAspect="1"/>
          </p:cNvPicPr>
          <p:nvPr>
            <p:custDataLst>
              <p:tags r:id="rId2"/>
            </p:custDataLst>
          </p:nvPr>
        </p:nvPicPr>
        <p:blipFill>
          <a:blip r:embed="rId6"/>
          <a:stretch>
            <a:fillRect/>
          </a:stretch>
        </p:blipFill>
        <p:spPr>
          <a:xfrm>
            <a:off x="7556589" y="4290546"/>
            <a:ext cx="4571910" cy="579621"/>
          </a:xfrm>
          <a:prstGeom prst="rect">
            <a:avLst/>
          </a:prstGeom>
        </p:spPr>
      </p:pic>
      <p:pic>
        <p:nvPicPr>
          <p:cNvPr id="54" name="Picture 53" descr="\documentclass{article}&#10;\usepackage{amsmath,mdframed}&#10;\pagestyle{empty}&#10;\begin{document}&#10;$P(A_i|B_j) = \frac{P(A_i \land B_j)}{P(B_j)}$&#10;\end{document}" title="IguanaTex Bitmap Display">
            <a:extLst>
              <a:ext uri="{FF2B5EF4-FFF2-40B4-BE49-F238E27FC236}">
                <a16:creationId xmlns:a16="http://schemas.microsoft.com/office/drawing/2014/main" id="{9A077646-CE39-48B6-0E92-25B8929FF943}"/>
              </a:ext>
            </a:extLst>
          </p:cNvPr>
          <p:cNvPicPr>
            <a:picLocks noChangeAspect="1"/>
          </p:cNvPicPr>
          <p:nvPr>
            <p:custDataLst>
              <p:tags r:id="rId3"/>
            </p:custDataLst>
          </p:nvPr>
        </p:nvPicPr>
        <p:blipFill>
          <a:blip r:embed="rId7"/>
          <a:stretch>
            <a:fillRect/>
          </a:stretch>
        </p:blipFill>
        <p:spPr>
          <a:xfrm>
            <a:off x="4057650" y="5898596"/>
            <a:ext cx="2441551" cy="396374"/>
          </a:xfrm>
          <a:prstGeom prst="rect">
            <a:avLst/>
          </a:prstGeom>
        </p:spPr>
      </p:pic>
      <p:sp>
        <p:nvSpPr>
          <p:cNvPr id="50" name="TextBox 49">
            <a:extLst>
              <a:ext uri="{FF2B5EF4-FFF2-40B4-BE49-F238E27FC236}">
                <a16:creationId xmlns:a16="http://schemas.microsoft.com/office/drawing/2014/main" id="{FF9FCE34-85DE-A284-2B52-F5997EBF9C11}"/>
              </a:ext>
            </a:extLst>
          </p:cNvPr>
          <p:cNvSpPr txBox="1"/>
          <p:nvPr/>
        </p:nvSpPr>
        <p:spPr>
          <a:xfrm>
            <a:off x="377879" y="5864083"/>
            <a:ext cx="3631700" cy="430887"/>
          </a:xfrm>
          <a:prstGeom prst="rect">
            <a:avLst/>
          </a:prstGeom>
          <a:noFill/>
        </p:spPr>
        <p:txBody>
          <a:bodyPr wrap="none" rtlCol="0">
            <a:spAutoFit/>
          </a:bodyPr>
          <a:lstStyle/>
          <a:p>
            <a:pPr algn="l"/>
            <a:r>
              <a:rPr lang="en-US" sz="2200" dirty="0"/>
              <a:t>Categorical events/features:</a:t>
            </a:r>
          </a:p>
        </p:txBody>
      </p:sp>
    </p:spTree>
    <p:extLst>
      <p:ext uri="{BB962C8B-B14F-4D97-AF65-F5344CB8AC3E}">
        <p14:creationId xmlns:p14="http://schemas.microsoft.com/office/powerpoint/2010/main" val="3259360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004473-FE8E-2194-555B-4660B0F11E22}"/>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F4B60754-6C43-25F0-1839-EF8F66FB724C}"/>
              </a:ext>
            </a:extLst>
          </p:cNvPr>
          <p:cNvSpPr/>
          <p:nvPr/>
        </p:nvSpPr>
        <p:spPr>
          <a:xfrm>
            <a:off x="8583082" y="2916323"/>
            <a:ext cx="1138876" cy="617878"/>
          </a:xfrm>
          <a:prstGeom prst="rect">
            <a:avLst/>
          </a:prstGeom>
          <a:solidFill>
            <a:srgbClr val="FF0000">
              <a:alpha val="7000"/>
            </a:srgbClr>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0F07C46D-53EA-6DC1-5BB2-E3BAAB9B8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3A2432E-B53B-2306-934F-AEAC9BC28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83B19C3-EA4B-B503-31F6-8E07096A2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FF5B3EB-AF51-CC07-A517-CF90920B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FC16F6-A4C5-BFEB-9A1C-A7024CB88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2ABD0D-36BD-C65F-0784-3786540A0A77}"/>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Independence</a:t>
            </a:r>
          </a:p>
        </p:txBody>
      </p:sp>
      <p:graphicFrame>
        <p:nvGraphicFramePr>
          <p:cNvPr id="3" name="Table 2">
            <a:extLst>
              <a:ext uri="{FF2B5EF4-FFF2-40B4-BE49-F238E27FC236}">
                <a16:creationId xmlns:a16="http://schemas.microsoft.com/office/drawing/2014/main" id="{EF2D4351-2247-0066-2B1B-D863AB7C652C}"/>
              </a:ext>
            </a:extLst>
          </p:cNvPr>
          <p:cNvGraphicFramePr>
            <a:graphicFrameLocks noGrp="1"/>
          </p:cNvGraphicFramePr>
          <p:nvPr>
            <p:extLst>
              <p:ext uri="{D42A27DB-BD31-4B8C-83A1-F6EECF244321}">
                <p14:modId xmlns:p14="http://schemas.microsoft.com/office/powerpoint/2010/main" val="37970181"/>
              </p:ext>
            </p:extLst>
          </p:nvPr>
        </p:nvGraphicFramePr>
        <p:xfrm>
          <a:off x="8583084" y="2916323"/>
          <a:ext cx="2299856" cy="1235016"/>
        </p:xfrm>
        <a:graphic>
          <a:graphicData uri="http://schemas.openxmlformats.org/drawingml/2006/table">
            <a:tbl>
              <a:tblPr bandRow="1">
                <a:tableStyleId>{2D5ABB26-0587-4C30-8999-92F81FD0307C}</a:tableStyleId>
              </a:tblPr>
              <a:tblGrid>
                <a:gridCol w="1149928">
                  <a:extLst>
                    <a:ext uri="{9D8B030D-6E8A-4147-A177-3AD203B41FA5}">
                      <a16:colId xmlns:a16="http://schemas.microsoft.com/office/drawing/2014/main" val="2785513782"/>
                    </a:ext>
                  </a:extLst>
                </a:gridCol>
                <a:gridCol w="1149928">
                  <a:extLst>
                    <a:ext uri="{9D8B030D-6E8A-4147-A177-3AD203B41FA5}">
                      <a16:colId xmlns:a16="http://schemas.microsoft.com/office/drawing/2014/main" val="682526169"/>
                    </a:ext>
                  </a:extLst>
                </a:gridCol>
              </a:tblGrid>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007454"/>
                  </a:ext>
                </a:extLst>
              </a:tr>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359867"/>
                  </a:ext>
                </a:extLst>
              </a:tr>
            </a:tbl>
          </a:graphicData>
        </a:graphic>
      </p:graphicFrame>
      <p:sp>
        <p:nvSpPr>
          <p:cNvPr id="4" name="TextBox 3">
            <a:extLst>
              <a:ext uri="{FF2B5EF4-FFF2-40B4-BE49-F238E27FC236}">
                <a16:creationId xmlns:a16="http://schemas.microsoft.com/office/drawing/2014/main" id="{A3F73EF1-6E2C-AA15-1A68-14C20BC9ADA1}"/>
              </a:ext>
            </a:extLst>
          </p:cNvPr>
          <p:cNvSpPr txBox="1"/>
          <p:nvPr/>
        </p:nvSpPr>
        <p:spPr>
          <a:xfrm>
            <a:off x="8012093" y="2917833"/>
            <a:ext cx="436338" cy="369332"/>
          </a:xfrm>
          <a:prstGeom prst="rect">
            <a:avLst/>
          </a:prstGeom>
          <a:noFill/>
        </p:spPr>
        <p:txBody>
          <a:bodyPr wrap="none" rtlCol="0">
            <a:spAutoFit/>
          </a:bodyPr>
          <a:lstStyle/>
          <a:p>
            <a:r>
              <a:rPr lang="en-US" dirty="0"/>
              <a:t>E1</a:t>
            </a:r>
          </a:p>
        </p:txBody>
      </p:sp>
      <p:sp>
        <p:nvSpPr>
          <p:cNvPr id="7" name="TextBox 6">
            <a:extLst>
              <a:ext uri="{FF2B5EF4-FFF2-40B4-BE49-F238E27FC236}">
                <a16:creationId xmlns:a16="http://schemas.microsoft.com/office/drawing/2014/main" id="{38003617-20DC-14B7-1843-86CF8B88B64F}"/>
              </a:ext>
            </a:extLst>
          </p:cNvPr>
          <p:cNvSpPr txBox="1"/>
          <p:nvPr/>
        </p:nvSpPr>
        <p:spPr>
          <a:xfrm>
            <a:off x="7846983" y="3694393"/>
            <a:ext cx="601447" cy="369332"/>
          </a:xfrm>
          <a:prstGeom prst="rect">
            <a:avLst/>
          </a:prstGeom>
          <a:noFill/>
        </p:spPr>
        <p:txBody>
          <a:bodyPr wrap="none" rtlCol="0">
            <a:spAutoFit/>
          </a:bodyPr>
          <a:lstStyle/>
          <a:p>
            <a:r>
              <a:rPr lang="en-US" dirty="0">
                <a:sym typeface="Symbol" panose="05050102010706020507" pitchFamily="18" charset="2"/>
              </a:rPr>
              <a:t>E1</a:t>
            </a:r>
            <a:endParaRPr lang="en-US" dirty="0"/>
          </a:p>
        </p:txBody>
      </p:sp>
      <p:sp>
        <p:nvSpPr>
          <p:cNvPr id="9" name="TextBox 8">
            <a:extLst>
              <a:ext uri="{FF2B5EF4-FFF2-40B4-BE49-F238E27FC236}">
                <a16:creationId xmlns:a16="http://schemas.microsoft.com/office/drawing/2014/main" id="{817E229A-2691-898C-4CB6-A5B6C420EB0E}"/>
              </a:ext>
            </a:extLst>
          </p:cNvPr>
          <p:cNvSpPr txBox="1"/>
          <p:nvPr/>
        </p:nvSpPr>
        <p:spPr>
          <a:xfrm>
            <a:off x="8716133" y="2546992"/>
            <a:ext cx="436338" cy="369332"/>
          </a:xfrm>
          <a:prstGeom prst="rect">
            <a:avLst/>
          </a:prstGeom>
          <a:noFill/>
        </p:spPr>
        <p:txBody>
          <a:bodyPr wrap="none" rtlCol="0">
            <a:spAutoFit/>
          </a:bodyPr>
          <a:lstStyle/>
          <a:p>
            <a:r>
              <a:rPr lang="en-US" dirty="0"/>
              <a:t>E2</a:t>
            </a:r>
          </a:p>
        </p:txBody>
      </p:sp>
      <p:sp>
        <p:nvSpPr>
          <p:cNvPr id="10" name="TextBox 9">
            <a:extLst>
              <a:ext uri="{FF2B5EF4-FFF2-40B4-BE49-F238E27FC236}">
                <a16:creationId xmlns:a16="http://schemas.microsoft.com/office/drawing/2014/main" id="{9F2BFCC7-419F-9EF7-0CE4-6A814E08B198}"/>
              </a:ext>
            </a:extLst>
          </p:cNvPr>
          <p:cNvSpPr txBox="1"/>
          <p:nvPr/>
        </p:nvSpPr>
        <p:spPr>
          <a:xfrm>
            <a:off x="9666242" y="2546992"/>
            <a:ext cx="647934" cy="369332"/>
          </a:xfrm>
          <a:prstGeom prst="rect">
            <a:avLst/>
          </a:prstGeom>
          <a:noFill/>
        </p:spPr>
        <p:txBody>
          <a:bodyPr wrap="none" rtlCol="0">
            <a:spAutoFit/>
          </a:bodyPr>
          <a:lstStyle/>
          <a:p>
            <a:r>
              <a:rPr lang="en-US" dirty="0">
                <a:sym typeface="Symbol" panose="05050102010706020507" pitchFamily="18" charset="2"/>
              </a:rPr>
              <a:t> E2</a:t>
            </a:r>
            <a:endParaRPr lang="en-US" dirty="0"/>
          </a:p>
        </p:txBody>
      </p:sp>
      <p:sp>
        <p:nvSpPr>
          <p:cNvPr id="11" name="TextBox 10">
            <a:extLst>
              <a:ext uri="{FF2B5EF4-FFF2-40B4-BE49-F238E27FC236}">
                <a16:creationId xmlns:a16="http://schemas.microsoft.com/office/drawing/2014/main" id="{D6472464-13AF-0AA3-EA0A-FE8210B2E0A1}"/>
              </a:ext>
            </a:extLst>
          </p:cNvPr>
          <p:cNvSpPr txBox="1"/>
          <p:nvPr/>
        </p:nvSpPr>
        <p:spPr>
          <a:xfrm>
            <a:off x="8716133" y="2895796"/>
            <a:ext cx="442750" cy="923330"/>
          </a:xfrm>
          <a:prstGeom prst="rect">
            <a:avLst/>
          </a:prstGeom>
          <a:noFill/>
        </p:spPr>
        <p:txBody>
          <a:bodyPr wrap="none" rtlCol="0">
            <a:spAutoFit/>
          </a:bodyPr>
          <a:lstStyle/>
          <a:p>
            <a:r>
              <a:rPr lang="en-US" dirty="0"/>
              <a:t>{2}</a:t>
            </a:r>
          </a:p>
          <a:p>
            <a:endParaRPr lang="en-US" dirty="0"/>
          </a:p>
          <a:p>
            <a:endParaRPr lang="en-US" dirty="0"/>
          </a:p>
        </p:txBody>
      </p:sp>
      <p:sp>
        <p:nvSpPr>
          <p:cNvPr id="12" name="TextBox 11">
            <a:extLst>
              <a:ext uri="{FF2B5EF4-FFF2-40B4-BE49-F238E27FC236}">
                <a16:creationId xmlns:a16="http://schemas.microsoft.com/office/drawing/2014/main" id="{1001640A-746D-973C-39D2-7A821C27283F}"/>
              </a:ext>
            </a:extLst>
          </p:cNvPr>
          <p:cNvSpPr txBox="1"/>
          <p:nvPr/>
        </p:nvSpPr>
        <p:spPr>
          <a:xfrm>
            <a:off x="8781399" y="3164869"/>
            <a:ext cx="510076" cy="369332"/>
          </a:xfrm>
          <a:prstGeom prst="rect">
            <a:avLst/>
          </a:prstGeom>
          <a:noFill/>
        </p:spPr>
        <p:txBody>
          <a:bodyPr wrap="none" rtlCol="0">
            <a:spAutoFit/>
          </a:bodyPr>
          <a:lstStyle/>
          <a:p>
            <a:r>
              <a:rPr lang="en-US" dirty="0">
                <a:solidFill>
                  <a:srgbClr val="0070C0"/>
                </a:solidFill>
              </a:rPr>
              <a:t>1/6</a:t>
            </a:r>
          </a:p>
        </p:txBody>
      </p:sp>
      <p:sp>
        <p:nvSpPr>
          <p:cNvPr id="13" name="TextBox 12">
            <a:extLst>
              <a:ext uri="{FF2B5EF4-FFF2-40B4-BE49-F238E27FC236}">
                <a16:creationId xmlns:a16="http://schemas.microsoft.com/office/drawing/2014/main" id="{2D0892CB-E140-88AE-E4DF-4220EABFD3CA}"/>
              </a:ext>
            </a:extLst>
          </p:cNvPr>
          <p:cNvSpPr txBox="1"/>
          <p:nvPr/>
        </p:nvSpPr>
        <p:spPr>
          <a:xfrm>
            <a:off x="9900477" y="2895796"/>
            <a:ext cx="631904" cy="369332"/>
          </a:xfrm>
          <a:prstGeom prst="rect">
            <a:avLst/>
          </a:prstGeom>
          <a:noFill/>
        </p:spPr>
        <p:txBody>
          <a:bodyPr wrap="none" rtlCol="0">
            <a:spAutoFit/>
          </a:bodyPr>
          <a:lstStyle/>
          <a:p>
            <a:r>
              <a:rPr lang="en-US" dirty="0"/>
              <a:t>{1,3}</a:t>
            </a:r>
          </a:p>
        </p:txBody>
      </p:sp>
      <p:sp>
        <p:nvSpPr>
          <p:cNvPr id="15" name="TextBox 14">
            <a:extLst>
              <a:ext uri="{FF2B5EF4-FFF2-40B4-BE49-F238E27FC236}">
                <a16:creationId xmlns:a16="http://schemas.microsoft.com/office/drawing/2014/main" id="{729D3B28-4442-246F-32D4-7F508B33C1C9}"/>
              </a:ext>
            </a:extLst>
          </p:cNvPr>
          <p:cNvSpPr txBox="1"/>
          <p:nvPr/>
        </p:nvSpPr>
        <p:spPr>
          <a:xfrm>
            <a:off x="9962107" y="3172795"/>
            <a:ext cx="510076" cy="369332"/>
          </a:xfrm>
          <a:prstGeom prst="rect">
            <a:avLst/>
          </a:prstGeom>
          <a:noFill/>
        </p:spPr>
        <p:txBody>
          <a:bodyPr wrap="none" rtlCol="0">
            <a:spAutoFit/>
          </a:bodyPr>
          <a:lstStyle/>
          <a:p>
            <a:r>
              <a:rPr lang="en-US" dirty="0">
                <a:solidFill>
                  <a:srgbClr val="0070C0"/>
                </a:solidFill>
              </a:rPr>
              <a:t>2/6</a:t>
            </a:r>
          </a:p>
        </p:txBody>
      </p:sp>
      <p:sp>
        <p:nvSpPr>
          <p:cNvPr id="17" name="TextBox 16">
            <a:extLst>
              <a:ext uri="{FF2B5EF4-FFF2-40B4-BE49-F238E27FC236}">
                <a16:creationId xmlns:a16="http://schemas.microsoft.com/office/drawing/2014/main" id="{14622A70-3A65-A654-FA1C-373126B0BB49}"/>
              </a:ext>
            </a:extLst>
          </p:cNvPr>
          <p:cNvSpPr txBox="1"/>
          <p:nvPr/>
        </p:nvSpPr>
        <p:spPr>
          <a:xfrm>
            <a:off x="8734913" y="3478626"/>
            <a:ext cx="489236" cy="369332"/>
          </a:xfrm>
          <a:prstGeom prst="rect">
            <a:avLst/>
          </a:prstGeom>
          <a:noFill/>
        </p:spPr>
        <p:txBody>
          <a:bodyPr wrap="none" rtlCol="0">
            <a:spAutoFit/>
          </a:bodyPr>
          <a:lstStyle/>
          <a:p>
            <a:r>
              <a:rPr lang="en-US" dirty="0"/>
              <a:t>{ 4}</a:t>
            </a:r>
          </a:p>
        </p:txBody>
      </p:sp>
      <p:sp>
        <p:nvSpPr>
          <p:cNvPr id="18" name="TextBox 17">
            <a:extLst>
              <a:ext uri="{FF2B5EF4-FFF2-40B4-BE49-F238E27FC236}">
                <a16:creationId xmlns:a16="http://schemas.microsoft.com/office/drawing/2014/main" id="{8A8AA1F4-7CDB-F165-E1B6-ED9CDF5DB595}"/>
              </a:ext>
            </a:extLst>
          </p:cNvPr>
          <p:cNvSpPr txBox="1"/>
          <p:nvPr/>
        </p:nvSpPr>
        <p:spPr>
          <a:xfrm>
            <a:off x="8793718" y="3816562"/>
            <a:ext cx="510076" cy="369332"/>
          </a:xfrm>
          <a:prstGeom prst="rect">
            <a:avLst/>
          </a:prstGeom>
          <a:noFill/>
        </p:spPr>
        <p:txBody>
          <a:bodyPr wrap="none" rtlCol="0">
            <a:spAutoFit/>
          </a:bodyPr>
          <a:lstStyle/>
          <a:p>
            <a:r>
              <a:rPr lang="en-US" dirty="0">
                <a:solidFill>
                  <a:srgbClr val="0070C0"/>
                </a:solidFill>
              </a:rPr>
              <a:t>1/6</a:t>
            </a:r>
          </a:p>
        </p:txBody>
      </p:sp>
      <p:sp>
        <p:nvSpPr>
          <p:cNvPr id="19" name="TextBox 18">
            <a:extLst>
              <a:ext uri="{FF2B5EF4-FFF2-40B4-BE49-F238E27FC236}">
                <a16:creationId xmlns:a16="http://schemas.microsoft.com/office/drawing/2014/main" id="{466C3CFE-9F09-60DF-EFAC-336251CDAAD8}"/>
              </a:ext>
            </a:extLst>
          </p:cNvPr>
          <p:cNvSpPr txBox="1"/>
          <p:nvPr/>
        </p:nvSpPr>
        <p:spPr>
          <a:xfrm>
            <a:off x="9842544" y="3509727"/>
            <a:ext cx="724878" cy="369332"/>
          </a:xfrm>
          <a:prstGeom prst="rect">
            <a:avLst/>
          </a:prstGeom>
          <a:noFill/>
        </p:spPr>
        <p:txBody>
          <a:bodyPr wrap="none" rtlCol="0">
            <a:spAutoFit/>
          </a:bodyPr>
          <a:lstStyle/>
          <a:p>
            <a:r>
              <a:rPr lang="en-US" dirty="0"/>
              <a:t>  {5,6}</a:t>
            </a:r>
          </a:p>
        </p:txBody>
      </p:sp>
      <p:sp>
        <p:nvSpPr>
          <p:cNvPr id="20" name="TextBox 19">
            <a:extLst>
              <a:ext uri="{FF2B5EF4-FFF2-40B4-BE49-F238E27FC236}">
                <a16:creationId xmlns:a16="http://schemas.microsoft.com/office/drawing/2014/main" id="{C1DFEF05-ADC4-F03C-5F20-0788744D2B23}"/>
              </a:ext>
            </a:extLst>
          </p:cNvPr>
          <p:cNvSpPr txBox="1"/>
          <p:nvPr/>
        </p:nvSpPr>
        <p:spPr>
          <a:xfrm>
            <a:off x="9932541" y="3830533"/>
            <a:ext cx="556563" cy="369332"/>
          </a:xfrm>
          <a:prstGeom prst="rect">
            <a:avLst/>
          </a:prstGeom>
          <a:noFill/>
        </p:spPr>
        <p:txBody>
          <a:bodyPr wrap="none" rtlCol="0">
            <a:spAutoFit/>
          </a:bodyPr>
          <a:lstStyle/>
          <a:p>
            <a:r>
              <a:rPr lang="en-US" dirty="0">
                <a:solidFill>
                  <a:srgbClr val="0070C0"/>
                </a:solidFill>
              </a:rPr>
              <a:t> 2/6</a:t>
            </a:r>
          </a:p>
        </p:txBody>
      </p:sp>
      <p:sp>
        <p:nvSpPr>
          <p:cNvPr id="21" name="TextBox 20">
            <a:extLst>
              <a:ext uri="{FF2B5EF4-FFF2-40B4-BE49-F238E27FC236}">
                <a16:creationId xmlns:a16="http://schemas.microsoft.com/office/drawing/2014/main" id="{4EFECCF3-5B3D-3F0D-CF09-F9850D9AD58D}"/>
              </a:ext>
            </a:extLst>
          </p:cNvPr>
          <p:cNvSpPr txBox="1"/>
          <p:nvPr/>
        </p:nvSpPr>
        <p:spPr>
          <a:xfrm>
            <a:off x="10852114" y="3155441"/>
            <a:ext cx="510076" cy="369332"/>
          </a:xfrm>
          <a:prstGeom prst="rect">
            <a:avLst/>
          </a:prstGeom>
          <a:noFill/>
        </p:spPr>
        <p:txBody>
          <a:bodyPr wrap="none" rtlCol="0">
            <a:spAutoFit/>
          </a:bodyPr>
          <a:lstStyle/>
          <a:p>
            <a:r>
              <a:rPr lang="en-US" dirty="0">
                <a:solidFill>
                  <a:srgbClr val="0070C0"/>
                </a:solidFill>
              </a:rPr>
              <a:t>3/6</a:t>
            </a:r>
          </a:p>
        </p:txBody>
      </p:sp>
      <p:sp>
        <p:nvSpPr>
          <p:cNvPr id="22" name="TextBox 21">
            <a:extLst>
              <a:ext uri="{FF2B5EF4-FFF2-40B4-BE49-F238E27FC236}">
                <a16:creationId xmlns:a16="http://schemas.microsoft.com/office/drawing/2014/main" id="{81F44A53-9B94-4626-D2B1-D31E8067F3EB}"/>
              </a:ext>
            </a:extLst>
          </p:cNvPr>
          <p:cNvSpPr txBox="1"/>
          <p:nvPr/>
        </p:nvSpPr>
        <p:spPr>
          <a:xfrm>
            <a:off x="10838536" y="3830533"/>
            <a:ext cx="510076" cy="369332"/>
          </a:xfrm>
          <a:prstGeom prst="rect">
            <a:avLst/>
          </a:prstGeom>
          <a:noFill/>
        </p:spPr>
        <p:txBody>
          <a:bodyPr wrap="none" rtlCol="0">
            <a:spAutoFit/>
          </a:bodyPr>
          <a:lstStyle/>
          <a:p>
            <a:r>
              <a:rPr lang="en-US" dirty="0">
                <a:solidFill>
                  <a:srgbClr val="0070C0"/>
                </a:solidFill>
              </a:rPr>
              <a:t>3/6</a:t>
            </a:r>
          </a:p>
        </p:txBody>
      </p:sp>
      <p:sp>
        <p:nvSpPr>
          <p:cNvPr id="23" name="TextBox 22">
            <a:extLst>
              <a:ext uri="{FF2B5EF4-FFF2-40B4-BE49-F238E27FC236}">
                <a16:creationId xmlns:a16="http://schemas.microsoft.com/office/drawing/2014/main" id="{6EF09D3B-5830-9876-215C-506CD1A4ED8A}"/>
              </a:ext>
            </a:extLst>
          </p:cNvPr>
          <p:cNvSpPr txBox="1"/>
          <p:nvPr/>
        </p:nvSpPr>
        <p:spPr>
          <a:xfrm>
            <a:off x="8815840" y="4171866"/>
            <a:ext cx="510076" cy="369332"/>
          </a:xfrm>
          <a:prstGeom prst="rect">
            <a:avLst/>
          </a:prstGeom>
          <a:noFill/>
        </p:spPr>
        <p:txBody>
          <a:bodyPr wrap="none" rtlCol="0">
            <a:spAutoFit/>
          </a:bodyPr>
          <a:lstStyle/>
          <a:p>
            <a:r>
              <a:rPr lang="en-US" dirty="0">
                <a:solidFill>
                  <a:schemeClr val="accent1"/>
                </a:solidFill>
              </a:rPr>
              <a:t>2/6</a:t>
            </a:r>
          </a:p>
        </p:txBody>
      </p:sp>
      <p:sp>
        <p:nvSpPr>
          <p:cNvPr id="24" name="TextBox 23">
            <a:extLst>
              <a:ext uri="{FF2B5EF4-FFF2-40B4-BE49-F238E27FC236}">
                <a16:creationId xmlns:a16="http://schemas.microsoft.com/office/drawing/2014/main" id="{F5D10FB2-A346-3E24-CB45-775939A2EE6B}"/>
              </a:ext>
            </a:extLst>
          </p:cNvPr>
          <p:cNvSpPr txBox="1"/>
          <p:nvPr/>
        </p:nvSpPr>
        <p:spPr>
          <a:xfrm>
            <a:off x="9998035" y="4172083"/>
            <a:ext cx="510076" cy="369332"/>
          </a:xfrm>
          <a:prstGeom prst="rect">
            <a:avLst/>
          </a:prstGeom>
          <a:noFill/>
        </p:spPr>
        <p:txBody>
          <a:bodyPr wrap="none" rtlCol="0">
            <a:spAutoFit/>
          </a:bodyPr>
          <a:lstStyle/>
          <a:p>
            <a:r>
              <a:rPr lang="en-US" dirty="0">
                <a:solidFill>
                  <a:schemeClr val="accent1"/>
                </a:solidFill>
              </a:rPr>
              <a:t>4/6</a:t>
            </a:r>
          </a:p>
        </p:txBody>
      </p:sp>
      <p:cxnSp>
        <p:nvCxnSpPr>
          <p:cNvPr id="25" name="Straight Connector 24">
            <a:extLst>
              <a:ext uri="{FF2B5EF4-FFF2-40B4-BE49-F238E27FC236}">
                <a16:creationId xmlns:a16="http://schemas.microsoft.com/office/drawing/2014/main" id="{1EA40F25-F716-5238-00BA-E2A51DADA20F}"/>
              </a:ext>
            </a:extLst>
          </p:cNvPr>
          <p:cNvCxnSpPr/>
          <p:nvPr/>
        </p:nvCxnSpPr>
        <p:spPr>
          <a:xfrm flipH="1" flipV="1">
            <a:off x="8214135" y="2698169"/>
            <a:ext cx="368947" cy="2181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33A51DA-5528-BF78-3DE1-A615F622031D}"/>
              </a:ext>
            </a:extLst>
          </p:cNvPr>
          <p:cNvSpPr txBox="1"/>
          <p:nvPr/>
        </p:nvSpPr>
        <p:spPr>
          <a:xfrm rot="16200000">
            <a:off x="7378897" y="2640931"/>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27" name="TextBox 26">
            <a:extLst>
              <a:ext uri="{FF2B5EF4-FFF2-40B4-BE49-F238E27FC236}">
                <a16:creationId xmlns:a16="http://schemas.microsoft.com/office/drawing/2014/main" id="{7A1813D2-D46F-8EE0-769A-DF382E98D76B}"/>
              </a:ext>
            </a:extLst>
          </p:cNvPr>
          <p:cNvSpPr txBox="1"/>
          <p:nvPr/>
        </p:nvSpPr>
        <p:spPr>
          <a:xfrm>
            <a:off x="8754883" y="2305222"/>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28" name="Content Placeholder 2">
            <a:extLst>
              <a:ext uri="{FF2B5EF4-FFF2-40B4-BE49-F238E27FC236}">
                <a16:creationId xmlns:a16="http://schemas.microsoft.com/office/drawing/2014/main" id="{076EBA1E-DC31-85A1-BACE-BFCF66A8B23D}"/>
              </a:ext>
            </a:extLst>
          </p:cNvPr>
          <p:cNvSpPr>
            <a:spLocks noGrp="1"/>
          </p:cNvSpPr>
          <p:nvPr>
            <p:ph idx="1"/>
          </p:nvPr>
        </p:nvSpPr>
        <p:spPr>
          <a:xfrm>
            <a:off x="385540" y="2210115"/>
            <a:ext cx="6064955" cy="4061476"/>
          </a:xfrm>
        </p:spPr>
        <p:txBody>
          <a:bodyPr anchor="ctr">
            <a:normAutofit fontScale="77500" lnSpcReduction="20000"/>
          </a:bodyPr>
          <a:lstStyle/>
          <a:p>
            <a:pPr marL="0" indent="0">
              <a:buNone/>
            </a:pPr>
            <a:r>
              <a:rPr lang="en-US" dirty="0"/>
              <a:t>Events A and B are </a:t>
            </a:r>
            <a:r>
              <a:rPr lang="en-US" dirty="0">
                <a:solidFill>
                  <a:schemeClr val="accent1"/>
                </a:solidFill>
              </a:rPr>
              <a:t>independent</a:t>
            </a:r>
            <a:r>
              <a:rPr lang="en-US" dirty="0"/>
              <a:t> if  P(A|B) = P(A)</a:t>
            </a:r>
          </a:p>
          <a:p>
            <a:pPr marL="0" indent="0">
              <a:buNone/>
            </a:pPr>
            <a:endParaRPr lang="en-US" dirty="0"/>
          </a:p>
          <a:p>
            <a:pPr marL="0" indent="0">
              <a:buNone/>
            </a:pPr>
            <a:r>
              <a:rPr lang="en-US" dirty="0"/>
              <a:t>Intuitively, knowing that B has occurred does not change the probability of event A </a:t>
            </a:r>
          </a:p>
          <a:p>
            <a:pPr marL="0" indent="0">
              <a:buNone/>
            </a:pPr>
            <a:endParaRPr lang="en-US" dirty="0"/>
          </a:p>
          <a:p>
            <a:pPr marL="0" indent="0">
              <a:buNone/>
            </a:pPr>
            <a:r>
              <a:rPr lang="en-US" dirty="0"/>
              <a:t>Equivalently, </a:t>
            </a:r>
            <a:br>
              <a:rPr lang="en-US" dirty="0"/>
            </a:br>
            <a:r>
              <a:rPr lang="en-US" dirty="0"/>
              <a:t>P(A </a:t>
            </a:r>
            <a:r>
              <a:rPr lang="en-US" dirty="0">
                <a:sym typeface="Symbol" panose="05050102010706020507" pitchFamily="18" charset="2"/>
              </a:rPr>
              <a:t> B) = P(A|B) * P(B)  = P(A) * P(B)</a:t>
            </a:r>
          </a:p>
          <a:p>
            <a:pPr marL="0" indent="0">
              <a:buNone/>
            </a:pPr>
            <a:endParaRPr lang="en-US" dirty="0">
              <a:sym typeface="Symbol" panose="05050102010706020507" pitchFamily="18" charset="2"/>
            </a:endParaRPr>
          </a:p>
          <a:p>
            <a:pPr marL="0" indent="0">
              <a:buNone/>
            </a:pPr>
            <a:r>
              <a:rPr lang="en-US" dirty="0">
                <a:sym typeface="Symbol" panose="05050102010706020507" pitchFamily="18" charset="2"/>
              </a:rPr>
              <a:t>Example: toss of die</a:t>
            </a:r>
            <a:br>
              <a:rPr lang="en-US" dirty="0">
                <a:sym typeface="Symbol" panose="05050102010706020507" pitchFamily="18" charset="2"/>
              </a:rPr>
            </a:br>
            <a:r>
              <a:rPr lang="en-US" dirty="0">
                <a:sym typeface="Symbol" panose="05050102010706020507" pitchFamily="18" charset="2"/>
              </a:rPr>
              <a:t>      E1:   3</a:t>
            </a:r>
            <a:br>
              <a:rPr lang="en-US" dirty="0">
                <a:sym typeface="Symbol" panose="05050102010706020507" pitchFamily="18" charset="2"/>
              </a:rPr>
            </a:br>
            <a:r>
              <a:rPr lang="en-US" dirty="0">
                <a:sym typeface="Symbol" panose="05050102010706020507" pitchFamily="18" charset="2"/>
              </a:rPr>
              <a:t>      E2:  {2,4}</a:t>
            </a:r>
          </a:p>
          <a:p>
            <a:pPr marL="0" indent="0">
              <a:buNone/>
            </a:pPr>
            <a:r>
              <a:rPr lang="en-US" dirty="0">
                <a:sym typeface="Symbol" panose="05050102010706020507" pitchFamily="18" charset="2"/>
              </a:rPr>
              <a:t>      P(E2|E1) = 1/3 = P(E2)</a:t>
            </a:r>
            <a:endParaRPr lang="en-US" dirty="0"/>
          </a:p>
          <a:p>
            <a:endParaRPr lang="en-US" dirty="0"/>
          </a:p>
        </p:txBody>
      </p:sp>
    </p:spTree>
    <p:extLst>
      <p:ext uri="{BB962C8B-B14F-4D97-AF65-F5344CB8AC3E}">
        <p14:creationId xmlns:p14="http://schemas.microsoft.com/office/powerpoint/2010/main" val="3957487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A2D41-A681-E1DF-9092-0DC6AA3B61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6726F-A51B-5948-E1E1-F4903D1BD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942945E-FBDF-A447-D5CA-187A4A920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8F94D4-D894-2123-A9F5-80F849968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A8C6E6D-F6E4-C7A0-1D41-63585A4154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43715B-11C7-851C-B229-5FB806594F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3A1C48-B2AC-0ED3-518A-14453D2ED399}"/>
              </a:ext>
            </a:extLst>
          </p:cNvPr>
          <p:cNvSpPr>
            <a:spLocks noGrp="1"/>
          </p:cNvSpPr>
          <p:nvPr>
            <p:ph type="title"/>
          </p:nvPr>
        </p:nvSpPr>
        <p:spPr>
          <a:xfrm>
            <a:off x="459346" y="157378"/>
            <a:ext cx="9895951" cy="1033669"/>
          </a:xfrm>
        </p:spPr>
        <p:txBody>
          <a:bodyPr>
            <a:normAutofit fontScale="90000"/>
          </a:bodyPr>
          <a:lstStyle/>
          <a:p>
            <a:r>
              <a:rPr lang="en-US" sz="4000" dirty="0">
                <a:solidFill>
                  <a:schemeClr val="bg1"/>
                </a:solidFill>
              </a:rPr>
              <a:t>Conditional probability for continuous events/features</a:t>
            </a:r>
          </a:p>
        </p:txBody>
      </p:sp>
      <p:pic>
        <p:nvPicPr>
          <p:cNvPr id="46" name="Picture 45" descr="\documentclass{article}&#10;\usepackage{amsmath}&#10;\pagestyle{empty}&#10;\begin{document}&#10;&#10;$p(x_1,x_2) = \frac{1}{2\pi} e^{-\frac{x_1^2+x_2^2}{2}}$&#10;\end{document}" title="IguanaTex Bitmap Display">
            <a:extLst>
              <a:ext uri="{FF2B5EF4-FFF2-40B4-BE49-F238E27FC236}">
                <a16:creationId xmlns:a16="http://schemas.microsoft.com/office/drawing/2014/main" id="{B7ECBD29-DAB9-50C0-003D-559EBCA895DD}"/>
              </a:ext>
            </a:extLst>
          </p:cNvPr>
          <p:cNvPicPr>
            <a:picLocks noChangeAspect="1"/>
          </p:cNvPicPr>
          <p:nvPr>
            <p:custDataLst>
              <p:tags r:id="rId1"/>
            </p:custDataLst>
          </p:nvPr>
        </p:nvPicPr>
        <p:blipFill>
          <a:blip r:embed="rId4"/>
          <a:stretch>
            <a:fillRect/>
          </a:stretch>
        </p:blipFill>
        <p:spPr>
          <a:xfrm>
            <a:off x="552499" y="2692979"/>
            <a:ext cx="2848204" cy="503997"/>
          </a:xfrm>
          <a:prstGeom prst="rect">
            <a:avLst/>
          </a:prstGeom>
        </p:spPr>
      </p:pic>
      <p:sp>
        <p:nvSpPr>
          <p:cNvPr id="24" name="TextBox 23">
            <a:extLst>
              <a:ext uri="{FF2B5EF4-FFF2-40B4-BE49-F238E27FC236}">
                <a16:creationId xmlns:a16="http://schemas.microsoft.com/office/drawing/2014/main" id="{930C4CCC-B232-6687-7C4E-693F13941DFD}"/>
              </a:ext>
            </a:extLst>
          </p:cNvPr>
          <p:cNvSpPr txBox="1"/>
          <p:nvPr/>
        </p:nvSpPr>
        <p:spPr>
          <a:xfrm>
            <a:off x="171762" y="2191257"/>
            <a:ext cx="5495222" cy="400110"/>
          </a:xfrm>
          <a:prstGeom prst="rect">
            <a:avLst/>
          </a:prstGeom>
          <a:noFill/>
        </p:spPr>
        <p:txBody>
          <a:bodyPr wrap="none" rtlCol="0">
            <a:spAutoFit/>
          </a:bodyPr>
          <a:lstStyle/>
          <a:p>
            <a:r>
              <a:rPr lang="en-US" sz="2000" dirty="0"/>
              <a:t>2-D Gaussian with mean (0,0) and covariance = I</a:t>
            </a:r>
          </a:p>
        </p:txBody>
      </p:sp>
      <p:sp>
        <p:nvSpPr>
          <p:cNvPr id="44" name="TextBox 43">
            <a:extLst>
              <a:ext uri="{FF2B5EF4-FFF2-40B4-BE49-F238E27FC236}">
                <a16:creationId xmlns:a16="http://schemas.microsoft.com/office/drawing/2014/main" id="{86908E54-153C-3E73-DB96-40272A5764C5}"/>
              </a:ext>
            </a:extLst>
          </p:cNvPr>
          <p:cNvSpPr txBox="1"/>
          <p:nvPr/>
        </p:nvSpPr>
        <p:spPr>
          <a:xfrm>
            <a:off x="314036" y="3731491"/>
            <a:ext cx="2595839" cy="369332"/>
          </a:xfrm>
          <a:prstGeom prst="rect">
            <a:avLst/>
          </a:prstGeom>
          <a:noFill/>
        </p:spPr>
        <p:txBody>
          <a:bodyPr wrap="none" rtlCol="0">
            <a:spAutoFit/>
          </a:bodyPr>
          <a:lstStyle/>
          <a:p>
            <a:r>
              <a:rPr lang="en-US" dirty="0"/>
              <a:t>Conditional pdf for </a:t>
            </a:r>
            <a:r>
              <a:rPr lang="en-US" i="1" dirty="0"/>
              <a:t>x</a:t>
            </a:r>
            <a:r>
              <a:rPr lang="en-US" i="1" baseline="-25000" dirty="0"/>
              <a:t>1 </a:t>
            </a:r>
            <a:r>
              <a:rPr lang="en-US" i="1" dirty="0"/>
              <a:t>= 2</a:t>
            </a:r>
          </a:p>
        </p:txBody>
      </p:sp>
      <p:pic>
        <p:nvPicPr>
          <p:cNvPr id="48" name="Picture 47" descr="A diagram of a graph&#10;&#10;AI-generated content may be incorrect.">
            <a:extLst>
              <a:ext uri="{FF2B5EF4-FFF2-40B4-BE49-F238E27FC236}">
                <a16:creationId xmlns:a16="http://schemas.microsoft.com/office/drawing/2014/main" id="{8985921B-BF7B-D890-67CF-863B0306132F}"/>
              </a:ext>
            </a:extLst>
          </p:cNvPr>
          <p:cNvPicPr>
            <a:picLocks noChangeAspect="1"/>
          </p:cNvPicPr>
          <p:nvPr/>
        </p:nvPicPr>
        <p:blipFill>
          <a:blip r:embed="rId5"/>
          <a:stretch>
            <a:fillRect/>
          </a:stretch>
        </p:blipFill>
        <p:spPr>
          <a:xfrm>
            <a:off x="6324186" y="1597432"/>
            <a:ext cx="5315315" cy="4988096"/>
          </a:xfrm>
          <a:prstGeom prst="rect">
            <a:avLst/>
          </a:prstGeom>
        </p:spPr>
      </p:pic>
      <p:pic>
        <p:nvPicPr>
          <p:cNvPr id="4" name="Picture 3" descr="\documentclass{article}&#10;\usepackage{amsmath}&#10;\pagestyle{empty}&#10;\begin{document}&#10;\begin{align*}&#10;p_{x_2|x_1}(x_2|x_1=2) &amp;=\frac{e^{-\frac{4+x_2^2}{2}}}{\int_{-\infty}^{\infty}e^{-\frac{4+x_2^2}{2}}dx_2}\\&#10;&amp;= \frac{1}{\sqrt{2\pi}}e^\frac{{-x_2^2}}{2}&#10;\end{align*}&#10;\end{document}" title="IguanaTex Bitmap Display">
            <a:extLst>
              <a:ext uri="{FF2B5EF4-FFF2-40B4-BE49-F238E27FC236}">
                <a16:creationId xmlns:a16="http://schemas.microsoft.com/office/drawing/2014/main" id="{73626233-F337-D5CB-318A-944FE62CE9CE}"/>
              </a:ext>
            </a:extLst>
          </p:cNvPr>
          <p:cNvPicPr>
            <a:picLocks noChangeAspect="1"/>
          </p:cNvPicPr>
          <p:nvPr>
            <p:custDataLst>
              <p:tags r:id="rId2"/>
            </p:custDataLst>
          </p:nvPr>
        </p:nvPicPr>
        <p:blipFill>
          <a:blip r:embed="rId6"/>
          <a:stretch>
            <a:fillRect/>
          </a:stretch>
        </p:blipFill>
        <p:spPr>
          <a:xfrm>
            <a:off x="552502" y="4383340"/>
            <a:ext cx="4155340" cy="1596837"/>
          </a:xfrm>
          <a:prstGeom prst="rect">
            <a:avLst/>
          </a:prstGeom>
        </p:spPr>
      </p:pic>
      <p:sp>
        <p:nvSpPr>
          <p:cNvPr id="21" name="TextBox 20">
            <a:extLst>
              <a:ext uri="{FF2B5EF4-FFF2-40B4-BE49-F238E27FC236}">
                <a16:creationId xmlns:a16="http://schemas.microsoft.com/office/drawing/2014/main" id="{8DB55729-D38C-7B1B-0B4E-F8811E67F080}"/>
              </a:ext>
            </a:extLst>
          </p:cNvPr>
          <p:cNvSpPr txBox="1"/>
          <p:nvPr/>
        </p:nvSpPr>
        <p:spPr>
          <a:xfrm>
            <a:off x="459346" y="6262692"/>
            <a:ext cx="5235087" cy="369332"/>
          </a:xfrm>
          <a:prstGeom prst="rect">
            <a:avLst/>
          </a:prstGeom>
          <a:noFill/>
        </p:spPr>
        <p:txBody>
          <a:bodyPr wrap="none" rtlCol="0">
            <a:spAutoFit/>
          </a:bodyPr>
          <a:lstStyle/>
          <a:p>
            <a:pPr algn="l"/>
            <a:r>
              <a:rPr lang="en-US" dirty="0"/>
              <a:t>This makes sense since </a:t>
            </a:r>
            <a:r>
              <a:rPr lang="en-US" i="1" dirty="0"/>
              <a:t>x</a:t>
            </a:r>
            <a:r>
              <a:rPr lang="en-US" i="1" baseline="-25000" dirty="0"/>
              <a:t>1</a:t>
            </a:r>
            <a:r>
              <a:rPr lang="en-US" dirty="0"/>
              <a:t> and </a:t>
            </a:r>
            <a:r>
              <a:rPr lang="en-US" i="1" dirty="0"/>
              <a:t>x</a:t>
            </a:r>
            <a:r>
              <a:rPr lang="en-US" i="1" baseline="-25000" dirty="0"/>
              <a:t>2</a:t>
            </a:r>
            <a:r>
              <a:rPr lang="en-US" dirty="0"/>
              <a:t> are independent.</a:t>
            </a:r>
          </a:p>
        </p:txBody>
      </p:sp>
      <p:pic>
        <p:nvPicPr>
          <p:cNvPr id="22" name="Picture 21" descr="A rainbow colored cone&#10;&#10;AI-generated content may be incorrect.">
            <a:extLst>
              <a:ext uri="{FF2B5EF4-FFF2-40B4-BE49-F238E27FC236}">
                <a16:creationId xmlns:a16="http://schemas.microsoft.com/office/drawing/2014/main" id="{15E59FED-E182-6CA0-17B0-DFFA03C84D9B}"/>
              </a:ext>
            </a:extLst>
          </p:cNvPr>
          <p:cNvPicPr>
            <a:picLocks noChangeAspect="1"/>
          </p:cNvPicPr>
          <p:nvPr/>
        </p:nvPicPr>
        <p:blipFill>
          <a:blip r:embed="rId7"/>
          <a:stretch>
            <a:fillRect/>
          </a:stretch>
        </p:blipFill>
        <p:spPr>
          <a:xfrm>
            <a:off x="6296737" y="2340865"/>
            <a:ext cx="5157075" cy="3921828"/>
          </a:xfrm>
          <a:prstGeom prst="rect">
            <a:avLst/>
          </a:prstGeom>
        </p:spPr>
      </p:pic>
      <p:sp>
        <p:nvSpPr>
          <p:cNvPr id="23" name="TextBox 22">
            <a:extLst>
              <a:ext uri="{FF2B5EF4-FFF2-40B4-BE49-F238E27FC236}">
                <a16:creationId xmlns:a16="http://schemas.microsoft.com/office/drawing/2014/main" id="{F79E4A92-4B6C-2956-9FFD-BA5F33C5D555}"/>
              </a:ext>
            </a:extLst>
          </p:cNvPr>
          <p:cNvSpPr txBox="1"/>
          <p:nvPr/>
        </p:nvSpPr>
        <p:spPr>
          <a:xfrm>
            <a:off x="9742958" y="5678424"/>
            <a:ext cx="369012" cy="369332"/>
          </a:xfrm>
          <a:prstGeom prst="rect">
            <a:avLst/>
          </a:prstGeom>
          <a:noFill/>
        </p:spPr>
        <p:txBody>
          <a:bodyPr wrap="none" rtlCol="0">
            <a:spAutoFit/>
          </a:bodyPr>
          <a:lstStyle/>
          <a:p>
            <a:pPr algn="l"/>
            <a:r>
              <a:rPr lang="en-US" i="1" dirty="0"/>
              <a:t>x</a:t>
            </a:r>
            <a:r>
              <a:rPr lang="en-US" i="1" baseline="-25000" dirty="0"/>
              <a:t>1</a:t>
            </a:r>
          </a:p>
        </p:txBody>
      </p:sp>
      <p:sp>
        <p:nvSpPr>
          <p:cNvPr id="25" name="TextBox 24">
            <a:extLst>
              <a:ext uri="{FF2B5EF4-FFF2-40B4-BE49-F238E27FC236}">
                <a16:creationId xmlns:a16="http://schemas.microsoft.com/office/drawing/2014/main" id="{3786802B-257D-8CC5-D833-B808823F6EFA}"/>
              </a:ext>
            </a:extLst>
          </p:cNvPr>
          <p:cNvSpPr txBox="1"/>
          <p:nvPr/>
        </p:nvSpPr>
        <p:spPr>
          <a:xfrm>
            <a:off x="7295896" y="5610844"/>
            <a:ext cx="369012" cy="369332"/>
          </a:xfrm>
          <a:prstGeom prst="rect">
            <a:avLst/>
          </a:prstGeom>
          <a:noFill/>
        </p:spPr>
        <p:txBody>
          <a:bodyPr wrap="none" rtlCol="0">
            <a:spAutoFit/>
          </a:bodyPr>
          <a:lstStyle/>
          <a:p>
            <a:pPr algn="l"/>
            <a:r>
              <a:rPr lang="en-US" i="1" dirty="0"/>
              <a:t>x</a:t>
            </a:r>
            <a:r>
              <a:rPr lang="en-US" i="1" baseline="-25000" dirty="0"/>
              <a:t>2</a:t>
            </a:r>
          </a:p>
        </p:txBody>
      </p:sp>
    </p:spTree>
    <p:extLst>
      <p:ext uri="{BB962C8B-B14F-4D97-AF65-F5344CB8AC3E}">
        <p14:creationId xmlns:p14="http://schemas.microsoft.com/office/powerpoint/2010/main" val="270198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3B4D15-CF7A-946E-B543-6F03EA4E29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995981-AAC5-0DF1-A88E-68828B4E97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77FAA9C-D0C2-1806-D034-0AE92FB5A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2448BCA-54CF-5E26-1C79-B349526A8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000B686-0503-D606-9E5A-D878EBDEB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F738827-72A1-980A-7C12-CB9CBBACE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59EE3C-903E-DC82-90D5-6D7696963644}"/>
              </a:ext>
            </a:extLst>
          </p:cNvPr>
          <p:cNvSpPr>
            <a:spLocks noGrp="1"/>
          </p:cNvSpPr>
          <p:nvPr>
            <p:ph type="title"/>
          </p:nvPr>
        </p:nvSpPr>
        <p:spPr>
          <a:xfrm>
            <a:off x="459346" y="157378"/>
            <a:ext cx="9895951" cy="1033669"/>
          </a:xfrm>
        </p:spPr>
        <p:txBody>
          <a:bodyPr>
            <a:normAutofit/>
          </a:bodyPr>
          <a:lstStyle/>
          <a:p>
            <a:r>
              <a:rPr lang="en-US" sz="4000" dirty="0">
                <a:solidFill>
                  <a:schemeClr val="bg1"/>
                </a:solidFill>
              </a:rPr>
              <a:t>Chain rule: conditioning </a:t>
            </a:r>
            <a:r>
              <a:rPr lang="en-US" sz="4000">
                <a:solidFill>
                  <a:schemeClr val="bg1"/>
                </a:solidFill>
              </a:rPr>
              <a:t>on multiple events</a:t>
            </a:r>
            <a:endParaRPr lang="en-US" sz="4000" dirty="0">
              <a:solidFill>
                <a:schemeClr val="bg1"/>
              </a:solidFill>
            </a:endParaRPr>
          </a:p>
        </p:txBody>
      </p:sp>
      <p:pic>
        <p:nvPicPr>
          <p:cNvPr id="19" name="Picture 18" descr="\documentclass{article}&#10;\usepackage{amsmath}&#10;\pagestyle{empty}&#10;\begin{document}&#10;&#10;\noindent&#10;\begin{align*}&#10;P(A_1 \land A_2 \land \cdots \land A_n)&amp;= P(A_1|A_2\land \cdots A_n)P(A_2\land \cdots A_n)\\&#10;&amp;= P(A_1|A_2\land \cdots A_n)P(A_2|A_3 \cdots A_n)P(A_3 \cdots A_n)\\&#10;&amp;...\\&#10;&amp;= P(A_1|A_2\land \cdots A_n)P(A_2|A_3 \cdots A_n)\cdots P(A_{n-1}|A_n)P(A_n)\\&#10;\implies&amp;\\&#10;P(A_1|A_2\land \cdots A_n) &amp;= \frac{P(A_1 \land A_2 \land \cdots \land A_n)}{P(A_2|A_3 \cdots A_n)\cdots P(A_{n-1}|A_n)P(A_n)}&#10;\end{align*}&#10;&#10;&#10;\end{document}" title="IguanaTex Bitmap Display">
            <a:extLst>
              <a:ext uri="{FF2B5EF4-FFF2-40B4-BE49-F238E27FC236}">
                <a16:creationId xmlns:a16="http://schemas.microsoft.com/office/drawing/2014/main" id="{7E656380-F609-53E4-D686-10557A6C7101}"/>
              </a:ext>
            </a:extLst>
          </p:cNvPr>
          <p:cNvPicPr>
            <a:picLocks noChangeAspect="1"/>
          </p:cNvPicPr>
          <p:nvPr>
            <p:custDataLst>
              <p:tags r:id="rId1"/>
            </p:custDataLst>
          </p:nvPr>
        </p:nvPicPr>
        <p:blipFill>
          <a:blip r:embed="rId3"/>
          <a:stretch>
            <a:fillRect/>
          </a:stretch>
        </p:blipFill>
        <p:spPr>
          <a:xfrm>
            <a:off x="724525" y="3371407"/>
            <a:ext cx="8638937" cy="2324363"/>
          </a:xfrm>
          <a:prstGeom prst="rect">
            <a:avLst/>
          </a:prstGeom>
        </p:spPr>
      </p:pic>
      <p:sp>
        <p:nvSpPr>
          <p:cNvPr id="24" name="TextBox 23">
            <a:extLst>
              <a:ext uri="{FF2B5EF4-FFF2-40B4-BE49-F238E27FC236}">
                <a16:creationId xmlns:a16="http://schemas.microsoft.com/office/drawing/2014/main" id="{64F2452D-97A8-35FB-D191-E2FD5102AFC6}"/>
              </a:ext>
            </a:extLst>
          </p:cNvPr>
          <p:cNvSpPr txBox="1"/>
          <p:nvPr/>
        </p:nvSpPr>
        <p:spPr>
          <a:xfrm>
            <a:off x="565219" y="2511831"/>
            <a:ext cx="7550080" cy="461665"/>
          </a:xfrm>
          <a:prstGeom prst="rect">
            <a:avLst/>
          </a:prstGeom>
          <a:noFill/>
        </p:spPr>
        <p:txBody>
          <a:bodyPr wrap="none" rtlCol="0">
            <a:spAutoFit/>
          </a:bodyPr>
          <a:lstStyle/>
          <a:p>
            <a:pPr algn="l"/>
            <a:r>
              <a:rPr lang="en-US" sz="2400" dirty="0"/>
              <a:t>Chain rule for conditional probability: prove by induction</a:t>
            </a:r>
          </a:p>
        </p:txBody>
      </p:sp>
      <p:sp>
        <p:nvSpPr>
          <p:cNvPr id="7" name="TextBox 6">
            <a:extLst>
              <a:ext uri="{FF2B5EF4-FFF2-40B4-BE49-F238E27FC236}">
                <a16:creationId xmlns:a16="http://schemas.microsoft.com/office/drawing/2014/main" id="{1FF5F08B-C10E-3ADE-3123-000F7A69DB68}"/>
              </a:ext>
            </a:extLst>
          </p:cNvPr>
          <p:cNvSpPr txBox="1"/>
          <p:nvPr/>
        </p:nvSpPr>
        <p:spPr>
          <a:xfrm>
            <a:off x="724525" y="5893624"/>
            <a:ext cx="10475175" cy="400110"/>
          </a:xfrm>
          <a:prstGeom prst="rect">
            <a:avLst/>
          </a:prstGeom>
          <a:noFill/>
        </p:spPr>
        <p:txBody>
          <a:bodyPr wrap="none" rtlCol="0">
            <a:spAutoFit/>
          </a:bodyPr>
          <a:lstStyle/>
          <a:p>
            <a:pPr algn="l"/>
            <a:r>
              <a:rPr lang="en-US" sz="2000" dirty="0"/>
              <a:t>Variable order is arbitrary but usually, </a:t>
            </a:r>
            <a:r>
              <a:rPr lang="en-US" sz="2000" i="1" dirty="0"/>
              <a:t>A</a:t>
            </a:r>
            <a:r>
              <a:rPr lang="en-US" sz="2000" i="1" baseline="-25000" dirty="0"/>
              <a:t>1</a:t>
            </a:r>
            <a:r>
              <a:rPr lang="en-US" sz="2000" dirty="0"/>
              <a:t> is outcome and </a:t>
            </a:r>
            <a:r>
              <a:rPr lang="en-US" sz="2000" i="1" dirty="0"/>
              <a:t>A</a:t>
            </a:r>
            <a:r>
              <a:rPr lang="en-US" sz="2000" i="1" baseline="-25000" dirty="0"/>
              <a:t>2</a:t>
            </a:r>
            <a:r>
              <a:rPr lang="en-US" sz="2000" i="1" dirty="0"/>
              <a:t>..A</a:t>
            </a:r>
            <a:r>
              <a:rPr lang="en-US" sz="2000" i="1" baseline="-25000" dirty="0"/>
              <a:t>n</a:t>
            </a:r>
            <a:r>
              <a:rPr lang="en-US" sz="2000" i="1" dirty="0"/>
              <a:t> </a:t>
            </a:r>
            <a:r>
              <a:rPr lang="en-US" sz="2000" dirty="0"/>
              <a:t>are events that may affect </a:t>
            </a:r>
            <a:r>
              <a:rPr lang="en-US" sz="2000" i="1" dirty="0"/>
              <a:t>A</a:t>
            </a:r>
            <a:r>
              <a:rPr lang="en-US" sz="2000" i="1" baseline="-25000" dirty="0"/>
              <a:t>1</a:t>
            </a:r>
            <a:r>
              <a:rPr lang="en-US" sz="2000" dirty="0"/>
              <a:t>.</a:t>
            </a:r>
          </a:p>
        </p:txBody>
      </p:sp>
    </p:spTree>
    <p:extLst>
      <p:ext uri="{BB962C8B-B14F-4D97-AF65-F5344CB8AC3E}">
        <p14:creationId xmlns:p14="http://schemas.microsoft.com/office/powerpoint/2010/main" val="195617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7ACF54-A540-DA5E-6612-9EAB5117398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CEC4940-BCB2-7923-B8C6-6B211794E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AA9246FB-4079-62D2-3684-3E303D1887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14841B89-3590-B361-F576-D1E7E37D9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7B086AD9-2E7E-FDBE-CA24-454580CA0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A947857-AAAE-8C87-75C0-BE034490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4E0182AC-9531-85C2-ABE7-D1445A902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7686538C-5250-37C3-9CF3-2987A5C6F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466151E-D680-1DA5-D622-1D5086411740}"/>
              </a:ext>
            </a:extLst>
          </p:cNvPr>
          <p:cNvSpPr>
            <a:spLocks noGrp="1"/>
          </p:cNvSpPr>
          <p:nvPr>
            <p:ph type="title"/>
          </p:nvPr>
        </p:nvSpPr>
        <p:spPr>
          <a:xfrm>
            <a:off x="1748397" y="1527362"/>
            <a:ext cx="8147713" cy="3081242"/>
          </a:xfrm>
        </p:spPr>
        <p:txBody>
          <a:bodyPr vert="horz" lIns="91440" tIns="45720" rIns="91440" bIns="45720" rtlCol="0" anchor="ctr">
            <a:normAutofit/>
          </a:bodyPr>
          <a:lstStyle/>
          <a:p>
            <a:pPr algn="ctr"/>
            <a:r>
              <a:rPr lang="en-US" sz="4800" dirty="0">
                <a:solidFill>
                  <a:srgbClr val="FFFFFF"/>
                </a:solidFill>
              </a:rPr>
              <a:t>Bayes’ Rule</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583943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C8621F-090B-CC96-8932-7F745301965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9223B2-140C-4761-0E2C-25D2B7FD8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6E034EF-3162-F1C4-7978-EC98AB43B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2FD3811-C9F6-3CBC-9B54-1A2E2C7F2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3095A43-E91D-CB0C-29CD-263D168A9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5A69516-2CCE-8042-7548-55851B959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CB46C1-152F-B44F-C820-B37FD7DF4AD9}"/>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Bayes’ Rule </a:t>
            </a:r>
          </a:p>
        </p:txBody>
      </p:sp>
      <p:pic>
        <p:nvPicPr>
          <p:cNvPr id="12" name="Picture 11" descr="\documentclass{article}&#10;\usepackage{amsmath,mdframed}&#10;\usepackage{xcolor}&#10;\pagestyle{empty}&#10;\begin{document}&#10;&#10;\begin{mdframed}[leftmargin=50pt, rightmargin=50pt, &#10;innertopmargin=-5pt,innerbottommargin=-5pt,skipabove=-20pt, skipbelow=-20pt]&#10;\begin{align*}&#10;P(A\land B) &amp;= P(A)P(B|A) \text{\ \ (Axiom of conditional probability)}\\&#10;&amp;= P(B)P(A|B) \\&#10;\implies  \\&#10;\underbrace{P(A|B)}_{posterior} &amp;= \frac{\underbrace{P(A)}_{prior}\underbrace{P(B|A)}_{\ \ likelihood\ of\ event\ assuming\ A}}{\underbrace{P(B)}_{probability\ of\ event}} \\&#10;\end{align*}&#10;\end{mdframed}&#10;\end{document}" title="IguanaTex Bitmap Display">
            <a:extLst>
              <a:ext uri="{FF2B5EF4-FFF2-40B4-BE49-F238E27FC236}">
                <a16:creationId xmlns:a16="http://schemas.microsoft.com/office/drawing/2014/main" id="{D8284E0C-D4B8-7AE8-4543-6C26FCA0D9B6}"/>
              </a:ext>
            </a:extLst>
          </p:cNvPr>
          <p:cNvPicPr>
            <a:picLocks noChangeAspect="1"/>
          </p:cNvPicPr>
          <p:nvPr>
            <p:custDataLst>
              <p:tags r:id="rId1"/>
            </p:custDataLst>
          </p:nvPr>
        </p:nvPicPr>
        <p:blipFill>
          <a:blip r:embed="rId6"/>
          <a:stretch>
            <a:fillRect/>
          </a:stretch>
        </p:blipFill>
        <p:spPr>
          <a:xfrm>
            <a:off x="532579" y="1624567"/>
            <a:ext cx="5906710" cy="2746133"/>
          </a:xfrm>
          <a:prstGeom prst="rect">
            <a:avLst/>
          </a:prstGeom>
        </p:spPr>
      </p:pic>
      <p:pic>
        <p:nvPicPr>
          <p:cNvPr id="34" name="Picture 33" descr="\documentclass{article}&#10;\usepackage{amsmath,mdframed}&#10;\pagestyle{empty}&#10;\begin{document}&#10;\begin{mdframed}[leftmargin=50pt, rightmargin=150pt, &#10;innertopmargin=5pt,innerbottommargin=5pt,skipabove=0pt, skipbelow=0pt]&#10;$P(A|B) = \frac{P(A \land B)}{P(A\land B) + P(\lnot A\land B)}$&#10;\end{mdframed}&#10;\end{document}" title="IguanaTex Bitmap Display">
            <a:extLst>
              <a:ext uri="{FF2B5EF4-FFF2-40B4-BE49-F238E27FC236}">
                <a16:creationId xmlns:a16="http://schemas.microsoft.com/office/drawing/2014/main" id="{561AE03D-7EA0-D077-5DCD-9E52598EC0AB}"/>
              </a:ext>
            </a:extLst>
          </p:cNvPr>
          <p:cNvPicPr>
            <a:picLocks noChangeAspect="1"/>
          </p:cNvPicPr>
          <p:nvPr>
            <p:custDataLst>
              <p:tags r:id="rId2"/>
            </p:custDataLst>
          </p:nvPr>
        </p:nvPicPr>
        <p:blipFill>
          <a:blip r:embed="rId7"/>
          <a:stretch>
            <a:fillRect/>
          </a:stretch>
        </p:blipFill>
        <p:spPr>
          <a:xfrm>
            <a:off x="731984" y="4883421"/>
            <a:ext cx="3571659" cy="735917"/>
          </a:xfrm>
          <a:prstGeom prst="rect">
            <a:avLst/>
          </a:prstGeom>
        </p:spPr>
      </p:pic>
      <p:sp>
        <p:nvSpPr>
          <p:cNvPr id="94" name="TextBox 93">
            <a:extLst>
              <a:ext uri="{FF2B5EF4-FFF2-40B4-BE49-F238E27FC236}">
                <a16:creationId xmlns:a16="http://schemas.microsoft.com/office/drawing/2014/main" id="{5FD2CD64-FE70-6E4C-039C-6F135FA472B8}"/>
              </a:ext>
            </a:extLst>
          </p:cNvPr>
          <p:cNvSpPr txBox="1"/>
          <p:nvPr/>
        </p:nvSpPr>
        <p:spPr>
          <a:xfrm>
            <a:off x="432550" y="4480263"/>
            <a:ext cx="2150589" cy="369332"/>
          </a:xfrm>
          <a:prstGeom prst="rect">
            <a:avLst/>
          </a:prstGeom>
          <a:noFill/>
        </p:spPr>
        <p:txBody>
          <a:bodyPr wrap="none" rtlCol="0">
            <a:spAutoFit/>
          </a:bodyPr>
          <a:lstStyle/>
          <a:p>
            <a:r>
              <a:rPr lang="en-US" dirty="0"/>
              <a:t>Easier formulation:</a:t>
            </a:r>
          </a:p>
        </p:txBody>
      </p:sp>
      <p:graphicFrame>
        <p:nvGraphicFramePr>
          <p:cNvPr id="3" name="Table 2">
            <a:extLst>
              <a:ext uri="{FF2B5EF4-FFF2-40B4-BE49-F238E27FC236}">
                <a16:creationId xmlns:a16="http://schemas.microsoft.com/office/drawing/2014/main" id="{F935C6A3-C8BD-4BE2-74EC-49484A20ACC4}"/>
              </a:ext>
            </a:extLst>
          </p:cNvPr>
          <p:cNvGraphicFramePr>
            <a:graphicFrameLocks noGrp="1"/>
          </p:cNvGraphicFramePr>
          <p:nvPr>
            <p:extLst>
              <p:ext uri="{D42A27DB-BD31-4B8C-83A1-F6EECF244321}">
                <p14:modId xmlns:p14="http://schemas.microsoft.com/office/powerpoint/2010/main" val="88922115"/>
              </p:ext>
            </p:extLst>
          </p:nvPr>
        </p:nvGraphicFramePr>
        <p:xfrm>
          <a:off x="8353131" y="2755013"/>
          <a:ext cx="2299856" cy="1235016"/>
        </p:xfrm>
        <a:graphic>
          <a:graphicData uri="http://schemas.openxmlformats.org/drawingml/2006/table">
            <a:tbl>
              <a:tblPr bandRow="1">
                <a:tableStyleId>{2D5ABB26-0587-4C30-8999-92F81FD0307C}</a:tableStyleId>
              </a:tblPr>
              <a:tblGrid>
                <a:gridCol w="1149928">
                  <a:extLst>
                    <a:ext uri="{9D8B030D-6E8A-4147-A177-3AD203B41FA5}">
                      <a16:colId xmlns:a16="http://schemas.microsoft.com/office/drawing/2014/main" val="2785513782"/>
                    </a:ext>
                  </a:extLst>
                </a:gridCol>
                <a:gridCol w="1149928">
                  <a:extLst>
                    <a:ext uri="{9D8B030D-6E8A-4147-A177-3AD203B41FA5}">
                      <a16:colId xmlns:a16="http://schemas.microsoft.com/office/drawing/2014/main" val="682526169"/>
                    </a:ext>
                  </a:extLst>
                </a:gridCol>
              </a:tblGrid>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007454"/>
                  </a:ext>
                </a:extLst>
              </a:tr>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359867"/>
                  </a:ext>
                </a:extLst>
              </a:tr>
            </a:tbl>
          </a:graphicData>
        </a:graphic>
      </p:graphicFrame>
      <p:sp>
        <p:nvSpPr>
          <p:cNvPr id="4" name="TextBox 3">
            <a:extLst>
              <a:ext uri="{FF2B5EF4-FFF2-40B4-BE49-F238E27FC236}">
                <a16:creationId xmlns:a16="http://schemas.microsoft.com/office/drawing/2014/main" id="{57DE08C5-3C7C-53A0-09BB-FA3B0E54DF52}"/>
              </a:ext>
            </a:extLst>
          </p:cNvPr>
          <p:cNvSpPr txBox="1"/>
          <p:nvPr/>
        </p:nvSpPr>
        <p:spPr>
          <a:xfrm>
            <a:off x="7782140" y="2756523"/>
            <a:ext cx="570990" cy="369332"/>
          </a:xfrm>
          <a:prstGeom prst="rect">
            <a:avLst/>
          </a:prstGeom>
          <a:noFill/>
        </p:spPr>
        <p:txBody>
          <a:bodyPr wrap="none" rtlCol="0">
            <a:spAutoFit/>
          </a:bodyPr>
          <a:lstStyle/>
          <a:p>
            <a:r>
              <a:rPr lang="en-US" dirty="0"/>
              <a:t>odd</a:t>
            </a:r>
          </a:p>
        </p:txBody>
      </p:sp>
      <p:sp>
        <p:nvSpPr>
          <p:cNvPr id="7" name="TextBox 6">
            <a:extLst>
              <a:ext uri="{FF2B5EF4-FFF2-40B4-BE49-F238E27FC236}">
                <a16:creationId xmlns:a16="http://schemas.microsoft.com/office/drawing/2014/main" id="{07EDBC07-6458-C9EA-AAA6-D6CAA7A72815}"/>
              </a:ext>
            </a:extLst>
          </p:cNvPr>
          <p:cNvSpPr txBox="1"/>
          <p:nvPr/>
        </p:nvSpPr>
        <p:spPr>
          <a:xfrm>
            <a:off x="7617030" y="3533083"/>
            <a:ext cx="736099" cy="369332"/>
          </a:xfrm>
          <a:prstGeom prst="rect">
            <a:avLst/>
          </a:prstGeom>
          <a:noFill/>
        </p:spPr>
        <p:txBody>
          <a:bodyPr wrap="none" rtlCol="0">
            <a:spAutoFit/>
          </a:bodyPr>
          <a:lstStyle/>
          <a:p>
            <a:r>
              <a:rPr lang="en-US" dirty="0">
                <a:sym typeface="Symbol" panose="05050102010706020507" pitchFamily="18" charset="2"/>
              </a:rPr>
              <a:t>odd</a:t>
            </a:r>
            <a:endParaRPr lang="en-US" dirty="0"/>
          </a:p>
        </p:txBody>
      </p:sp>
      <p:sp>
        <p:nvSpPr>
          <p:cNvPr id="10" name="TextBox 9">
            <a:extLst>
              <a:ext uri="{FF2B5EF4-FFF2-40B4-BE49-F238E27FC236}">
                <a16:creationId xmlns:a16="http://schemas.microsoft.com/office/drawing/2014/main" id="{01BCB8D1-655D-E61F-2B58-08653DBBEEF7}"/>
              </a:ext>
            </a:extLst>
          </p:cNvPr>
          <p:cNvSpPr txBox="1"/>
          <p:nvPr/>
        </p:nvSpPr>
        <p:spPr>
          <a:xfrm>
            <a:off x="8486180" y="2385682"/>
            <a:ext cx="764953" cy="369332"/>
          </a:xfrm>
          <a:prstGeom prst="rect">
            <a:avLst/>
          </a:prstGeom>
          <a:noFill/>
        </p:spPr>
        <p:txBody>
          <a:bodyPr wrap="none" rtlCol="0">
            <a:spAutoFit/>
          </a:bodyPr>
          <a:lstStyle/>
          <a:p>
            <a:r>
              <a:rPr lang="en-US" dirty="0"/>
              <a:t>prime</a:t>
            </a:r>
          </a:p>
        </p:txBody>
      </p:sp>
      <p:sp>
        <p:nvSpPr>
          <p:cNvPr id="13" name="TextBox 12">
            <a:extLst>
              <a:ext uri="{FF2B5EF4-FFF2-40B4-BE49-F238E27FC236}">
                <a16:creationId xmlns:a16="http://schemas.microsoft.com/office/drawing/2014/main" id="{98C0C954-7141-E161-17F4-E15F957F4C56}"/>
              </a:ext>
            </a:extLst>
          </p:cNvPr>
          <p:cNvSpPr txBox="1"/>
          <p:nvPr/>
        </p:nvSpPr>
        <p:spPr>
          <a:xfrm>
            <a:off x="9436289" y="2385682"/>
            <a:ext cx="976549" cy="369332"/>
          </a:xfrm>
          <a:prstGeom prst="rect">
            <a:avLst/>
          </a:prstGeom>
          <a:noFill/>
        </p:spPr>
        <p:txBody>
          <a:bodyPr wrap="none" rtlCol="0">
            <a:spAutoFit/>
          </a:bodyPr>
          <a:lstStyle/>
          <a:p>
            <a:r>
              <a:rPr lang="en-US" dirty="0">
                <a:sym typeface="Symbol" panose="05050102010706020507" pitchFamily="18" charset="2"/>
              </a:rPr>
              <a:t> prime</a:t>
            </a:r>
            <a:endParaRPr lang="en-US" dirty="0"/>
          </a:p>
        </p:txBody>
      </p:sp>
      <p:sp>
        <p:nvSpPr>
          <p:cNvPr id="17" name="TextBox 16">
            <a:extLst>
              <a:ext uri="{FF2B5EF4-FFF2-40B4-BE49-F238E27FC236}">
                <a16:creationId xmlns:a16="http://schemas.microsoft.com/office/drawing/2014/main" id="{84AA0163-B826-2298-FF5D-D74110D773A5}"/>
              </a:ext>
            </a:extLst>
          </p:cNvPr>
          <p:cNvSpPr txBox="1"/>
          <p:nvPr/>
        </p:nvSpPr>
        <p:spPr>
          <a:xfrm>
            <a:off x="8585887" y="2836665"/>
            <a:ext cx="510076" cy="369332"/>
          </a:xfrm>
          <a:prstGeom prst="rect">
            <a:avLst/>
          </a:prstGeom>
          <a:noFill/>
        </p:spPr>
        <p:txBody>
          <a:bodyPr wrap="none" rtlCol="0">
            <a:spAutoFit/>
          </a:bodyPr>
          <a:lstStyle/>
          <a:p>
            <a:r>
              <a:rPr lang="en-US" dirty="0">
                <a:solidFill>
                  <a:srgbClr val="0070C0"/>
                </a:solidFill>
              </a:rPr>
              <a:t>2/6</a:t>
            </a:r>
          </a:p>
        </p:txBody>
      </p:sp>
      <p:sp>
        <p:nvSpPr>
          <p:cNvPr id="25" name="TextBox 24">
            <a:extLst>
              <a:ext uri="{FF2B5EF4-FFF2-40B4-BE49-F238E27FC236}">
                <a16:creationId xmlns:a16="http://schemas.microsoft.com/office/drawing/2014/main" id="{D216C9CE-5EBA-B315-213F-6375EFE77519}"/>
              </a:ext>
            </a:extLst>
          </p:cNvPr>
          <p:cNvSpPr txBox="1"/>
          <p:nvPr/>
        </p:nvSpPr>
        <p:spPr>
          <a:xfrm>
            <a:off x="9768082" y="2826819"/>
            <a:ext cx="510076" cy="369332"/>
          </a:xfrm>
          <a:prstGeom prst="rect">
            <a:avLst/>
          </a:prstGeom>
          <a:noFill/>
        </p:spPr>
        <p:txBody>
          <a:bodyPr wrap="none" rtlCol="0">
            <a:spAutoFit/>
          </a:bodyPr>
          <a:lstStyle/>
          <a:p>
            <a:r>
              <a:rPr lang="en-US" dirty="0">
                <a:solidFill>
                  <a:srgbClr val="0070C0"/>
                </a:solidFill>
              </a:rPr>
              <a:t>1/6</a:t>
            </a:r>
          </a:p>
        </p:txBody>
      </p:sp>
      <p:sp>
        <p:nvSpPr>
          <p:cNvPr id="27" name="TextBox 26">
            <a:extLst>
              <a:ext uri="{FF2B5EF4-FFF2-40B4-BE49-F238E27FC236}">
                <a16:creationId xmlns:a16="http://schemas.microsoft.com/office/drawing/2014/main" id="{098F49DA-7810-464D-148D-F555F0C8BF3A}"/>
              </a:ext>
            </a:extLst>
          </p:cNvPr>
          <p:cNvSpPr txBox="1"/>
          <p:nvPr/>
        </p:nvSpPr>
        <p:spPr>
          <a:xfrm>
            <a:off x="8596870" y="3459445"/>
            <a:ext cx="510076" cy="369332"/>
          </a:xfrm>
          <a:prstGeom prst="rect">
            <a:avLst/>
          </a:prstGeom>
          <a:noFill/>
        </p:spPr>
        <p:txBody>
          <a:bodyPr wrap="none" rtlCol="0">
            <a:spAutoFit/>
          </a:bodyPr>
          <a:lstStyle/>
          <a:p>
            <a:r>
              <a:rPr lang="en-US" dirty="0">
                <a:solidFill>
                  <a:srgbClr val="0070C0"/>
                </a:solidFill>
              </a:rPr>
              <a:t>1/6</a:t>
            </a:r>
          </a:p>
        </p:txBody>
      </p:sp>
      <p:sp>
        <p:nvSpPr>
          <p:cNvPr id="29" name="TextBox 28">
            <a:extLst>
              <a:ext uri="{FF2B5EF4-FFF2-40B4-BE49-F238E27FC236}">
                <a16:creationId xmlns:a16="http://schemas.microsoft.com/office/drawing/2014/main" id="{533F1E09-333F-E39B-0988-839116EBD61F}"/>
              </a:ext>
            </a:extLst>
          </p:cNvPr>
          <p:cNvSpPr txBox="1"/>
          <p:nvPr/>
        </p:nvSpPr>
        <p:spPr>
          <a:xfrm>
            <a:off x="9768082" y="3459445"/>
            <a:ext cx="510076" cy="369332"/>
          </a:xfrm>
          <a:prstGeom prst="rect">
            <a:avLst/>
          </a:prstGeom>
          <a:noFill/>
        </p:spPr>
        <p:txBody>
          <a:bodyPr wrap="none" rtlCol="0">
            <a:spAutoFit/>
          </a:bodyPr>
          <a:lstStyle/>
          <a:p>
            <a:r>
              <a:rPr lang="en-US" dirty="0">
                <a:solidFill>
                  <a:srgbClr val="0070C0"/>
                </a:solidFill>
              </a:rPr>
              <a:t>2/6</a:t>
            </a:r>
          </a:p>
        </p:txBody>
      </p:sp>
      <p:sp>
        <p:nvSpPr>
          <p:cNvPr id="30" name="TextBox 29">
            <a:extLst>
              <a:ext uri="{FF2B5EF4-FFF2-40B4-BE49-F238E27FC236}">
                <a16:creationId xmlns:a16="http://schemas.microsoft.com/office/drawing/2014/main" id="{FDF9E54B-3500-246D-3160-FCD5D657B8C4}"/>
              </a:ext>
            </a:extLst>
          </p:cNvPr>
          <p:cNvSpPr txBox="1"/>
          <p:nvPr/>
        </p:nvSpPr>
        <p:spPr>
          <a:xfrm>
            <a:off x="10704984" y="2818893"/>
            <a:ext cx="510076" cy="369332"/>
          </a:xfrm>
          <a:prstGeom prst="rect">
            <a:avLst/>
          </a:prstGeom>
          <a:noFill/>
        </p:spPr>
        <p:txBody>
          <a:bodyPr wrap="none" rtlCol="0">
            <a:spAutoFit/>
          </a:bodyPr>
          <a:lstStyle/>
          <a:p>
            <a:r>
              <a:rPr lang="en-US" dirty="0">
                <a:solidFill>
                  <a:srgbClr val="0070C0"/>
                </a:solidFill>
              </a:rPr>
              <a:t>3/6</a:t>
            </a:r>
          </a:p>
        </p:txBody>
      </p:sp>
      <p:sp>
        <p:nvSpPr>
          <p:cNvPr id="31" name="TextBox 30">
            <a:extLst>
              <a:ext uri="{FF2B5EF4-FFF2-40B4-BE49-F238E27FC236}">
                <a16:creationId xmlns:a16="http://schemas.microsoft.com/office/drawing/2014/main" id="{B4A91F71-AFA3-7A9B-5C72-F11674624EE3}"/>
              </a:ext>
            </a:extLst>
          </p:cNvPr>
          <p:cNvSpPr txBox="1"/>
          <p:nvPr/>
        </p:nvSpPr>
        <p:spPr>
          <a:xfrm>
            <a:off x="10730572" y="3409467"/>
            <a:ext cx="510076" cy="369332"/>
          </a:xfrm>
          <a:prstGeom prst="rect">
            <a:avLst/>
          </a:prstGeom>
          <a:noFill/>
        </p:spPr>
        <p:txBody>
          <a:bodyPr wrap="none" rtlCol="0">
            <a:spAutoFit/>
          </a:bodyPr>
          <a:lstStyle/>
          <a:p>
            <a:r>
              <a:rPr lang="en-US" dirty="0">
                <a:solidFill>
                  <a:srgbClr val="0070C0"/>
                </a:solidFill>
              </a:rPr>
              <a:t>3/6</a:t>
            </a:r>
          </a:p>
        </p:txBody>
      </p:sp>
      <p:sp>
        <p:nvSpPr>
          <p:cNvPr id="32" name="TextBox 31">
            <a:extLst>
              <a:ext uri="{FF2B5EF4-FFF2-40B4-BE49-F238E27FC236}">
                <a16:creationId xmlns:a16="http://schemas.microsoft.com/office/drawing/2014/main" id="{13089075-A89E-160D-1D11-49AD678B92A4}"/>
              </a:ext>
            </a:extLst>
          </p:cNvPr>
          <p:cNvSpPr txBox="1"/>
          <p:nvPr/>
        </p:nvSpPr>
        <p:spPr>
          <a:xfrm>
            <a:off x="8585887" y="4010556"/>
            <a:ext cx="510076" cy="369332"/>
          </a:xfrm>
          <a:prstGeom prst="rect">
            <a:avLst/>
          </a:prstGeom>
          <a:noFill/>
        </p:spPr>
        <p:txBody>
          <a:bodyPr wrap="none" rtlCol="0">
            <a:spAutoFit/>
          </a:bodyPr>
          <a:lstStyle/>
          <a:p>
            <a:r>
              <a:rPr lang="en-US" dirty="0"/>
              <a:t>3/6</a:t>
            </a:r>
          </a:p>
        </p:txBody>
      </p:sp>
      <p:sp>
        <p:nvSpPr>
          <p:cNvPr id="33" name="TextBox 32">
            <a:extLst>
              <a:ext uri="{FF2B5EF4-FFF2-40B4-BE49-F238E27FC236}">
                <a16:creationId xmlns:a16="http://schemas.microsoft.com/office/drawing/2014/main" id="{93763806-C12D-0948-456E-6AB9E084278B}"/>
              </a:ext>
            </a:extLst>
          </p:cNvPr>
          <p:cNvSpPr txBox="1"/>
          <p:nvPr/>
        </p:nvSpPr>
        <p:spPr>
          <a:xfrm>
            <a:off x="9768082" y="4010773"/>
            <a:ext cx="510076" cy="369332"/>
          </a:xfrm>
          <a:prstGeom prst="rect">
            <a:avLst/>
          </a:prstGeom>
          <a:noFill/>
        </p:spPr>
        <p:txBody>
          <a:bodyPr wrap="none" rtlCol="0">
            <a:spAutoFit/>
          </a:bodyPr>
          <a:lstStyle/>
          <a:p>
            <a:r>
              <a:rPr lang="en-US" dirty="0"/>
              <a:t>3/6</a:t>
            </a:r>
          </a:p>
        </p:txBody>
      </p:sp>
      <p:cxnSp>
        <p:nvCxnSpPr>
          <p:cNvPr id="41" name="Straight Connector 40">
            <a:extLst>
              <a:ext uri="{FF2B5EF4-FFF2-40B4-BE49-F238E27FC236}">
                <a16:creationId xmlns:a16="http://schemas.microsoft.com/office/drawing/2014/main" id="{EBE588D4-1227-C057-71BF-5C2E999E6FF5}"/>
              </a:ext>
            </a:extLst>
          </p:cNvPr>
          <p:cNvCxnSpPr/>
          <p:nvPr/>
        </p:nvCxnSpPr>
        <p:spPr>
          <a:xfrm flipH="1" flipV="1">
            <a:off x="7984182" y="2536859"/>
            <a:ext cx="368947" cy="2181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887BC4F8-5E5F-27A0-928C-E22CFC35F8EA}"/>
              </a:ext>
            </a:extLst>
          </p:cNvPr>
          <p:cNvSpPr txBox="1"/>
          <p:nvPr/>
        </p:nvSpPr>
        <p:spPr>
          <a:xfrm rot="16200000">
            <a:off x="7148944" y="2479621"/>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46" name="TextBox 45">
            <a:extLst>
              <a:ext uri="{FF2B5EF4-FFF2-40B4-BE49-F238E27FC236}">
                <a16:creationId xmlns:a16="http://schemas.microsoft.com/office/drawing/2014/main" id="{9C1CC495-6AFF-68CF-91B7-536C334BA773}"/>
              </a:ext>
            </a:extLst>
          </p:cNvPr>
          <p:cNvSpPr txBox="1"/>
          <p:nvPr/>
        </p:nvSpPr>
        <p:spPr>
          <a:xfrm>
            <a:off x="8660884" y="2030377"/>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47" name="Oval 46">
            <a:extLst>
              <a:ext uri="{FF2B5EF4-FFF2-40B4-BE49-F238E27FC236}">
                <a16:creationId xmlns:a16="http://schemas.microsoft.com/office/drawing/2014/main" id="{4670042A-ED92-EBF1-15FD-7F168273FB0D}"/>
              </a:ext>
            </a:extLst>
          </p:cNvPr>
          <p:cNvSpPr/>
          <p:nvPr/>
        </p:nvSpPr>
        <p:spPr>
          <a:xfrm>
            <a:off x="8515932" y="2717478"/>
            <a:ext cx="709036" cy="674784"/>
          </a:xfrm>
          <a:prstGeom prst="ellipse">
            <a:avLst/>
          </a:prstGeom>
          <a:noFill/>
          <a:ln w="19050">
            <a:solidFill>
              <a:srgbClr val="FF0000"/>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documentclass{article}&#10;\usepackage{amsmath}&#10;\pagestyle{empty}&#10;\begin{document}&#10;&#10;$P(prime|odd) = \frac{P(odd|prime)P(prime)}{P(odd)} = \frac{1*2/6}{3/6} = \frac{2}{3}$&#10;&#10;\end{document}" title="IguanaTex Bitmap Display">
            <a:extLst>
              <a:ext uri="{FF2B5EF4-FFF2-40B4-BE49-F238E27FC236}">
                <a16:creationId xmlns:a16="http://schemas.microsoft.com/office/drawing/2014/main" id="{A0890579-1A9F-15B1-29F6-82E395D099BE}"/>
              </a:ext>
            </a:extLst>
          </p:cNvPr>
          <p:cNvPicPr>
            <a:picLocks noChangeAspect="1"/>
          </p:cNvPicPr>
          <p:nvPr>
            <p:custDataLst>
              <p:tags r:id="rId3"/>
            </p:custDataLst>
          </p:nvPr>
        </p:nvPicPr>
        <p:blipFill>
          <a:blip r:embed="rId8"/>
          <a:stretch>
            <a:fillRect/>
          </a:stretch>
        </p:blipFill>
        <p:spPr>
          <a:xfrm>
            <a:off x="7427735" y="5019630"/>
            <a:ext cx="4295097" cy="369333"/>
          </a:xfrm>
          <a:prstGeom prst="rect">
            <a:avLst/>
          </a:prstGeom>
        </p:spPr>
      </p:pic>
      <p:pic>
        <p:nvPicPr>
          <p:cNvPr id="67" name="Picture 66" descr="\documentclass{article}&#10;\usepackage{amsmath,mdframed}&#10;\pagestyle{empty}&#10;\begin{document}&#10;\begin{mdframed}[leftmargin=50pt, rightmargin=60pt, &#10;innertopmargin=5pt,innerbottommargin=5pt,skipabove=0pt, skipbelow=0pt]&#10;$P(A_i|B_j) = \frac{P(A_i \land B_j)}{\sum_{k}P(A_k\land B_j)} \text { where } \sum_k P(A_k) = 1$&#10;\end{mdframed}&#10;\end{document}" title="IguanaTex Bitmap Display">
            <a:extLst>
              <a:ext uri="{FF2B5EF4-FFF2-40B4-BE49-F238E27FC236}">
                <a16:creationId xmlns:a16="http://schemas.microsoft.com/office/drawing/2014/main" id="{026ADA5E-9E67-C9C3-07A3-BBC393E3978F}"/>
              </a:ext>
            </a:extLst>
          </p:cNvPr>
          <p:cNvPicPr>
            <a:picLocks noChangeAspect="1"/>
          </p:cNvPicPr>
          <p:nvPr>
            <p:custDataLst>
              <p:tags r:id="rId4"/>
            </p:custDataLst>
          </p:nvPr>
        </p:nvPicPr>
        <p:blipFill>
          <a:blip r:embed="rId9"/>
          <a:stretch>
            <a:fillRect/>
          </a:stretch>
        </p:blipFill>
        <p:spPr>
          <a:xfrm>
            <a:off x="731984" y="6022570"/>
            <a:ext cx="6990989" cy="756265"/>
          </a:xfrm>
          <a:prstGeom prst="rect">
            <a:avLst/>
          </a:prstGeom>
        </p:spPr>
      </p:pic>
      <p:sp>
        <p:nvSpPr>
          <p:cNvPr id="37" name="TextBox 36">
            <a:extLst>
              <a:ext uri="{FF2B5EF4-FFF2-40B4-BE49-F238E27FC236}">
                <a16:creationId xmlns:a16="http://schemas.microsoft.com/office/drawing/2014/main" id="{1993859C-996A-02CB-2587-E19E9E3AEC72}"/>
              </a:ext>
            </a:extLst>
          </p:cNvPr>
          <p:cNvSpPr txBox="1"/>
          <p:nvPr/>
        </p:nvSpPr>
        <p:spPr>
          <a:xfrm>
            <a:off x="432550" y="5677681"/>
            <a:ext cx="4700839" cy="369332"/>
          </a:xfrm>
          <a:prstGeom prst="rect">
            <a:avLst/>
          </a:prstGeom>
          <a:noFill/>
        </p:spPr>
        <p:txBody>
          <a:bodyPr wrap="none" rtlCol="0">
            <a:spAutoFit/>
          </a:bodyPr>
          <a:lstStyle/>
          <a:p>
            <a:r>
              <a:rPr lang="en-US" dirty="0"/>
              <a:t>Generalization to categorical events/features:</a:t>
            </a:r>
          </a:p>
        </p:txBody>
      </p:sp>
    </p:spTree>
    <p:extLst>
      <p:ext uri="{BB962C8B-B14F-4D97-AF65-F5344CB8AC3E}">
        <p14:creationId xmlns:p14="http://schemas.microsoft.com/office/powerpoint/2010/main" val="975611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0A943D73-1ADC-5582-ADEA-B6D22015E9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B2981AA-099B-8203-D606-7E4FCDE6F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B66BEEA1-44F3-5DAF-80CB-2EA8A3538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28018F38-5462-E872-C771-FAC49EED2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5C7FB2F-1A62-E947-643C-912010AA1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7A4C034-E7C0-2E12-52D0-EB7DF1B36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F1451C5-94A8-E45B-1460-C0C016E64452}"/>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Bayes’ rule: classical example</a:t>
            </a:r>
          </a:p>
        </p:txBody>
      </p:sp>
      <p:sp>
        <p:nvSpPr>
          <p:cNvPr id="9" name="TextBox 8">
            <a:extLst>
              <a:ext uri="{FF2B5EF4-FFF2-40B4-BE49-F238E27FC236}">
                <a16:creationId xmlns:a16="http://schemas.microsoft.com/office/drawing/2014/main" id="{B564E546-7406-BEA5-D678-42A81497EDD3}"/>
              </a:ext>
            </a:extLst>
          </p:cNvPr>
          <p:cNvSpPr txBox="1"/>
          <p:nvPr/>
        </p:nvSpPr>
        <p:spPr>
          <a:xfrm>
            <a:off x="190565" y="2541046"/>
            <a:ext cx="6494150" cy="1477328"/>
          </a:xfrm>
          <a:prstGeom prst="rect">
            <a:avLst/>
          </a:prstGeom>
          <a:noFill/>
        </p:spPr>
        <p:txBody>
          <a:bodyPr wrap="none" rtlCol="0">
            <a:spAutoFit/>
          </a:bodyPr>
          <a:lstStyle/>
          <a:p>
            <a:pPr algn="l"/>
            <a:r>
              <a:rPr lang="en-US" dirty="0"/>
              <a:t>80% of people are allergic to cats. </a:t>
            </a:r>
          </a:p>
          <a:p>
            <a:pPr algn="l"/>
            <a:r>
              <a:rPr lang="en-US" dirty="0"/>
              <a:t>90% of people with cat allergies sneeze if a cat enters the room.</a:t>
            </a:r>
            <a:br>
              <a:rPr lang="en-US" dirty="0"/>
            </a:br>
            <a:r>
              <a:rPr lang="en-US" dirty="0"/>
              <a:t>Only 25% of people without cat allergies would sneeze. </a:t>
            </a:r>
            <a:br>
              <a:rPr lang="en-US" dirty="0"/>
            </a:br>
            <a:r>
              <a:rPr lang="en-US" dirty="0"/>
              <a:t>A cat enters the room and I sneeze. </a:t>
            </a:r>
            <a:br>
              <a:rPr lang="en-US" dirty="0"/>
            </a:br>
            <a:r>
              <a:rPr lang="en-US" dirty="0"/>
              <a:t>What is the probability that I am allergic to cats?</a:t>
            </a:r>
          </a:p>
        </p:txBody>
      </p:sp>
      <p:graphicFrame>
        <p:nvGraphicFramePr>
          <p:cNvPr id="12" name="Table 11">
            <a:extLst>
              <a:ext uri="{FF2B5EF4-FFF2-40B4-BE49-F238E27FC236}">
                <a16:creationId xmlns:a16="http://schemas.microsoft.com/office/drawing/2014/main" id="{EF19CB56-0612-9275-D9DE-FAC3A151CC79}"/>
              </a:ext>
            </a:extLst>
          </p:cNvPr>
          <p:cNvGraphicFramePr>
            <a:graphicFrameLocks noGrp="1"/>
          </p:cNvGraphicFramePr>
          <p:nvPr>
            <p:extLst>
              <p:ext uri="{D42A27DB-BD31-4B8C-83A1-F6EECF244321}">
                <p14:modId xmlns:p14="http://schemas.microsoft.com/office/powerpoint/2010/main" val="2458297388"/>
              </p:ext>
            </p:extLst>
          </p:nvPr>
        </p:nvGraphicFramePr>
        <p:xfrm>
          <a:off x="8171022" y="2725711"/>
          <a:ext cx="2299856" cy="1235016"/>
        </p:xfrm>
        <a:graphic>
          <a:graphicData uri="http://schemas.openxmlformats.org/drawingml/2006/table">
            <a:tbl>
              <a:tblPr bandRow="1">
                <a:tableStyleId>{2D5ABB26-0587-4C30-8999-92F81FD0307C}</a:tableStyleId>
              </a:tblPr>
              <a:tblGrid>
                <a:gridCol w="1149928">
                  <a:extLst>
                    <a:ext uri="{9D8B030D-6E8A-4147-A177-3AD203B41FA5}">
                      <a16:colId xmlns:a16="http://schemas.microsoft.com/office/drawing/2014/main" val="2785513782"/>
                    </a:ext>
                  </a:extLst>
                </a:gridCol>
                <a:gridCol w="1149928">
                  <a:extLst>
                    <a:ext uri="{9D8B030D-6E8A-4147-A177-3AD203B41FA5}">
                      <a16:colId xmlns:a16="http://schemas.microsoft.com/office/drawing/2014/main" val="682526169"/>
                    </a:ext>
                  </a:extLst>
                </a:gridCol>
              </a:tblGrid>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007454"/>
                  </a:ext>
                </a:extLst>
              </a:tr>
              <a:tr h="61750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0359867"/>
                  </a:ext>
                </a:extLst>
              </a:tr>
            </a:tbl>
          </a:graphicData>
        </a:graphic>
      </p:graphicFrame>
      <p:sp>
        <p:nvSpPr>
          <p:cNvPr id="17" name="TextBox 16">
            <a:extLst>
              <a:ext uri="{FF2B5EF4-FFF2-40B4-BE49-F238E27FC236}">
                <a16:creationId xmlns:a16="http://schemas.microsoft.com/office/drawing/2014/main" id="{866D4902-465E-702B-F061-C4FC017ADB7C}"/>
              </a:ext>
            </a:extLst>
          </p:cNvPr>
          <p:cNvSpPr txBox="1"/>
          <p:nvPr/>
        </p:nvSpPr>
        <p:spPr>
          <a:xfrm>
            <a:off x="7210502" y="2807363"/>
            <a:ext cx="909993" cy="369332"/>
          </a:xfrm>
          <a:prstGeom prst="rect">
            <a:avLst/>
          </a:prstGeom>
          <a:noFill/>
        </p:spPr>
        <p:txBody>
          <a:bodyPr wrap="none" rtlCol="0">
            <a:spAutoFit/>
          </a:bodyPr>
          <a:lstStyle/>
          <a:p>
            <a:r>
              <a:rPr lang="en-US" dirty="0"/>
              <a:t>allergic</a:t>
            </a:r>
          </a:p>
        </p:txBody>
      </p:sp>
      <p:sp>
        <p:nvSpPr>
          <p:cNvPr id="18" name="TextBox 17">
            <a:extLst>
              <a:ext uri="{FF2B5EF4-FFF2-40B4-BE49-F238E27FC236}">
                <a16:creationId xmlns:a16="http://schemas.microsoft.com/office/drawing/2014/main" id="{F549A9BD-0A57-8D70-C956-4063853BAD25}"/>
              </a:ext>
            </a:extLst>
          </p:cNvPr>
          <p:cNvSpPr txBox="1"/>
          <p:nvPr/>
        </p:nvSpPr>
        <p:spPr>
          <a:xfrm>
            <a:off x="7083636" y="3489191"/>
            <a:ext cx="1075103" cy="369332"/>
          </a:xfrm>
          <a:prstGeom prst="rect">
            <a:avLst/>
          </a:prstGeom>
          <a:noFill/>
        </p:spPr>
        <p:txBody>
          <a:bodyPr wrap="none" rtlCol="0">
            <a:spAutoFit/>
          </a:bodyPr>
          <a:lstStyle/>
          <a:p>
            <a:r>
              <a:rPr lang="en-US" dirty="0">
                <a:sym typeface="Symbol" panose="05050102010706020507" pitchFamily="18" charset="2"/>
              </a:rPr>
              <a:t>allergic</a:t>
            </a:r>
            <a:endParaRPr lang="en-US" dirty="0"/>
          </a:p>
        </p:txBody>
      </p:sp>
      <p:sp>
        <p:nvSpPr>
          <p:cNvPr id="19" name="TextBox 18">
            <a:extLst>
              <a:ext uri="{FF2B5EF4-FFF2-40B4-BE49-F238E27FC236}">
                <a16:creationId xmlns:a16="http://schemas.microsoft.com/office/drawing/2014/main" id="{B3EAB31F-C606-813D-2CFD-06884F8AB92B}"/>
              </a:ext>
            </a:extLst>
          </p:cNvPr>
          <p:cNvSpPr txBox="1"/>
          <p:nvPr/>
        </p:nvSpPr>
        <p:spPr>
          <a:xfrm>
            <a:off x="8304071" y="2356380"/>
            <a:ext cx="883383" cy="369332"/>
          </a:xfrm>
          <a:prstGeom prst="rect">
            <a:avLst/>
          </a:prstGeom>
          <a:noFill/>
        </p:spPr>
        <p:txBody>
          <a:bodyPr wrap="none" rtlCol="0">
            <a:spAutoFit/>
          </a:bodyPr>
          <a:lstStyle/>
          <a:p>
            <a:r>
              <a:rPr lang="en-US" dirty="0"/>
              <a:t>sneeze</a:t>
            </a:r>
          </a:p>
        </p:txBody>
      </p:sp>
      <p:sp>
        <p:nvSpPr>
          <p:cNvPr id="20" name="TextBox 19">
            <a:extLst>
              <a:ext uri="{FF2B5EF4-FFF2-40B4-BE49-F238E27FC236}">
                <a16:creationId xmlns:a16="http://schemas.microsoft.com/office/drawing/2014/main" id="{791F100A-5799-4CDB-E9E1-3FFA14E10666}"/>
              </a:ext>
            </a:extLst>
          </p:cNvPr>
          <p:cNvSpPr txBox="1"/>
          <p:nvPr/>
        </p:nvSpPr>
        <p:spPr>
          <a:xfrm>
            <a:off x="9254180" y="2356380"/>
            <a:ext cx="1094980" cy="369332"/>
          </a:xfrm>
          <a:prstGeom prst="rect">
            <a:avLst/>
          </a:prstGeom>
          <a:noFill/>
        </p:spPr>
        <p:txBody>
          <a:bodyPr wrap="none" rtlCol="0">
            <a:spAutoFit/>
          </a:bodyPr>
          <a:lstStyle/>
          <a:p>
            <a:r>
              <a:rPr lang="en-US" dirty="0">
                <a:sym typeface="Symbol" panose="05050102010706020507" pitchFamily="18" charset="2"/>
              </a:rPr>
              <a:t> sneeze</a:t>
            </a:r>
            <a:endParaRPr lang="en-US" dirty="0"/>
          </a:p>
        </p:txBody>
      </p:sp>
      <p:sp>
        <p:nvSpPr>
          <p:cNvPr id="25" name="TextBox 24">
            <a:extLst>
              <a:ext uri="{FF2B5EF4-FFF2-40B4-BE49-F238E27FC236}">
                <a16:creationId xmlns:a16="http://schemas.microsoft.com/office/drawing/2014/main" id="{DABF26EF-3837-1AF5-C6E8-68E5E935DC4E}"/>
              </a:ext>
            </a:extLst>
          </p:cNvPr>
          <p:cNvSpPr txBox="1"/>
          <p:nvPr/>
        </p:nvSpPr>
        <p:spPr>
          <a:xfrm>
            <a:off x="10522875" y="2789591"/>
            <a:ext cx="620683" cy="369332"/>
          </a:xfrm>
          <a:prstGeom prst="rect">
            <a:avLst/>
          </a:prstGeom>
          <a:noFill/>
        </p:spPr>
        <p:txBody>
          <a:bodyPr wrap="none" rtlCol="0">
            <a:spAutoFit/>
          </a:bodyPr>
          <a:lstStyle/>
          <a:p>
            <a:r>
              <a:rPr lang="en-US" dirty="0">
                <a:solidFill>
                  <a:srgbClr val="0070C0"/>
                </a:solidFill>
              </a:rPr>
              <a:t>0.80</a:t>
            </a:r>
          </a:p>
        </p:txBody>
      </p:sp>
      <p:sp>
        <p:nvSpPr>
          <p:cNvPr id="26" name="TextBox 25">
            <a:extLst>
              <a:ext uri="{FF2B5EF4-FFF2-40B4-BE49-F238E27FC236}">
                <a16:creationId xmlns:a16="http://schemas.microsoft.com/office/drawing/2014/main" id="{F31451CB-8F9E-66B5-5B2B-A3367D8F01F1}"/>
              </a:ext>
            </a:extLst>
          </p:cNvPr>
          <p:cNvSpPr txBox="1"/>
          <p:nvPr/>
        </p:nvSpPr>
        <p:spPr>
          <a:xfrm>
            <a:off x="10521405" y="3489191"/>
            <a:ext cx="620683" cy="369332"/>
          </a:xfrm>
          <a:prstGeom prst="rect">
            <a:avLst/>
          </a:prstGeom>
          <a:noFill/>
        </p:spPr>
        <p:txBody>
          <a:bodyPr wrap="none" rtlCol="0">
            <a:spAutoFit/>
          </a:bodyPr>
          <a:lstStyle/>
          <a:p>
            <a:r>
              <a:rPr lang="en-US" dirty="0">
                <a:solidFill>
                  <a:srgbClr val="0070C0"/>
                </a:solidFill>
              </a:rPr>
              <a:t>0.20</a:t>
            </a:r>
          </a:p>
        </p:txBody>
      </p:sp>
      <p:cxnSp>
        <p:nvCxnSpPr>
          <p:cNvPr id="29" name="Straight Connector 28">
            <a:extLst>
              <a:ext uri="{FF2B5EF4-FFF2-40B4-BE49-F238E27FC236}">
                <a16:creationId xmlns:a16="http://schemas.microsoft.com/office/drawing/2014/main" id="{FFA7196A-D607-DFC3-4129-451AAEC031E3}"/>
              </a:ext>
            </a:extLst>
          </p:cNvPr>
          <p:cNvCxnSpPr/>
          <p:nvPr/>
        </p:nvCxnSpPr>
        <p:spPr>
          <a:xfrm flipH="1" flipV="1">
            <a:off x="7802073" y="2507557"/>
            <a:ext cx="368947" cy="2181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B181D728-E5AE-0BCD-416D-47678376FD1B}"/>
              </a:ext>
            </a:extLst>
          </p:cNvPr>
          <p:cNvSpPr txBox="1"/>
          <p:nvPr/>
        </p:nvSpPr>
        <p:spPr>
          <a:xfrm>
            <a:off x="8592950" y="2807363"/>
            <a:ext cx="287258" cy="369332"/>
          </a:xfrm>
          <a:prstGeom prst="rect">
            <a:avLst/>
          </a:prstGeom>
          <a:noFill/>
        </p:spPr>
        <p:txBody>
          <a:bodyPr wrap="none" rtlCol="0">
            <a:spAutoFit/>
          </a:bodyPr>
          <a:lstStyle/>
          <a:p>
            <a:pPr algn="l"/>
            <a:r>
              <a:rPr lang="en-US" dirty="0"/>
              <a:t>x</a:t>
            </a:r>
          </a:p>
        </p:txBody>
      </p:sp>
      <p:sp>
        <p:nvSpPr>
          <p:cNvPr id="34" name="TextBox 33">
            <a:extLst>
              <a:ext uri="{FF2B5EF4-FFF2-40B4-BE49-F238E27FC236}">
                <a16:creationId xmlns:a16="http://schemas.microsoft.com/office/drawing/2014/main" id="{569F0954-F45E-E2DF-9CD5-51E0322DE20E}"/>
              </a:ext>
            </a:extLst>
          </p:cNvPr>
          <p:cNvSpPr txBox="1"/>
          <p:nvPr/>
        </p:nvSpPr>
        <p:spPr>
          <a:xfrm>
            <a:off x="9445499" y="2800360"/>
            <a:ext cx="936475" cy="369332"/>
          </a:xfrm>
          <a:prstGeom prst="rect">
            <a:avLst/>
          </a:prstGeom>
          <a:noFill/>
        </p:spPr>
        <p:txBody>
          <a:bodyPr wrap="none" rtlCol="0">
            <a:spAutoFit/>
          </a:bodyPr>
          <a:lstStyle/>
          <a:p>
            <a:pPr algn="l"/>
            <a:r>
              <a:rPr lang="en-US" dirty="0"/>
              <a:t>(0.80-x)</a:t>
            </a:r>
          </a:p>
        </p:txBody>
      </p:sp>
      <p:sp>
        <p:nvSpPr>
          <p:cNvPr id="35" name="TextBox 34">
            <a:extLst>
              <a:ext uri="{FF2B5EF4-FFF2-40B4-BE49-F238E27FC236}">
                <a16:creationId xmlns:a16="http://schemas.microsoft.com/office/drawing/2014/main" id="{D6F0EAE6-A9B1-D106-793C-AD9E59A90C98}"/>
              </a:ext>
            </a:extLst>
          </p:cNvPr>
          <p:cNvSpPr txBox="1"/>
          <p:nvPr/>
        </p:nvSpPr>
        <p:spPr>
          <a:xfrm>
            <a:off x="8620917" y="3438036"/>
            <a:ext cx="288862" cy="369332"/>
          </a:xfrm>
          <a:prstGeom prst="rect">
            <a:avLst/>
          </a:prstGeom>
          <a:noFill/>
        </p:spPr>
        <p:txBody>
          <a:bodyPr wrap="none" rtlCol="0">
            <a:spAutoFit/>
          </a:bodyPr>
          <a:lstStyle/>
          <a:p>
            <a:pPr algn="l"/>
            <a:r>
              <a:rPr lang="en-US" dirty="0"/>
              <a:t>y</a:t>
            </a:r>
          </a:p>
        </p:txBody>
      </p:sp>
      <p:sp>
        <p:nvSpPr>
          <p:cNvPr id="36" name="TextBox 35">
            <a:extLst>
              <a:ext uri="{FF2B5EF4-FFF2-40B4-BE49-F238E27FC236}">
                <a16:creationId xmlns:a16="http://schemas.microsoft.com/office/drawing/2014/main" id="{92D3048A-09E3-09A8-6E15-8FC4D3AB3B09}"/>
              </a:ext>
            </a:extLst>
          </p:cNvPr>
          <p:cNvSpPr txBox="1"/>
          <p:nvPr/>
        </p:nvSpPr>
        <p:spPr>
          <a:xfrm>
            <a:off x="9459148" y="3445039"/>
            <a:ext cx="938077" cy="369332"/>
          </a:xfrm>
          <a:prstGeom prst="rect">
            <a:avLst/>
          </a:prstGeom>
          <a:noFill/>
        </p:spPr>
        <p:txBody>
          <a:bodyPr wrap="none" rtlCol="0">
            <a:spAutoFit/>
          </a:bodyPr>
          <a:lstStyle/>
          <a:p>
            <a:pPr algn="l"/>
            <a:r>
              <a:rPr lang="en-US" dirty="0"/>
              <a:t>(0.20-y)</a:t>
            </a:r>
          </a:p>
        </p:txBody>
      </p:sp>
      <p:pic>
        <p:nvPicPr>
          <p:cNvPr id="47" name="Picture 46" descr="\documentclass{article}&#10;\usepackage{amsmath}&#10;\pagestyle{empty}&#10;\begin{document}&#10;&#10;\begin{align*}&#10;&amp;\frac{x}{0.80} = 0.90 \implies x = 0.72 \\&#10;&amp;\frac{y}{0.20} = 0.25 \implies y = 0.05 \\&#10;&amp;P(allergic|sneeze) = \frac{x}{(x+y)} = \frac{0.72}{0.77} = 0.935&#10;\end{align*}&#10;&#10;\end{document}" title="IguanaTex Bitmap Display">
            <a:extLst>
              <a:ext uri="{FF2B5EF4-FFF2-40B4-BE49-F238E27FC236}">
                <a16:creationId xmlns:a16="http://schemas.microsoft.com/office/drawing/2014/main" id="{5420EEC4-E7AD-D57F-C678-9D464A3053DE}"/>
              </a:ext>
            </a:extLst>
          </p:cNvPr>
          <p:cNvPicPr>
            <a:picLocks noChangeAspect="1"/>
          </p:cNvPicPr>
          <p:nvPr>
            <p:custDataLst>
              <p:tags r:id="rId1"/>
            </p:custDataLst>
          </p:nvPr>
        </p:nvPicPr>
        <p:blipFill>
          <a:blip r:embed="rId3"/>
          <a:stretch>
            <a:fillRect/>
          </a:stretch>
        </p:blipFill>
        <p:spPr>
          <a:xfrm>
            <a:off x="7665498" y="4437110"/>
            <a:ext cx="3645862" cy="1227144"/>
          </a:xfrm>
          <a:prstGeom prst="rect">
            <a:avLst/>
          </a:prstGeom>
        </p:spPr>
      </p:pic>
      <p:sp>
        <p:nvSpPr>
          <p:cNvPr id="48" name="TextBox 47">
            <a:extLst>
              <a:ext uri="{FF2B5EF4-FFF2-40B4-BE49-F238E27FC236}">
                <a16:creationId xmlns:a16="http://schemas.microsoft.com/office/drawing/2014/main" id="{64FE2198-CBCC-6500-9FAD-4157900235BF}"/>
              </a:ext>
            </a:extLst>
          </p:cNvPr>
          <p:cNvSpPr txBox="1"/>
          <p:nvPr/>
        </p:nvSpPr>
        <p:spPr>
          <a:xfrm>
            <a:off x="190565" y="4252444"/>
            <a:ext cx="6341351" cy="1477328"/>
          </a:xfrm>
          <a:prstGeom prst="rect">
            <a:avLst/>
          </a:prstGeom>
          <a:noFill/>
        </p:spPr>
        <p:txBody>
          <a:bodyPr wrap="none" rtlCol="0">
            <a:spAutoFit/>
          </a:bodyPr>
          <a:lstStyle/>
          <a:p>
            <a:pPr algn="l"/>
            <a:r>
              <a:rPr lang="en-US" dirty="0"/>
              <a:t>Prior = 80%, posterior = 93.5% </a:t>
            </a:r>
          </a:p>
          <a:p>
            <a:pPr algn="l"/>
            <a:r>
              <a:rPr lang="en-US" dirty="0"/>
              <a:t>Evidence increases probability I am allergic to cats.</a:t>
            </a:r>
          </a:p>
          <a:p>
            <a:pPr algn="l"/>
            <a:endParaRPr lang="en-US" dirty="0"/>
          </a:p>
          <a:p>
            <a:pPr algn="l"/>
            <a:r>
              <a:rPr lang="en-US" dirty="0"/>
              <a:t>What if 90% of people without cat allergies would sneeze?</a:t>
            </a:r>
            <a:br>
              <a:rPr lang="en-US" dirty="0"/>
            </a:br>
            <a:r>
              <a:rPr lang="en-US" dirty="0"/>
              <a:t>Show that posterior = prior since intuitively, event is irrelevant. </a:t>
            </a:r>
          </a:p>
        </p:txBody>
      </p:sp>
    </p:spTree>
    <p:extLst>
      <p:ext uri="{BB962C8B-B14F-4D97-AF65-F5344CB8AC3E}">
        <p14:creationId xmlns:p14="http://schemas.microsoft.com/office/powerpoint/2010/main" val="991842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9965A-6C7C-4B78-819E-7B35DBB7721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4763594-3D6A-4CB2-9884-8AB7A73E5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BA617DF1-91A5-2E51-2986-145FD2C91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3A62059-8C86-099E-8984-2EF8EDEBA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0AC6E0A7-0426-1E79-C2CC-90CCF3C5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4D3F0CA8-9948-B0F5-8EC9-E3CD9D4F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ACD05BA5-3270-BB80-DFD1-04CF73DB4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E9EAEA1A-A9AE-0072-FDCF-1C3A9A239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F921352-61D0-8793-2CC9-83B90FD561CF}"/>
              </a:ext>
            </a:extLst>
          </p:cNvPr>
          <p:cNvSpPr>
            <a:spLocks noGrp="1"/>
          </p:cNvSpPr>
          <p:nvPr>
            <p:ph type="title"/>
          </p:nvPr>
        </p:nvSpPr>
        <p:spPr>
          <a:xfrm>
            <a:off x="1748397" y="1527362"/>
            <a:ext cx="8147713" cy="3081242"/>
          </a:xfrm>
        </p:spPr>
        <p:txBody>
          <a:bodyPr vert="horz" lIns="91440" tIns="45720" rIns="91440" bIns="45720" rtlCol="0" anchor="ctr">
            <a:normAutofit/>
          </a:bodyPr>
          <a:lstStyle/>
          <a:p>
            <a:pPr algn="ctr"/>
            <a:r>
              <a:rPr lang="en-US" sz="4800" dirty="0">
                <a:solidFill>
                  <a:srgbClr val="FFFFFF"/>
                </a:solidFill>
              </a:rPr>
              <a:t>Applications </a:t>
            </a:r>
            <a:br>
              <a:rPr lang="en-US" sz="4800" dirty="0">
                <a:solidFill>
                  <a:srgbClr val="FFFFFF"/>
                </a:solidFill>
              </a:rPr>
            </a:br>
            <a:r>
              <a:rPr lang="en-US" sz="4800" dirty="0">
                <a:solidFill>
                  <a:srgbClr val="FFFFFF"/>
                </a:solidFill>
              </a:rPr>
              <a:t>of </a:t>
            </a:r>
            <a:br>
              <a:rPr lang="en-US" sz="4800" dirty="0">
                <a:solidFill>
                  <a:srgbClr val="FFFFFF"/>
                </a:solidFill>
              </a:rPr>
            </a:br>
            <a:r>
              <a:rPr lang="en-US" sz="4800" dirty="0">
                <a:solidFill>
                  <a:srgbClr val="FFFFFF"/>
                </a:solidFill>
              </a:rPr>
              <a:t>Bayes’ Rule</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856023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D55D14-1EF3-88B9-4070-FEA8C589044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C73CFB-BC68-BA32-F427-38C316970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8382903-C0B0-F3F8-1E61-01DB363AC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6C5E64C-1F0E-269C-B48D-E1ECEA1362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954BAD-210B-4FF9-ECE2-9EDB58FB2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B269246-88C0-C883-C0A8-21818C5FF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58B65-461A-BD50-76B5-CD0AE54C07AA}"/>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Naïve Bayes Classifier</a:t>
            </a:r>
          </a:p>
        </p:txBody>
      </p:sp>
      <p:sp>
        <p:nvSpPr>
          <p:cNvPr id="7" name="TextBox 6">
            <a:extLst>
              <a:ext uri="{FF2B5EF4-FFF2-40B4-BE49-F238E27FC236}">
                <a16:creationId xmlns:a16="http://schemas.microsoft.com/office/drawing/2014/main" id="{AFE1F569-09BE-3CA8-4603-6816E17F2D34}"/>
              </a:ext>
            </a:extLst>
          </p:cNvPr>
          <p:cNvSpPr txBox="1"/>
          <p:nvPr/>
        </p:nvSpPr>
        <p:spPr>
          <a:xfrm>
            <a:off x="320200" y="1868797"/>
            <a:ext cx="5358199" cy="4708981"/>
          </a:xfrm>
          <a:prstGeom prst="rect">
            <a:avLst/>
          </a:prstGeom>
          <a:noFill/>
        </p:spPr>
        <p:txBody>
          <a:bodyPr wrap="square">
            <a:spAutoFit/>
          </a:bodyPr>
          <a:lstStyle/>
          <a:p>
            <a:pPr rtl="0">
              <a:buNone/>
            </a:pPr>
            <a:r>
              <a:rPr lang="en-US" sz="2000" dirty="0"/>
              <a:t>Training  data: </a:t>
            </a:r>
          </a:p>
          <a:p>
            <a:pPr rtl="0">
              <a:buNone/>
            </a:pPr>
            <a:r>
              <a:rPr lang="en-US" sz="2000" dirty="0"/>
              <a:t>      set of classes C</a:t>
            </a:r>
            <a:r>
              <a:rPr lang="en-US" sz="2000" baseline="-25000" dirty="0"/>
              <a:t>1</a:t>
            </a:r>
            <a:r>
              <a:rPr lang="en-US" sz="2000" dirty="0"/>
              <a:t>, C</a:t>
            </a:r>
            <a:r>
              <a:rPr lang="en-US" sz="2000" baseline="-25000" dirty="0"/>
              <a:t>2</a:t>
            </a:r>
            <a:r>
              <a:rPr lang="en-US" sz="2000" dirty="0"/>
              <a:t>,…,C</a:t>
            </a:r>
            <a:r>
              <a:rPr lang="en-US" sz="2000" baseline="-25000" dirty="0"/>
              <a:t>m</a:t>
            </a:r>
          </a:p>
          <a:p>
            <a:r>
              <a:rPr lang="en-US" sz="2000" dirty="0"/>
              <a:t>      set of objects with features X</a:t>
            </a:r>
            <a:r>
              <a:rPr lang="en-US" sz="2000" baseline="-25000" dirty="0"/>
              <a:t>1</a:t>
            </a:r>
            <a:r>
              <a:rPr lang="en-US" sz="2000" dirty="0"/>
              <a:t>,X</a:t>
            </a:r>
            <a:r>
              <a:rPr lang="en-US" sz="2000" baseline="-25000" dirty="0"/>
              <a:t>2</a:t>
            </a:r>
            <a:r>
              <a:rPr lang="en-US" sz="2000" dirty="0"/>
              <a:t>,..X</a:t>
            </a:r>
            <a:r>
              <a:rPr lang="en-US" sz="2000" baseline="-25000" dirty="0"/>
              <a:t>n</a:t>
            </a:r>
            <a:r>
              <a:rPr lang="en-US" sz="2000" dirty="0"/>
              <a:t> and a      	class label</a:t>
            </a:r>
            <a:endParaRPr lang="en-US" sz="2000" baseline="-25000" dirty="0"/>
          </a:p>
          <a:p>
            <a:pPr rtl="0">
              <a:buNone/>
            </a:pPr>
            <a:endParaRPr lang="en-US" sz="2000" dirty="0"/>
          </a:p>
          <a:p>
            <a:pPr rtl="0">
              <a:buNone/>
            </a:pPr>
            <a:r>
              <a:rPr lang="en-US" sz="2000" dirty="0"/>
              <a:t>Inference: given features (</a:t>
            </a:r>
            <a:r>
              <a:rPr lang="en-US" sz="2000" i="1" dirty="0"/>
              <a:t>x</a:t>
            </a:r>
            <a:r>
              <a:rPr lang="en-US" sz="2000" i="1" baseline="-25000" dirty="0"/>
              <a:t>1</a:t>
            </a:r>
            <a:r>
              <a:rPr lang="en-US" sz="2000" i="1" dirty="0"/>
              <a:t>,…,</a:t>
            </a:r>
            <a:r>
              <a:rPr lang="en-US" sz="2000" i="1" dirty="0" err="1"/>
              <a:t>x</a:t>
            </a:r>
            <a:r>
              <a:rPr lang="en-US" sz="2000" i="1" baseline="-25000" dirty="0" err="1"/>
              <a:t>n</a:t>
            </a:r>
            <a:r>
              <a:rPr lang="en-US" sz="2000" dirty="0"/>
              <a:t>) of object, predict class</a:t>
            </a:r>
          </a:p>
          <a:p>
            <a:pPr rtl="0">
              <a:buNone/>
            </a:pPr>
            <a:endParaRPr lang="en-US" sz="2000" dirty="0"/>
          </a:p>
          <a:p>
            <a:pPr rtl="0">
              <a:buNone/>
            </a:pPr>
            <a:r>
              <a:rPr lang="en-US" sz="2000" dirty="0"/>
              <a:t>Key assumption: </a:t>
            </a:r>
          </a:p>
          <a:p>
            <a:r>
              <a:rPr lang="en-US" sz="2000" b="1" dirty="0"/>
              <a:t>   Feature independence:</a:t>
            </a:r>
            <a:r>
              <a:rPr lang="en-US" sz="2000" dirty="0"/>
              <a:t>  Each feature does not affect any other feature.</a:t>
            </a:r>
          </a:p>
          <a:p>
            <a:r>
              <a:rPr lang="en-US" sz="2000" b="1" dirty="0"/>
              <a:t> </a:t>
            </a:r>
          </a:p>
          <a:p>
            <a:r>
              <a:rPr lang="en-US" sz="2000" dirty="0"/>
              <a:t>Called </a:t>
            </a:r>
            <a:r>
              <a:rPr lang="en-US" sz="2000" dirty="0">
                <a:solidFill>
                  <a:schemeClr val="accent1"/>
                </a:solidFill>
              </a:rPr>
              <a:t>Maximum a Posteriori Estimator </a:t>
            </a:r>
            <a:r>
              <a:rPr lang="en-US" sz="2000" dirty="0"/>
              <a:t>(MAPE)</a:t>
            </a:r>
          </a:p>
          <a:p>
            <a:r>
              <a:rPr lang="en-US" sz="2000" dirty="0"/>
              <a:t>Difference from </a:t>
            </a:r>
            <a:r>
              <a:rPr lang="en-US" sz="2000" dirty="0">
                <a:solidFill>
                  <a:schemeClr val="accent1"/>
                </a:solidFill>
              </a:rPr>
              <a:t>Maximum Likelihood Estimator</a:t>
            </a:r>
            <a:r>
              <a:rPr lang="en-US" sz="2000" dirty="0"/>
              <a:t>: </a:t>
            </a:r>
            <a:r>
              <a:rPr lang="en-US" sz="2000" dirty="0">
                <a:solidFill>
                  <a:schemeClr val="accent1"/>
                </a:solidFill>
              </a:rPr>
              <a:t>multiplication with prior</a:t>
            </a:r>
          </a:p>
        </p:txBody>
      </p:sp>
      <p:sp>
        <p:nvSpPr>
          <p:cNvPr id="18" name="TextBox 17">
            <a:extLst>
              <a:ext uri="{FF2B5EF4-FFF2-40B4-BE49-F238E27FC236}">
                <a16:creationId xmlns:a16="http://schemas.microsoft.com/office/drawing/2014/main" id="{F8F127D2-7EDB-90A5-96C5-CE5D5F50D9CB}"/>
              </a:ext>
            </a:extLst>
          </p:cNvPr>
          <p:cNvSpPr txBox="1"/>
          <p:nvPr/>
        </p:nvSpPr>
        <p:spPr>
          <a:xfrm>
            <a:off x="5892150" y="4036359"/>
            <a:ext cx="4586512" cy="369332"/>
          </a:xfrm>
          <a:prstGeom prst="rect">
            <a:avLst/>
          </a:prstGeom>
          <a:noFill/>
        </p:spPr>
        <p:txBody>
          <a:bodyPr wrap="none" rtlCol="0">
            <a:spAutoFit/>
          </a:bodyPr>
          <a:lstStyle/>
          <a:p>
            <a:pPr algn="l"/>
            <a:r>
              <a:rPr lang="en-US" dirty="0"/>
              <a:t> Denominator is independent of the class so </a:t>
            </a:r>
          </a:p>
        </p:txBody>
      </p:sp>
      <p:sp>
        <p:nvSpPr>
          <p:cNvPr id="59" name="TextBox 58">
            <a:extLst>
              <a:ext uri="{FF2B5EF4-FFF2-40B4-BE49-F238E27FC236}">
                <a16:creationId xmlns:a16="http://schemas.microsoft.com/office/drawing/2014/main" id="{606A56A5-573E-9469-877C-2DD00FAAC8AF}"/>
              </a:ext>
            </a:extLst>
          </p:cNvPr>
          <p:cNvSpPr txBox="1"/>
          <p:nvPr/>
        </p:nvSpPr>
        <p:spPr>
          <a:xfrm>
            <a:off x="6046305" y="5993298"/>
            <a:ext cx="5931945" cy="923330"/>
          </a:xfrm>
          <a:prstGeom prst="rect">
            <a:avLst/>
          </a:prstGeom>
          <a:noFill/>
        </p:spPr>
        <p:txBody>
          <a:bodyPr wrap="none" rtlCol="0">
            <a:spAutoFit/>
          </a:bodyPr>
          <a:lstStyle/>
          <a:p>
            <a:pPr algn="l"/>
            <a:r>
              <a:rPr lang="en-US" i="1" dirty="0"/>
              <a:t>P(C</a:t>
            </a:r>
            <a:r>
              <a:rPr lang="en-US" i="1" baseline="-25000" dirty="0"/>
              <a:t>i</a:t>
            </a:r>
            <a:r>
              <a:rPr lang="en-US" i="1" dirty="0"/>
              <a:t>) </a:t>
            </a:r>
            <a:r>
              <a:rPr lang="en-US" dirty="0"/>
              <a:t>can be set to 1/m or computed from training data</a:t>
            </a:r>
          </a:p>
          <a:p>
            <a:pPr algn="l"/>
            <a:r>
              <a:rPr lang="en-US" dirty="0"/>
              <a:t>Righthand side is usually computed using log probabilities</a:t>
            </a:r>
          </a:p>
          <a:p>
            <a:pPr algn="l"/>
            <a:r>
              <a:rPr lang="en-US" dirty="0"/>
              <a:t>	to minimize underflows</a:t>
            </a:r>
          </a:p>
        </p:txBody>
      </p:sp>
      <p:pic>
        <p:nvPicPr>
          <p:cNvPr id="15" name="Picture 14" descr="\documentclass{article}&#10;\usepackage{amsmath}&#10;\pagestyle{empty}&#10;\begin{document}&#10;&#10;\begin{align*}&#10;P(C_i|x_1,...,x_n) &amp;= \frac{P(x_1|C_i,x_2,..,x_n)P(x_2|C_i,x_3,..,x_n)..P(C_i)}{P(x_1,...,x_n)}\\&#10;&amp;= \frac{P(x_1|C_i)P(x_2|C_i)...P(x_n|C_i)P(C_i)}{P(x_1)...P(x_n)}\\&#10;&amp;= \frac{P(C_i)\prod_j P(x_j|C_i)}{\prod_j P(x_j)}&#10;\end{align*}&#10;&#10;&#10;\end{document}" title="IguanaTex Bitmap Display">
            <a:extLst>
              <a:ext uri="{FF2B5EF4-FFF2-40B4-BE49-F238E27FC236}">
                <a16:creationId xmlns:a16="http://schemas.microsoft.com/office/drawing/2014/main" id="{ECC6314C-8B44-7202-4C90-F4616F5A65E7}"/>
              </a:ext>
            </a:extLst>
          </p:cNvPr>
          <p:cNvPicPr>
            <a:picLocks noChangeAspect="1"/>
          </p:cNvPicPr>
          <p:nvPr>
            <p:custDataLst>
              <p:tags r:id="rId1"/>
            </p:custDataLst>
          </p:nvPr>
        </p:nvPicPr>
        <p:blipFill>
          <a:blip r:embed="rId4"/>
          <a:stretch>
            <a:fillRect/>
          </a:stretch>
        </p:blipFill>
        <p:spPr>
          <a:xfrm>
            <a:off x="5875399" y="2117036"/>
            <a:ext cx="5933747" cy="1797744"/>
          </a:xfrm>
          <a:prstGeom prst="rect">
            <a:avLst/>
          </a:prstGeom>
        </p:spPr>
      </p:pic>
      <p:pic>
        <p:nvPicPr>
          <p:cNvPr id="57" name="Picture 56" descr="\documentclass{article}&#10;\usepackage{amsmath}&#10;\pagestyle{empty}&#10;\begin{document}&#10;&#10;\begin{align*}&#10;P(C_i|x_1,...,x_n) &amp; \propto P(C_i)\prod_j P(x_j|C_i)\\&#10;\text{So}\  \hat{C} &amp;= argmax_{C_i} P(C_i)\prod_j P(x_j|C_i)&#10;\end{align*}&#10;&#10;&#10;\end{document}" title="IguanaTex Bitmap Display">
            <a:extLst>
              <a:ext uri="{FF2B5EF4-FFF2-40B4-BE49-F238E27FC236}">
                <a16:creationId xmlns:a16="http://schemas.microsoft.com/office/drawing/2014/main" id="{012F5D73-9987-0E17-16FD-43112424F1F4}"/>
              </a:ext>
            </a:extLst>
          </p:cNvPr>
          <p:cNvPicPr>
            <a:picLocks noChangeAspect="1"/>
          </p:cNvPicPr>
          <p:nvPr>
            <p:custDataLst>
              <p:tags r:id="rId2"/>
            </p:custDataLst>
          </p:nvPr>
        </p:nvPicPr>
        <p:blipFill>
          <a:blip r:embed="rId5"/>
          <a:stretch>
            <a:fillRect/>
          </a:stretch>
        </p:blipFill>
        <p:spPr>
          <a:xfrm>
            <a:off x="6003237" y="4650743"/>
            <a:ext cx="4470044" cy="1123095"/>
          </a:xfrm>
          <a:prstGeom prst="rect">
            <a:avLst/>
          </a:prstGeom>
        </p:spPr>
      </p:pic>
      <p:sp>
        <p:nvSpPr>
          <p:cNvPr id="60" name="TextBox 59">
            <a:extLst>
              <a:ext uri="{FF2B5EF4-FFF2-40B4-BE49-F238E27FC236}">
                <a16:creationId xmlns:a16="http://schemas.microsoft.com/office/drawing/2014/main" id="{32D74B16-1D42-0EE0-B889-EE49FCD23A7E}"/>
              </a:ext>
            </a:extLst>
          </p:cNvPr>
          <p:cNvSpPr txBox="1"/>
          <p:nvPr/>
        </p:nvSpPr>
        <p:spPr>
          <a:xfrm>
            <a:off x="8238259" y="4249718"/>
            <a:ext cx="3298174" cy="369332"/>
          </a:xfrm>
          <a:prstGeom prst="rect">
            <a:avLst/>
          </a:prstGeom>
          <a:noFill/>
        </p:spPr>
        <p:txBody>
          <a:bodyPr wrap="square" rtlCol="0">
            <a:spAutoFit/>
          </a:bodyPr>
          <a:lstStyle/>
          <a:p>
            <a:pPr algn="l"/>
            <a:r>
              <a:rPr lang="en-US" dirty="0">
                <a:solidFill>
                  <a:schemeClr val="accent1"/>
                </a:solidFill>
              </a:rPr>
              <a:t>Maximum Likelihood Estimator</a:t>
            </a:r>
          </a:p>
        </p:txBody>
      </p:sp>
      <p:sp>
        <p:nvSpPr>
          <p:cNvPr id="61" name="Rectangle 60">
            <a:extLst>
              <a:ext uri="{FF2B5EF4-FFF2-40B4-BE49-F238E27FC236}">
                <a16:creationId xmlns:a16="http://schemas.microsoft.com/office/drawing/2014/main" id="{C96C9A6B-BE28-B385-ED03-FDD14BF2E80B}"/>
              </a:ext>
            </a:extLst>
          </p:cNvPr>
          <p:cNvSpPr/>
          <p:nvPr/>
        </p:nvSpPr>
        <p:spPr>
          <a:xfrm>
            <a:off x="8319052" y="4609111"/>
            <a:ext cx="1232452" cy="559237"/>
          </a:xfrm>
          <a:prstGeom prst="rect">
            <a:avLst/>
          </a:prstGeom>
          <a:solidFill>
            <a:srgbClr val="0070C0">
              <a:alpha val="4000"/>
            </a:srgbClr>
          </a:solidFill>
          <a:ln w="19050">
            <a:solidFill>
              <a:srgbClr val="0070C0"/>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231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5E2353-0D58-A204-9777-587D04E9A5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5C0F0AC-7500-B7B3-F3FE-6D7651957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1355DD3-4A9B-90C4-A528-794BB8727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E22E86-29F9-80C9-F200-FCEC38CB8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E2CB03A-D8C6-D926-CC8E-05225EDE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AD78B2-7F97-E022-C1CC-E2486D3C4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AEEEC1-26EB-605B-B643-0DB6D5E56242}"/>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Naïve Bayes Classifier: example</a:t>
            </a:r>
          </a:p>
        </p:txBody>
      </p:sp>
      <p:graphicFrame>
        <p:nvGraphicFramePr>
          <p:cNvPr id="25" name="Table 24">
            <a:extLst>
              <a:ext uri="{FF2B5EF4-FFF2-40B4-BE49-F238E27FC236}">
                <a16:creationId xmlns:a16="http://schemas.microsoft.com/office/drawing/2014/main" id="{C4AE999D-D053-0766-5406-F5BF3D61DDB3}"/>
              </a:ext>
            </a:extLst>
          </p:cNvPr>
          <p:cNvGraphicFramePr>
            <a:graphicFrameLocks noGrp="1"/>
          </p:cNvGraphicFramePr>
          <p:nvPr/>
        </p:nvGraphicFramePr>
        <p:xfrm>
          <a:off x="432550" y="2194560"/>
          <a:ext cx="4865008" cy="2468880"/>
        </p:xfrm>
        <a:graphic>
          <a:graphicData uri="http://schemas.openxmlformats.org/drawingml/2006/table">
            <a:tbl>
              <a:tblPr/>
              <a:tblGrid>
                <a:gridCol w="1216252">
                  <a:extLst>
                    <a:ext uri="{9D8B030D-6E8A-4147-A177-3AD203B41FA5}">
                      <a16:colId xmlns:a16="http://schemas.microsoft.com/office/drawing/2014/main" val="3029839543"/>
                    </a:ext>
                  </a:extLst>
                </a:gridCol>
                <a:gridCol w="1216252">
                  <a:extLst>
                    <a:ext uri="{9D8B030D-6E8A-4147-A177-3AD203B41FA5}">
                      <a16:colId xmlns:a16="http://schemas.microsoft.com/office/drawing/2014/main" val="4237366675"/>
                    </a:ext>
                  </a:extLst>
                </a:gridCol>
                <a:gridCol w="1216252">
                  <a:extLst>
                    <a:ext uri="{9D8B030D-6E8A-4147-A177-3AD203B41FA5}">
                      <a16:colId xmlns:a16="http://schemas.microsoft.com/office/drawing/2014/main" val="380797467"/>
                    </a:ext>
                  </a:extLst>
                </a:gridCol>
                <a:gridCol w="1216252">
                  <a:extLst>
                    <a:ext uri="{9D8B030D-6E8A-4147-A177-3AD203B41FA5}">
                      <a16:colId xmlns:a16="http://schemas.microsoft.com/office/drawing/2014/main" val="1041152228"/>
                    </a:ext>
                  </a:extLst>
                </a:gridCol>
              </a:tblGrid>
              <a:tr h="0">
                <a:tc>
                  <a:txBody>
                    <a:bodyPr/>
                    <a:lstStyle/>
                    <a:p>
                      <a:pPr>
                        <a:buNone/>
                      </a:pPr>
                      <a:r>
                        <a:rPr lang="en-US"/>
                        <a:t>Email</a:t>
                      </a:r>
                    </a:p>
                  </a:txBody>
                  <a:tcPr anchor="ctr">
                    <a:lnL>
                      <a:noFill/>
                    </a:lnL>
                    <a:lnR>
                      <a:noFill/>
                    </a:lnR>
                    <a:lnT>
                      <a:noFill/>
                    </a:lnT>
                    <a:lnB>
                      <a:noFill/>
                    </a:lnB>
                    <a:noFill/>
                  </a:tcPr>
                </a:tc>
                <a:tc>
                  <a:txBody>
                    <a:bodyPr/>
                    <a:lstStyle/>
                    <a:p>
                      <a:pPr>
                        <a:buNone/>
                      </a:pPr>
                      <a:r>
                        <a:rPr lang="en-US" dirty="0"/>
                        <a:t>Contains “Free”?</a:t>
                      </a:r>
                    </a:p>
                  </a:txBody>
                  <a:tcPr anchor="ctr">
                    <a:lnL>
                      <a:noFill/>
                    </a:lnL>
                    <a:lnR>
                      <a:noFill/>
                    </a:lnR>
                    <a:lnT>
                      <a:noFill/>
                    </a:lnT>
                    <a:lnB>
                      <a:noFill/>
                    </a:lnB>
                    <a:noFill/>
                  </a:tcPr>
                </a:tc>
                <a:tc>
                  <a:txBody>
                    <a:bodyPr/>
                    <a:lstStyle/>
                    <a:p>
                      <a:pPr>
                        <a:buNone/>
                      </a:pPr>
                      <a:r>
                        <a:rPr lang="en-US"/>
                        <a:t>Contains “Win”?</a:t>
                      </a:r>
                    </a:p>
                  </a:txBody>
                  <a:tcPr anchor="ctr">
                    <a:lnL>
                      <a:noFill/>
                    </a:lnL>
                    <a:lnR>
                      <a:noFill/>
                    </a:lnR>
                    <a:lnT>
                      <a:noFill/>
                    </a:lnT>
                    <a:lnB>
                      <a:noFill/>
                    </a:lnB>
                    <a:noFill/>
                  </a:tcPr>
                </a:tc>
                <a:tc>
                  <a:txBody>
                    <a:bodyPr/>
                    <a:lstStyle/>
                    <a:p>
                      <a:pPr>
                        <a:buNone/>
                      </a:pPr>
                      <a:r>
                        <a:rPr lang="en-US"/>
                        <a:t>Class</a:t>
                      </a:r>
                    </a:p>
                  </a:txBody>
                  <a:tcPr anchor="ctr">
                    <a:lnL>
                      <a:noFill/>
                    </a:lnL>
                    <a:lnR>
                      <a:noFill/>
                    </a:lnR>
                    <a:lnT>
                      <a:noFill/>
                    </a:lnT>
                    <a:lnB>
                      <a:noFill/>
                    </a:lnB>
                    <a:noFill/>
                  </a:tcPr>
                </a:tc>
                <a:extLst>
                  <a:ext uri="{0D108BD9-81ED-4DB2-BD59-A6C34878D82A}">
                    <a16:rowId xmlns:a16="http://schemas.microsoft.com/office/drawing/2014/main" val="3068348784"/>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dirty="0"/>
                        <a:t>Spam</a:t>
                      </a:r>
                    </a:p>
                  </a:txBody>
                  <a:tcPr anchor="ctr">
                    <a:lnL>
                      <a:noFill/>
                    </a:lnL>
                    <a:lnR>
                      <a:noFill/>
                    </a:lnR>
                    <a:lnT>
                      <a:noFill/>
                    </a:lnT>
                    <a:lnB>
                      <a:noFill/>
                    </a:lnB>
                    <a:noFill/>
                  </a:tcPr>
                </a:tc>
                <a:extLst>
                  <a:ext uri="{0D108BD9-81ED-4DB2-BD59-A6C34878D82A}">
                    <a16:rowId xmlns:a16="http://schemas.microsoft.com/office/drawing/2014/main" val="1248632172"/>
                  </a:ext>
                </a:extLst>
              </a:tr>
              <a:tr h="0">
                <a:tc>
                  <a:txBody>
                    <a:bodyPr/>
                    <a:lstStyle/>
                    <a:p>
                      <a:pPr>
                        <a:buNone/>
                      </a:pPr>
                      <a:r>
                        <a:rPr lang="en-US" dirty="0"/>
                        <a:t>2</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dirty="0"/>
                        <a:t>Spam</a:t>
                      </a:r>
                    </a:p>
                  </a:txBody>
                  <a:tcPr anchor="ctr">
                    <a:lnL>
                      <a:noFill/>
                    </a:lnL>
                    <a:lnR>
                      <a:noFill/>
                    </a:lnR>
                    <a:lnT>
                      <a:noFill/>
                    </a:lnT>
                    <a:lnB>
                      <a:noFill/>
                    </a:lnB>
                    <a:noFill/>
                  </a:tcPr>
                </a:tc>
                <a:extLst>
                  <a:ext uri="{0D108BD9-81ED-4DB2-BD59-A6C34878D82A}">
                    <a16:rowId xmlns:a16="http://schemas.microsoft.com/office/drawing/2014/main" val="3576462598"/>
                  </a:ext>
                </a:extLst>
              </a:tr>
              <a:tr h="0">
                <a:tc>
                  <a:txBody>
                    <a:bodyPr/>
                    <a:lstStyle/>
                    <a:p>
                      <a:pPr>
                        <a:buNone/>
                      </a:pPr>
                      <a:r>
                        <a:rPr lang="en-US" dirty="0"/>
                        <a:t>3</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Spam</a:t>
                      </a:r>
                    </a:p>
                  </a:txBody>
                  <a:tcPr anchor="ctr">
                    <a:lnL>
                      <a:noFill/>
                    </a:lnL>
                    <a:lnR>
                      <a:noFill/>
                    </a:lnR>
                    <a:lnT>
                      <a:noFill/>
                    </a:lnT>
                    <a:lnB>
                      <a:noFill/>
                    </a:lnB>
                    <a:noFill/>
                  </a:tcPr>
                </a:tc>
                <a:extLst>
                  <a:ext uri="{0D108BD9-81ED-4DB2-BD59-A6C34878D82A}">
                    <a16:rowId xmlns:a16="http://schemas.microsoft.com/office/drawing/2014/main" val="3665292249"/>
                  </a:ext>
                </a:extLst>
              </a:tr>
              <a:tr h="0">
                <a:tc>
                  <a:txBody>
                    <a:bodyPr/>
                    <a:lstStyle/>
                    <a:p>
                      <a:pPr>
                        <a:buNone/>
                      </a:pPr>
                      <a:r>
                        <a:rPr lang="en-US" dirty="0"/>
                        <a:t>4</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Not Spam</a:t>
                      </a:r>
                    </a:p>
                  </a:txBody>
                  <a:tcPr anchor="ctr">
                    <a:lnL>
                      <a:noFill/>
                    </a:lnL>
                    <a:lnR>
                      <a:noFill/>
                    </a:lnR>
                    <a:lnT>
                      <a:noFill/>
                    </a:lnT>
                    <a:lnB>
                      <a:noFill/>
                    </a:lnB>
                    <a:noFill/>
                  </a:tcPr>
                </a:tc>
                <a:extLst>
                  <a:ext uri="{0D108BD9-81ED-4DB2-BD59-A6C34878D82A}">
                    <a16:rowId xmlns:a16="http://schemas.microsoft.com/office/drawing/2014/main" val="2031653753"/>
                  </a:ext>
                </a:extLst>
              </a:tr>
              <a:tr h="0">
                <a:tc>
                  <a:txBody>
                    <a:bodyPr/>
                    <a:lstStyle/>
                    <a:p>
                      <a:pPr>
                        <a:buNone/>
                      </a:pPr>
                      <a:r>
                        <a:rPr lang="en-US" dirty="0"/>
                        <a:t>5</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dirty="0"/>
                        <a:t>Not Spam</a:t>
                      </a:r>
                    </a:p>
                  </a:txBody>
                  <a:tcPr anchor="ctr">
                    <a:lnL>
                      <a:noFill/>
                    </a:lnL>
                    <a:lnR>
                      <a:noFill/>
                    </a:lnR>
                    <a:lnT>
                      <a:noFill/>
                    </a:lnT>
                    <a:lnB>
                      <a:noFill/>
                    </a:lnB>
                    <a:noFill/>
                  </a:tcPr>
                </a:tc>
                <a:extLst>
                  <a:ext uri="{0D108BD9-81ED-4DB2-BD59-A6C34878D82A}">
                    <a16:rowId xmlns:a16="http://schemas.microsoft.com/office/drawing/2014/main" val="1544264981"/>
                  </a:ext>
                </a:extLst>
              </a:tr>
            </a:tbl>
          </a:graphicData>
        </a:graphic>
      </p:graphicFrame>
      <p:sp>
        <p:nvSpPr>
          <p:cNvPr id="26" name="TextBox 25">
            <a:extLst>
              <a:ext uri="{FF2B5EF4-FFF2-40B4-BE49-F238E27FC236}">
                <a16:creationId xmlns:a16="http://schemas.microsoft.com/office/drawing/2014/main" id="{4311165E-79A3-A1DE-AC39-0ECA33B30A14}"/>
              </a:ext>
            </a:extLst>
          </p:cNvPr>
          <p:cNvSpPr txBox="1"/>
          <p:nvPr/>
        </p:nvSpPr>
        <p:spPr>
          <a:xfrm>
            <a:off x="89452" y="1806816"/>
            <a:ext cx="1514197" cy="369332"/>
          </a:xfrm>
          <a:prstGeom prst="rect">
            <a:avLst/>
          </a:prstGeom>
          <a:noFill/>
        </p:spPr>
        <p:txBody>
          <a:bodyPr wrap="none" rtlCol="0">
            <a:spAutoFit/>
          </a:bodyPr>
          <a:lstStyle/>
          <a:p>
            <a:pPr algn="l"/>
            <a:r>
              <a:rPr lang="en-US" dirty="0">
                <a:solidFill>
                  <a:schemeClr val="accent1"/>
                </a:solidFill>
              </a:rPr>
              <a:t>Training data</a:t>
            </a:r>
            <a:r>
              <a:rPr lang="en-US" dirty="0"/>
              <a:t>:</a:t>
            </a:r>
          </a:p>
        </p:txBody>
      </p:sp>
      <p:sp>
        <p:nvSpPr>
          <p:cNvPr id="27" name="TextBox 26">
            <a:extLst>
              <a:ext uri="{FF2B5EF4-FFF2-40B4-BE49-F238E27FC236}">
                <a16:creationId xmlns:a16="http://schemas.microsoft.com/office/drawing/2014/main" id="{2D311B7A-01B7-DECA-5D7B-C95704DBBD99}"/>
              </a:ext>
            </a:extLst>
          </p:cNvPr>
          <p:cNvSpPr txBox="1"/>
          <p:nvPr/>
        </p:nvSpPr>
        <p:spPr>
          <a:xfrm>
            <a:off x="89452" y="4811746"/>
            <a:ext cx="5702395" cy="369332"/>
          </a:xfrm>
          <a:prstGeom prst="rect">
            <a:avLst/>
          </a:prstGeom>
          <a:noFill/>
        </p:spPr>
        <p:txBody>
          <a:bodyPr wrap="none" rtlCol="0">
            <a:spAutoFit/>
          </a:bodyPr>
          <a:lstStyle/>
          <a:p>
            <a:pPr algn="l"/>
            <a:r>
              <a:rPr lang="en-US" dirty="0">
                <a:solidFill>
                  <a:schemeClr val="accent1"/>
                </a:solidFill>
              </a:rPr>
              <a:t>Inference</a:t>
            </a:r>
            <a:r>
              <a:rPr lang="en-US" dirty="0"/>
              <a:t>: Given mail with “Free” but not win, is it spam?</a:t>
            </a:r>
          </a:p>
        </p:txBody>
      </p:sp>
      <p:sp>
        <p:nvSpPr>
          <p:cNvPr id="28" name="Rectangle 27">
            <a:extLst>
              <a:ext uri="{FF2B5EF4-FFF2-40B4-BE49-F238E27FC236}">
                <a16:creationId xmlns:a16="http://schemas.microsoft.com/office/drawing/2014/main" id="{359CF9A1-EBC7-B60B-4838-FC3E8D6DBA9C}"/>
              </a:ext>
            </a:extLst>
          </p:cNvPr>
          <p:cNvSpPr/>
          <p:nvPr/>
        </p:nvSpPr>
        <p:spPr>
          <a:xfrm>
            <a:off x="327991" y="2194560"/>
            <a:ext cx="5059018" cy="2487293"/>
          </a:xfrm>
          <a:prstGeom prst="rect">
            <a:avLst/>
          </a:pr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descr="\documentclass{article}&#10;\usepackage{amsmath}&#10;\pagestyle{empty}&#10;\begin{document}&#10;\begin{align*}&#10;P(Spam|Free,\neg Win) &amp;\propto P(Spam)*P(Free|Spam)*P(\neg Win|Spam)\\&#10;&amp;\propto \frac{3}{5}*\frac{2}{3}*\frac{1}{3} = \frac{2}{15}\\&#10;P(\neg Spam|Free,\neg Win) &amp;\propto P(\neg Spam)*P(Free|\neg Spam)*P(\neg Win|\neg Spam)\\&#10;&amp;\propto \frac{2}{5}*\frac{0}{5}*\frac{2}{2} = 0&#10;\end{align*}&#10;\end{document}" title="IguanaTex Bitmap Display">
            <a:extLst>
              <a:ext uri="{FF2B5EF4-FFF2-40B4-BE49-F238E27FC236}">
                <a16:creationId xmlns:a16="http://schemas.microsoft.com/office/drawing/2014/main" id="{E898E55D-CFDA-0346-22B7-C3752CDB7A16}"/>
              </a:ext>
            </a:extLst>
          </p:cNvPr>
          <p:cNvPicPr>
            <a:picLocks noChangeAspect="1"/>
          </p:cNvPicPr>
          <p:nvPr>
            <p:custDataLst>
              <p:tags r:id="rId1"/>
            </p:custDataLst>
          </p:nvPr>
        </p:nvPicPr>
        <p:blipFill>
          <a:blip r:embed="rId3"/>
          <a:stretch>
            <a:fillRect/>
          </a:stretch>
        </p:blipFill>
        <p:spPr>
          <a:xfrm>
            <a:off x="5791849" y="2283722"/>
            <a:ext cx="6204682" cy="1811197"/>
          </a:xfrm>
          <a:prstGeom prst="rect">
            <a:avLst/>
          </a:prstGeom>
        </p:spPr>
      </p:pic>
      <p:sp>
        <p:nvSpPr>
          <p:cNvPr id="41" name="TextBox 40">
            <a:extLst>
              <a:ext uri="{FF2B5EF4-FFF2-40B4-BE49-F238E27FC236}">
                <a16:creationId xmlns:a16="http://schemas.microsoft.com/office/drawing/2014/main" id="{D07080EC-C449-BA89-8E45-7E783A117035}"/>
              </a:ext>
            </a:extLst>
          </p:cNvPr>
          <p:cNvSpPr txBox="1"/>
          <p:nvPr/>
        </p:nvSpPr>
        <p:spPr>
          <a:xfrm>
            <a:off x="5791847" y="4257748"/>
            <a:ext cx="1892890" cy="369332"/>
          </a:xfrm>
          <a:prstGeom prst="rect">
            <a:avLst/>
          </a:prstGeom>
          <a:noFill/>
        </p:spPr>
        <p:txBody>
          <a:bodyPr wrap="none" rtlCol="0">
            <a:spAutoFit/>
          </a:bodyPr>
          <a:lstStyle/>
          <a:p>
            <a:pPr algn="l"/>
            <a:r>
              <a:rPr lang="en-US" dirty="0"/>
              <a:t>Prediction: Spam</a:t>
            </a:r>
          </a:p>
        </p:txBody>
      </p:sp>
      <p:sp>
        <p:nvSpPr>
          <p:cNvPr id="42" name="TextBox 41">
            <a:extLst>
              <a:ext uri="{FF2B5EF4-FFF2-40B4-BE49-F238E27FC236}">
                <a16:creationId xmlns:a16="http://schemas.microsoft.com/office/drawing/2014/main" id="{9E97DB7D-BAA6-0434-ED4E-0E6D2EAE2705}"/>
              </a:ext>
            </a:extLst>
          </p:cNvPr>
          <p:cNvSpPr txBox="1"/>
          <p:nvPr/>
        </p:nvSpPr>
        <p:spPr>
          <a:xfrm>
            <a:off x="89452" y="5508009"/>
            <a:ext cx="9143593" cy="923330"/>
          </a:xfrm>
          <a:prstGeom prst="rect">
            <a:avLst/>
          </a:prstGeom>
          <a:noFill/>
        </p:spPr>
        <p:txBody>
          <a:bodyPr wrap="none" rtlCol="0">
            <a:spAutoFit/>
          </a:bodyPr>
          <a:lstStyle/>
          <a:p>
            <a:pPr algn="l"/>
            <a:r>
              <a:rPr lang="en-US" dirty="0">
                <a:solidFill>
                  <a:schemeClr val="accent1"/>
                </a:solidFill>
              </a:rPr>
              <a:t>Drawback of naïve Bayes</a:t>
            </a:r>
            <a:r>
              <a:rPr lang="en-US" dirty="0"/>
              <a:t>: if some feature value does not occur in training data, </a:t>
            </a:r>
          </a:p>
          <a:p>
            <a:pPr algn="l"/>
            <a:r>
              <a:rPr lang="en-US" dirty="0"/>
              <a:t>such as “Free” in messages that are not Spam, model overfits and does not generalize well.</a:t>
            </a:r>
          </a:p>
          <a:p>
            <a:pPr algn="l"/>
            <a:r>
              <a:rPr lang="en-US" dirty="0"/>
              <a:t>In this example, every message with “Free” in it is classified as Spam.</a:t>
            </a:r>
          </a:p>
        </p:txBody>
      </p:sp>
      <p:sp>
        <p:nvSpPr>
          <p:cNvPr id="45" name="Oval 44">
            <a:extLst>
              <a:ext uri="{FF2B5EF4-FFF2-40B4-BE49-F238E27FC236}">
                <a16:creationId xmlns:a16="http://schemas.microsoft.com/office/drawing/2014/main" id="{2725FE62-BAB1-9CFD-9861-1675086D66D1}"/>
              </a:ext>
            </a:extLst>
          </p:cNvPr>
          <p:cNvSpPr/>
          <p:nvPr/>
        </p:nvSpPr>
        <p:spPr>
          <a:xfrm>
            <a:off x="8219661" y="3522250"/>
            <a:ext cx="248478" cy="735498"/>
          </a:xfrm>
          <a:prstGeom prst="ellipse">
            <a:avLst/>
          </a:prstGeom>
          <a:solidFill>
            <a:srgbClr val="FF0000">
              <a:alpha val="9000"/>
            </a:srgbClr>
          </a:solidFill>
          <a:ln w="19050">
            <a:solidFill>
              <a:srgbClr val="FF0000"/>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393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0C6C10-93E7-489E-68FF-C01E11E4D68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213472-F637-5F66-A482-5404A6B2E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1DFA896-CCF2-52D1-2028-BC39CE17C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C5CE41-CA3A-EB89-1529-8133D2D18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607079-9F71-B06E-A16C-E3DDCFFB8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10DF097-EDC1-7C64-CF2D-0759C9674E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004C8E-EB0A-7BFF-C502-2F4EE26628CE}"/>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Naïve Bayes Classifier: Laplace smoothing</a:t>
            </a:r>
          </a:p>
        </p:txBody>
      </p:sp>
      <p:graphicFrame>
        <p:nvGraphicFramePr>
          <p:cNvPr id="25" name="Table 24">
            <a:extLst>
              <a:ext uri="{FF2B5EF4-FFF2-40B4-BE49-F238E27FC236}">
                <a16:creationId xmlns:a16="http://schemas.microsoft.com/office/drawing/2014/main" id="{3A5A797A-29E6-F15E-C403-2A5C17C395FA}"/>
              </a:ext>
            </a:extLst>
          </p:cNvPr>
          <p:cNvGraphicFramePr>
            <a:graphicFrameLocks noGrp="1"/>
          </p:cNvGraphicFramePr>
          <p:nvPr/>
        </p:nvGraphicFramePr>
        <p:xfrm>
          <a:off x="432550" y="2194560"/>
          <a:ext cx="4865008" cy="2468880"/>
        </p:xfrm>
        <a:graphic>
          <a:graphicData uri="http://schemas.openxmlformats.org/drawingml/2006/table">
            <a:tbl>
              <a:tblPr/>
              <a:tblGrid>
                <a:gridCol w="1216252">
                  <a:extLst>
                    <a:ext uri="{9D8B030D-6E8A-4147-A177-3AD203B41FA5}">
                      <a16:colId xmlns:a16="http://schemas.microsoft.com/office/drawing/2014/main" val="3029839543"/>
                    </a:ext>
                  </a:extLst>
                </a:gridCol>
                <a:gridCol w="1216252">
                  <a:extLst>
                    <a:ext uri="{9D8B030D-6E8A-4147-A177-3AD203B41FA5}">
                      <a16:colId xmlns:a16="http://schemas.microsoft.com/office/drawing/2014/main" val="4237366675"/>
                    </a:ext>
                  </a:extLst>
                </a:gridCol>
                <a:gridCol w="1216252">
                  <a:extLst>
                    <a:ext uri="{9D8B030D-6E8A-4147-A177-3AD203B41FA5}">
                      <a16:colId xmlns:a16="http://schemas.microsoft.com/office/drawing/2014/main" val="380797467"/>
                    </a:ext>
                  </a:extLst>
                </a:gridCol>
                <a:gridCol w="1216252">
                  <a:extLst>
                    <a:ext uri="{9D8B030D-6E8A-4147-A177-3AD203B41FA5}">
                      <a16:colId xmlns:a16="http://schemas.microsoft.com/office/drawing/2014/main" val="1041152228"/>
                    </a:ext>
                  </a:extLst>
                </a:gridCol>
              </a:tblGrid>
              <a:tr h="0">
                <a:tc>
                  <a:txBody>
                    <a:bodyPr/>
                    <a:lstStyle/>
                    <a:p>
                      <a:pPr>
                        <a:buNone/>
                      </a:pPr>
                      <a:r>
                        <a:rPr lang="en-US"/>
                        <a:t>Email</a:t>
                      </a:r>
                    </a:p>
                  </a:txBody>
                  <a:tcPr anchor="ctr">
                    <a:lnL>
                      <a:noFill/>
                    </a:lnL>
                    <a:lnR>
                      <a:noFill/>
                    </a:lnR>
                    <a:lnT>
                      <a:noFill/>
                    </a:lnT>
                    <a:lnB>
                      <a:noFill/>
                    </a:lnB>
                    <a:noFill/>
                  </a:tcPr>
                </a:tc>
                <a:tc>
                  <a:txBody>
                    <a:bodyPr/>
                    <a:lstStyle/>
                    <a:p>
                      <a:pPr>
                        <a:buNone/>
                      </a:pPr>
                      <a:r>
                        <a:rPr lang="en-US" dirty="0"/>
                        <a:t>Contains “Free”?</a:t>
                      </a:r>
                    </a:p>
                  </a:txBody>
                  <a:tcPr anchor="ctr">
                    <a:lnL>
                      <a:noFill/>
                    </a:lnL>
                    <a:lnR>
                      <a:noFill/>
                    </a:lnR>
                    <a:lnT>
                      <a:noFill/>
                    </a:lnT>
                    <a:lnB>
                      <a:noFill/>
                    </a:lnB>
                    <a:noFill/>
                  </a:tcPr>
                </a:tc>
                <a:tc>
                  <a:txBody>
                    <a:bodyPr/>
                    <a:lstStyle/>
                    <a:p>
                      <a:pPr>
                        <a:buNone/>
                      </a:pPr>
                      <a:r>
                        <a:rPr lang="en-US"/>
                        <a:t>Contains “Win”?</a:t>
                      </a:r>
                    </a:p>
                  </a:txBody>
                  <a:tcPr anchor="ctr">
                    <a:lnL>
                      <a:noFill/>
                    </a:lnL>
                    <a:lnR>
                      <a:noFill/>
                    </a:lnR>
                    <a:lnT>
                      <a:noFill/>
                    </a:lnT>
                    <a:lnB>
                      <a:noFill/>
                    </a:lnB>
                    <a:noFill/>
                  </a:tcPr>
                </a:tc>
                <a:tc>
                  <a:txBody>
                    <a:bodyPr/>
                    <a:lstStyle/>
                    <a:p>
                      <a:pPr>
                        <a:buNone/>
                      </a:pPr>
                      <a:r>
                        <a:rPr lang="en-US"/>
                        <a:t>Class</a:t>
                      </a:r>
                    </a:p>
                  </a:txBody>
                  <a:tcPr anchor="ctr">
                    <a:lnL>
                      <a:noFill/>
                    </a:lnL>
                    <a:lnR>
                      <a:noFill/>
                    </a:lnR>
                    <a:lnT>
                      <a:noFill/>
                    </a:lnT>
                    <a:lnB>
                      <a:noFill/>
                    </a:lnB>
                    <a:noFill/>
                  </a:tcPr>
                </a:tc>
                <a:extLst>
                  <a:ext uri="{0D108BD9-81ED-4DB2-BD59-A6C34878D82A}">
                    <a16:rowId xmlns:a16="http://schemas.microsoft.com/office/drawing/2014/main" val="3068348784"/>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dirty="0"/>
                        <a:t>Spam</a:t>
                      </a:r>
                    </a:p>
                  </a:txBody>
                  <a:tcPr anchor="ctr">
                    <a:lnL>
                      <a:noFill/>
                    </a:lnL>
                    <a:lnR>
                      <a:noFill/>
                    </a:lnR>
                    <a:lnT>
                      <a:noFill/>
                    </a:lnT>
                    <a:lnB>
                      <a:noFill/>
                    </a:lnB>
                    <a:noFill/>
                  </a:tcPr>
                </a:tc>
                <a:extLst>
                  <a:ext uri="{0D108BD9-81ED-4DB2-BD59-A6C34878D82A}">
                    <a16:rowId xmlns:a16="http://schemas.microsoft.com/office/drawing/2014/main" val="1248632172"/>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dirty="0"/>
                        <a:t>Spam</a:t>
                      </a:r>
                    </a:p>
                  </a:txBody>
                  <a:tcPr anchor="ctr">
                    <a:lnL>
                      <a:noFill/>
                    </a:lnL>
                    <a:lnR>
                      <a:noFill/>
                    </a:lnR>
                    <a:lnT>
                      <a:noFill/>
                    </a:lnT>
                    <a:lnB>
                      <a:noFill/>
                    </a:lnB>
                    <a:noFill/>
                  </a:tcPr>
                </a:tc>
                <a:extLst>
                  <a:ext uri="{0D108BD9-81ED-4DB2-BD59-A6C34878D82A}">
                    <a16:rowId xmlns:a16="http://schemas.microsoft.com/office/drawing/2014/main" val="3576462598"/>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Spam</a:t>
                      </a:r>
                    </a:p>
                  </a:txBody>
                  <a:tcPr anchor="ctr">
                    <a:lnL>
                      <a:noFill/>
                    </a:lnL>
                    <a:lnR>
                      <a:noFill/>
                    </a:lnR>
                    <a:lnT>
                      <a:noFill/>
                    </a:lnT>
                    <a:lnB>
                      <a:noFill/>
                    </a:lnB>
                    <a:noFill/>
                  </a:tcPr>
                </a:tc>
                <a:extLst>
                  <a:ext uri="{0D108BD9-81ED-4DB2-BD59-A6C34878D82A}">
                    <a16:rowId xmlns:a16="http://schemas.microsoft.com/office/drawing/2014/main" val="3665292249"/>
                  </a:ext>
                </a:extLst>
              </a:tr>
              <a:tr h="0">
                <a:tc>
                  <a:txBody>
                    <a:bodyPr/>
                    <a:lstStyle/>
                    <a:p>
                      <a:pPr>
                        <a:buNone/>
                      </a:pPr>
                      <a:r>
                        <a:rPr lang="en-US"/>
                        <a:t>4</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Not Spam</a:t>
                      </a:r>
                    </a:p>
                  </a:txBody>
                  <a:tcPr anchor="ctr">
                    <a:lnL>
                      <a:noFill/>
                    </a:lnL>
                    <a:lnR>
                      <a:noFill/>
                    </a:lnR>
                    <a:lnT>
                      <a:noFill/>
                    </a:lnT>
                    <a:lnB>
                      <a:noFill/>
                    </a:lnB>
                    <a:noFill/>
                  </a:tcPr>
                </a:tc>
                <a:extLst>
                  <a:ext uri="{0D108BD9-81ED-4DB2-BD59-A6C34878D82A}">
                    <a16:rowId xmlns:a16="http://schemas.microsoft.com/office/drawing/2014/main" val="2031653753"/>
                  </a:ext>
                </a:extLst>
              </a:tr>
              <a:tr h="0">
                <a:tc>
                  <a:txBody>
                    <a:bodyPr/>
                    <a:lstStyle/>
                    <a:p>
                      <a:pPr>
                        <a:buNone/>
                      </a:pPr>
                      <a:r>
                        <a:rPr lang="en-US"/>
                        <a:t>5</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dirty="0"/>
                        <a:t>Not Spam</a:t>
                      </a:r>
                    </a:p>
                  </a:txBody>
                  <a:tcPr anchor="ctr">
                    <a:lnL>
                      <a:noFill/>
                    </a:lnL>
                    <a:lnR>
                      <a:noFill/>
                    </a:lnR>
                    <a:lnT>
                      <a:noFill/>
                    </a:lnT>
                    <a:lnB>
                      <a:noFill/>
                    </a:lnB>
                    <a:noFill/>
                  </a:tcPr>
                </a:tc>
                <a:extLst>
                  <a:ext uri="{0D108BD9-81ED-4DB2-BD59-A6C34878D82A}">
                    <a16:rowId xmlns:a16="http://schemas.microsoft.com/office/drawing/2014/main" val="1544264981"/>
                  </a:ext>
                </a:extLst>
              </a:tr>
            </a:tbl>
          </a:graphicData>
        </a:graphic>
      </p:graphicFrame>
      <p:sp>
        <p:nvSpPr>
          <p:cNvPr id="26" name="TextBox 25">
            <a:extLst>
              <a:ext uri="{FF2B5EF4-FFF2-40B4-BE49-F238E27FC236}">
                <a16:creationId xmlns:a16="http://schemas.microsoft.com/office/drawing/2014/main" id="{34580789-9887-1CDF-25DD-63012EA74765}"/>
              </a:ext>
            </a:extLst>
          </p:cNvPr>
          <p:cNvSpPr txBox="1"/>
          <p:nvPr/>
        </p:nvSpPr>
        <p:spPr>
          <a:xfrm>
            <a:off x="89452" y="1806816"/>
            <a:ext cx="1514197" cy="369332"/>
          </a:xfrm>
          <a:prstGeom prst="rect">
            <a:avLst/>
          </a:prstGeom>
          <a:noFill/>
        </p:spPr>
        <p:txBody>
          <a:bodyPr wrap="none" rtlCol="0">
            <a:spAutoFit/>
          </a:bodyPr>
          <a:lstStyle/>
          <a:p>
            <a:pPr algn="l"/>
            <a:r>
              <a:rPr lang="en-US" dirty="0">
                <a:solidFill>
                  <a:schemeClr val="accent1"/>
                </a:solidFill>
              </a:rPr>
              <a:t>Training data</a:t>
            </a:r>
            <a:r>
              <a:rPr lang="en-US" dirty="0"/>
              <a:t>:</a:t>
            </a:r>
          </a:p>
        </p:txBody>
      </p:sp>
      <p:sp>
        <p:nvSpPr>
          <p:cNvPr id="28" name="Rectangle 27">
            <a:extLst>
              <a:ext uri="{FF2B5EF4-FFF2-40B4-BE49-F238E27FC236}">
                <a16:creationId xmlns:a16="http://schemas.microsoft.com/office/drawing/2014/main" id="{4CB62CC3-BBE7-37DE-52D3-657BE43A048F}"/>
              </a:ext>
            </a:extLst>
          </p:cNvPr>
          <p:cNvSpPr/>
          <p:nvPr/>
        </p:nvSpPr>
        <p:spPr>
          <a:xfrm>
            <a:off x="327991" y="2194560"/>
            <a:ext cx="5059018" cy="2487293"/>
          </a:xfrm>
          <a:prstGeom prst="rect">
            <a:avLst/>
          </a:pr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documentclass{article}&#10;\usepackage{amsmath}&#10;\pagestyle{empty}&#10;\begin{document}&#10;\begin{align*}&#10;P(Spam|Free,\neg Win) &amp;\propto P(Spam)*P(Free|Spam)*P(\neg Win|Spam)\\&#10;&amp;\propto \frac{3}{5}*\frac{2}{3}*\frac{1}{3} = \frac{2}{15}\\&#10;P(\neg Spam|Free,\neg Win) &amp;\propto P(\neg Spam)*P(Free|\neg Spam)*P(\neg Win|\neg Spam)\\&#10;&amp;\propto \frac{2}{5}*\frac{0}{2}*\frac{2}{2} = 0&#10;\end{align*}&#10;\end{document}" title="IguanaTex Bitmap Display">
            <a:extLst>
              <a:ext uri="{FF2B5EF4-FFF2-40B4-BE49-F238E27FC236}">
                <a16:creationId xmlns:a16="http://schemas.microsoft.com/office/drawing/2014/main" id="{3ACCF238-DCAB-ADB2-8924-B1C8CEF0A5AF}"/>
              </a:ext>
            </a:extLst>
          </p:cNvPr>
          <p:cNvPicPr>
            <a:picLocks noChangeAspect="1"/>
          </p:cNvPicPr>
          <p:nvPr>
            <p:custDataLst>
              <p:tags r:id="rId1"/>
            </p:custDataLst>
          </p:nvPr>
        </p:nvPicPr>
        <p:blipFill>
          <a:blip r:embed="rId4"/>
          <a:stretch>
            <a:fillRect/>
          </a:stretch>
        </p:blipFill>
        <p:spPr>
          <a:xfrm>
            <a:off x="5791850" y="2283722"/>
            <a:ext cx="6204683" cy="1811197"/>
          </a:xfrm>
          <a:prstGeom prst="rect">
            <a:avLst/>
          </a:prstGeom>
        </p:spPr>
      </p:pic>
      <p:sp>
        <p:nvSpPr>
          <p:cNvPr id="45" name="Oval 44">
            <a:extLst>
              <a:ext uri="{FF2B5EF4-FFF2-40B4-BE49-F238E27FC236}">
                <a16:creationId xmlns:a16="http://schemas.microsoft.com/office/drawing/2014/main" id="{3AC77593-ABBC-8903-A10A-5BA822DC4F7B}"/>
              </a:ext>
            </a:extLst>
          </p:cNvPr>
          <p:cNvSpPr/>
          <p:nvPr/>
        </p:nvSpPr>
        <p:spPr>
          <a:xfrm>
            <a:off x="8219661" y="3522250"/>
            <a:ext cx="248478" cy="735498"/>
          </a:xfrm>
          <a:prstGeom prst="ellipse">
            <a:avLst/>
          </a:prstGeom>
          <a:solidFill>
            <a:srgbClr val="FF0000">
              <a:alpha val="9000"/>
            </a:srgbClr>
          </a:solidFill>
          <a:ln w="19050">
            <a:solidFill>
              <a:srgbClr val="FF0000"/>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5D86C7-FC11-BA5B-C29D-857DC65937FA}"/>
              </a:ext>
            </a:extLst>
          </p:cNvPr>
          <p:cNvSpPr txBox="1"/>
          <p:nvPr/>
        </p:nvSpPr>
        <p:spPr>
          <a:xfrm>
            <a:off x="214697" y="4782017"/>
            <a:ext cx="5172312" cy="1938992"/>
          </a:xfrm>
          <a:prstGeom prst="rect">
            <a:avLst/>
          </a:prstGeom>
          <a:noFill/>
        </p:spPr>
        <p:txBody>
          <a:bodyPr wrap="square" rtlCol="0">
            <a:spAutoFit/>
          </a:bodyPr>
          <a:lstStyle/>
          <a:p>
            <a:pPr algn="l"/>
            <a:r>
              <a:rPr lang="en-US" sz="2000" dirty="0"/>
              <a:t>Hyperparameter “strength” k</a:t>
            </a:r>
          </a:p>
          <a:p>
            <a:pPr algn="l"/>
            <a:r>
              <a:rPr lang="en-US" sz="2000" dirty="0"/>
              <a:t>Sample size N, outcome x, |X| possible values</a:t>
            </a:r>
          </a:p>
          <a:p>
            <a:pPr algn="l"/>
            <a:r>
              <a:rPr lang="en-US" sz="2000" dirty="0"/>
              <a:t>P</a:t>
            </a:r>
            <a:r>
              <a:rPr lang="en-US" sz="2000" baseline="-25000" dirty="0"/>
              <a:t>MAP </a:t>
            </a:r>
            <a:r>
              <a:rPr lang="en-US" sz="2000" dirty="0"/>
              <a:t>(x) = count(x)/N</a:t>
            </a:r>
          </a:p>
          <a:p>
            <a:pPr algn="l"/>
            <a:r>
              <a:rPr lang="en-US" sz="2000" dirty="0" err="1"/>
              <a:t>P</a:t>
            </a:r>
            <a:r>
              <a:rPr lang="en-US" sz="2000" baseline="-25000" dirty="0" err="1"/>
              <a:t>LAP,k</a:t>
            </a:r>
            <a:r>
              <a:rPr lang="en-US" sz="2000" dirty="0"/>
              <a:t>(x) = (count(x)+k) / (</a:t>
            </a:r>
            <a:r>
              <a:rPr lang="en-US" sz="2000" dirty="0" err="1"/>
              <a:t>N+k</a:t>
            </a:r>
            <a:r>
              <a:rPr lang="en-US" sz="2000" dirty="0"/>
              <a:t>*|X|)</a:t>
            </a:r>
          </a:p>
          <a:p>
            <a:pPr algn="l"/>
            <a:r>
              <a:rPr lang="en-US" sz="2000" dirty="0"/>
              <a:t>Intuitively, assume you see k more instances </a:t>
            </a:r>
            <a:br>
              <a:rPr lang="en-US" sz="2000" dirty="0"/>
            </a:br>
            <a:r>
              <a:rPr lang="en-US" sz="2000" dirty="0"/>
              <a:t>from each possible feature value</a:t>
            </a:r>
            <a:endParaRPr lang="en-US" dirty="0"/>
          </a:p>
        </p:txBody>
      </p:sp>
      <p:pic>
        <p:nvPicPr>
          <p:cNvPr id="13" name="Picture 12" descr="\documentclass{article}&#10;\usepackage{amsmath}&#10;\pagestyle{empty}&#10;\begin{document}&#10;\begin{align*}&#10;P(Spam|Free,\neg Win) &amp;\propto P(Spam)*P(Free|Spam)*P(\neg Win|Spam)\\&#10;&amp;\propto \frac{3}{5}*\frac{3}{5}*\frac{2}{5} = \frac{18}{125}\\&#10;P(\neg Spam|Free,\neg Win) &amp;\propto P(\neg Spam)*P(Free|\neg Spam)*P(\neg Win|\neg Spam)\\&#10;&amp;\propto \frac{2}{5}*\frac{1}{4}*\frac{3}{4} = \frac{3}{40}&#10;\end{align*}&#10;\end{document}" title="IguanaTex Bitmap Display">
            <a:extLst>
              <a:ext uri="{FF2B5EF4-FFF2-40B4-BE49-F238E27FC236}">
                <a16:creationId xmlns:a16="http://schemas.microsoft.com/office/drawing/2014/main" id="{AE2EE5E2-C50F-3B06-6639-13238EDD0D72}"/>
              </a:ext>
            </a:extLst>
          </p:cNvPr>
          <p:cNvPicPr>
            <a:picLocks noChangeAspect="1"/>
          </p:cNvPicPr>
          <p:nvPr>
            <p:custDataLst>
              <p:tags r:id="rId2"/>
            </p:custDataLst>
          </p:nvPr>
        </p:nvPicPr>
        <p:blipFill>
          <a:blip r:embed="rId5"/>
          <a:stretch>
            <a:fillRect/>
          </a:stretch>
        </p:blipFill>
        <p:spPr>
          <a:xfrm>
            <a:off x="5715650" y="4725410"/>
            <a:ext cx="6204684" cy="1811197"/>
          </a:xfrm>
          <a:prstGeom prst="rect">
            <a:avLst/>
          </a:prstGeom>
        </p:spPr>
      </p:pic>
      <p:sp>
        <p:nvSpPr>
          <p:cNvPr id="15" name="Rectangle 14">
            <a:extLst>
              <a:ext uri="{FF2B5EF4-FFF2-40B4-BE49-F238E27FC236}">
                <a16:creationId xmlns:a16="http://schemas.microsoft.com/office/drawing/2014/main" id="{2EE8EFF6-7F0B-98DB-038F-837F83993BCD}"/>
              </a:ext>
            </a:extLst>
          </p:cNvPr>
          <p:cNvSpPr/>
          <p:nvPr/>
        </p:nvSpPr>
        <p:spPr>
          <a:xfrm>
            <a:off x="5601706" y="4572000"/>
            <a:ext cx="6394827" cy="2056135"/>
          </a:xfrm>
          <a:prstGeom prst="rect">
            <a:avLst/>
          </a:prstGeom>
          <a:solidFill>
            <a:srgbClr val="0070C0">
              <a:alpha val="5000"/>
            </a:srgbClr>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2856F0B-6CE7-E957-8E93-D653D04C0277}"/>
              </a:ext>
            </a:extLst>
          </p:cNvPr>
          <p:cNvSpPr txBox="1"/>
          <p:nvPr/>
        </p:nvSpPr>
        <p:spPr>
          <a:xfrm>
            <a:off x="6700577" y="4257748"/>
            <a:ext cx="3595793" cy="369332"/>
          </a:xfrm>
          <a:prstGeom prst="rect">
            <a:avLst/>
          </a:prstGeom>
          <a:noFill/>
        </p:spPr>
        <p:txBody>
          <a:bodyPr wrap="none" rtlCol="0">
            <a:spAutoFit/>
          </a:bodyPr>
          <a:lstStyle/>
          <a:p>
            <a:pPr algn="l"/>
            <a:r>
              <a:rPr lang="en-US" dirty="0"/>
              <a:t>Laplace smoothing with strength 1</a:t>
            </a:r>
          </a:p>
        </p:txBody>
      </p:sp>
      <p:sp>
        <p:nvSpPr>
          <p:cNvPr id="18" name="Rectangle 17">
            <a:extLst>
              <a:ext uri="{FF2B5EF4-FFF2-40B4-BE49-F238E27FC236}">
                <a16:creationId xmlns:a16="http://schemas.microsoft.com/office/drawing/2014/main" id="{BC1F336B-2889-F620-04CA-087A0BC6757A}"/>
              </a:ext>
            </a:extLst>
          </p:cNvPr>
          <p:cNvSpPr/>
          <p:nvPr/>
        </p:nvSpPr>
        <p:spPr>
          <a:xfrm>
            <a:off x="5620578" y="2190410"/>
            <a:ext cx="6394827" cy="2056135"/>
          </a:xfrm>
          <a:prstGeom prst="rect">
            <a:avLst/>
          </a:prstGeom>
          <a:solidFill>
            <a:srgbClr val="0070C0">
              <a:alpha val="5000"/>
            </a:srgbClr>
          </a:solid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917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1B32E2-96C1-46B5-E04A-6E8912CE0F0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03B1C2-9DEB-6150-7DE3-FEE07339C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FBE0D87-EB4D-824E-FB02-65730F150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7208747-2386-16D0-FBAB-F2EE20927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E8F8DC6-1744-D35D-BE21-854AA2AA15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37162D7-D90E-BF53-1099-659C0C7B0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15A030-F865-CF6D-B361-4F0DCFB95122}"/>
              </a:ext>
            </a:extLst>
          </p:cNvPr>
          <p:cNvSpPr>
            <a:spLocks noGrp="1"/>
          </p:cNvSpPr>
          <p:nvPr>
            <p:ph type="title"/>
          </p:nvPr>
        </p:nvSpPr>
        <p:spPr>
          <a:xfrm>
            <a:off x="432550" y="229865"/>
            <a:ext cx="10348226" cy="1033669"/>
          </a:xfrm>
        </p:spPr>
        <p:txBody>
          <a:bodyPr>
            <a:normAutofit fontScale="90000"/>
          </a:bodyPr>
          <a:lstStyle/>
          <a:p>
            <a:r>
              <a:rPr lang="en-US" sz="4000" dirty="0">
                <a:solidFill>
                  <a:schemeClr val="bg1"/>
                </a:solidFill>
              </a:rPr>
              <a:t>Intuition: How does naïve Bayes classifier generalize?</a:t>
            </a:r>
          </a:p>
        </p:txBody>
      </p:sp>
      <p:graphicFrame>
        <p:nvGraphicFramePr>
          <p:cNvPr id="25" name="Table 24">
            <a:extLst>
              <a:ext uri="{FF2B5EF4-FFF2-40B4-BE49-F238E27FC236}">
                <a16:creationId xmlns:a16="http://schemas.microsoft.com/office/drawing/2014/main" id="{32DE5094-D49E-5038-71A5-74B2EC82605B}"/>
              </a:ext>
            </a:extLst>
          </p:cNvPr>
          <p:cNvGraphicFramePr>
            <a:graphicFrameLocks noGrp="1"/>
          </p:cNvGraphicFramePr>
          <p:nvPr>
            <p:extLst>
              <p:ext uri="{D42A27DB-BD31-4B8C-83A1-F6EECF244321}">
                <p14:modId xmlns:p14="http://schemas.microsoft.com/office/powerpoint/2010/main" val="438226334"/>
              </p:ext>
            </p:extLst>
          </p:nvPr>
        </p:nvGraphicFramePr>
        <p:xfrm>
          <a:off x="432550" y="2194560"/>
          <a:ext cx="4865008" cy="2468880"/>
        </p:xfrm>
        <a:graphic>
          <a:graphicData uri="http://schemas.openxmlformats.org/drawingml/2006/table">
            <a:tbl>
              <a:tblPr/>
              <a:tblGrid>
                <a:gridCol w="1216252">
                  <a:extLst>
                    <a:ext uri="{9D8B030D-6E8A-4147-A177-3AD203B41FA5}">
                      <a16:colId xmlns:a16="http://schemas.microsoft.com/office/drawing/2014/main" val="3029839543"/>
                    </a:ext>
                  </a:extLst>
                </a:gridCol>
                <a:gridCol w="1216252">
                  <a:extLst>
                    <a:ext uri="{9D8B030D-6E8A-4147-A177-3AD203B41FA5}">
                      <a16:colId xmlns:a16="http://schemas.microsoft.com/office/drawing/2014/main" val="4237366675"/>
                    </a:ext>
                  </a:extLst>
                </a:gridCol>
                <a:gridCol w="1216252">
                  <a:extLst>
                    <a:ext uri="{9D8B030D-6E8A-4147-A177-3AD203B41FA5}">
                      <a16:colId xmlns:a16="http://schemas.microsoft.com/office/drawing/2014/main" val="380797467"/>
                    </a:ext>
                  </a:extLst>
                </a:gridCol>
                <a:gridCol w="1216252">
                  <a:extLst>
                    <a:ext uri="{9D8B030D-6E8A-4147-A177-3AD203B41FA5}">
                      <a16:colId xmlns:a16="http://schemas.microsoft.com/office/drawing/2014/main" val="1041152228"/>
                    </a:ext>
                  </a:extLst>
                </a:gridCol>
              </a:tblGrid>
              <a:tr h="0">
                <a:tc>
                  <a:txBody>
                    <a:bodyPr/>
                    <a:lstStyle/>
                    <a:p>
                      <a:pPr>
                        <a:buNone/>
                      </a:pPr>
                      <a:r>
                        <a:rPr lang="en-US"/>
                        <a:t>Email</a:t>
                      </a:r>
                    </a:p>
                  </a:txBody>
                  <a:tcPr anchor="ctr">
                    <a:lnL>
                      <a:noFill/>
                    </a:lnL>
                    <a:lnR>
                      <a:noFill/>
                    </a:lnR>
                    <a:lnT>
                      <a:noFill/>
                    </a:lnT>
                    <a:lnB>
                      <a:noFill/>
                    </a:lnB>
                    <a:noFill/>
                  </a:tcPr>
                </a:tc>
                <a:tc>
                  <a:txBody>
                    <a:bodyPr/>
                    <a:lstStyle/>
                    <a:p>
                      <a:pPr>
                        <a:buNone/>
                      </a:pPr>
                      <a:r>
                        <a:rPr lang="en-US" dirty="0"/>
                        <a:t>Contains “Free”?</a:t>
                      </a:r>
                    </a:p>
                  </a:txBody>
                  <a:tcPr anchor="ctr">
                    <a:lnL>
                      <a:noFill/>
                    </a:lnL>
                    <a:lnR>
                      <a:noFill/>
                    </a:lnR>
                    <a:lnT>
                      <a:noFill/>
                    </a:lnT>
                    <a:lnB>
                      <a:noFill/>
                    </a:lnB>
                    <a:noFill/>
                  </a:tcPr>
                </a:tc>
                <a:tc>
                  <a:txBody>
                    <a:bodyPr/>
                    <a:lstStyle/>
                    <a:p>
                      <a:pPr>
                        <a:buNone/>
                      </a:pPr>
                      <a:r>
                        <a:rPr lang="en-US"/>
                        <a:t>Contains “Win”?</a:t>
                      </a:r>
                    </a:p>
                  </a:txBody>
                  <a:tcPr anchor="ctr">
                    <a:lnL>
                      <a:noFill/>
                    </a:lnL>
                    <a:lnR>
                      <a:noFill/>
                    </a:lnR>
                    <a:lnT>
                      <a:noFill/>
                    </a:lnT>
                    <a:lnB>
                      <a:noFill/>
                    </a:lnB>
                    <a:noFill/>
                  </a:tcPr>
                </a:tc>
                <a:tc>
                  <a:txBody>
                    <a:bodyPr/>
                    <a:lstStyle/>
                    <a:p>
                      <a:pPr>
                        <a:buNone/>
                      </a:pPr>
                      <a:r>
                        <a:rPr lang="en-US"/>
                        <a:t>Class</a:t>
                      </a:r>
                    </a:p>
                  </a:txBody>
                  <a:tcPr anchor="ctr">
                    <a:lnL>
                      <a:noFill/>
                    </a:lnL>
                    <a:lnR>
                      <a:noFill/>
                    </a:lnR>
                    <a:lnT>
                      <a:noFill/>
                    </a:lnT>
                    <a:lnB>
                      <a:noFill/>
                    </a:lnB>
                    <a:noFill/>
                  </a:tcPr>
                </a:tc>
                <a:extLst>
                  <a:ext uri="{0D108BD9-81ED-4DB2-BD59-A6C34878D82A}">
                    <a16:rowId xmlns:a16="http://schemas.microsoft.com/office/drawing/2014/main" val="3068348784"/>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dirty="0"/>
                        <a:t>Spam</a:t>
                      </a:r>
                    </a:p>
                  </a:txBody>
                  <a:tcPr anchor="ctr">
                    <a:lnL>
                      <a:noFill/>
                    </a:lnL>
                    <a:lnR>
                      <a:noFill/>
                    </a:lnR>
                    <a:lnT>
                      <a:noFill/>
                    </a:lnT>
                    <a:lnB>
                      <a:noFill/>
                    </a:lnB>
                    <a:noFill/>
                  </a:tcPr>
                </a:tc>
                <a:extLst>
                  <a:ext uri="{0D108BD9-81ED-4DB2-BD59-A6C34878D82A}">
                    <a16:rowId xmlns:a16="http://schemas.microsoft.com/office/drawing/2014/main" val="1248632172"/>
                  </a:ext>
                </a:extLst>
              </a:tr>
              <a:tr h="0">
                <a:tc>
                  <a:txBody>
                    <a:bodyPr/>
                    <a:lstStyle/>
                    <a:p>
                      <a:pPr>
                        <a:buNone/>
                      </a:pPr>
                      <a:r>
                        <a:rPr lang="en-US" dirty="0"/>
                        <a:t>2</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dirty="0"/>
                        <a:t>Spam</a:t>
                      </a:r>
                    </a:p>
                  </a:txBody>
                  <a:tcPr anchor="ctr">
                    <a:lnL>
                      <a:noFill/>
                    </a:lnL>
                    <a:lnR>
                      <a:noFill/>
                    </a:lnR>
                    <a:lnT>
                      <a:noFill/>
                    </a:lnT>
                    <a:lnB>
                      <a:noFill/>
                    </a:lnB>
                    <a:noFill/>
                  </a:tcPr>
                </a:tc>
                <a:extLst>
                  <a:ext uri="{0D108BD9-81ED-4DB2-BD59-A6C34878D82A}">
                    <a16:rowId xmlns:a16="http://schemas.microsoft.com/office/drawing/2014/main" val="3576462598"/>
                  </a:ext>
                </a:extLst>
              </a:tr>
              <a:tr h="0">
                <a:tc>
                  <a:txBody>
                    <a:bodyPr/>
                    <a:lstStyle/>
                    <a:p>
                      <a:pPr>
                        <a:buNone/>
                      </a:pPr>
                      <a:r>
                        <a:rPr lang="en-US" dirty="0"/>
                        <a:t>3</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solidFill>
                      <a:schemeClr val="accent1">
                        <a:alpha val="22000"/>
                      </a:schemeClr>
                    </a:solidFill>
                  </a:tcPr>
                </a:tc>
                <a:tc>
                  <a:txBody>
                    <a:bodyPr/>
                    <a:lstStyle/>
                    <a:p>
                      <a:pPr>
                        <a:buNone/>
                      </a:pPr>
                      <a:r>
                        <a:rPr lang="en-US" dirty="0"/>
                        <a:t>Yes</a:t>
                      </a:r>
                    </a:p>
                  </a:txBody>
                  <a:tcPr anchor="ctr">
                    <a:lnL>
                      <a:noFill/>
                    </a:lnL>
                    <a:lnR>
                      <a:noFill/>
                    </a:lnR>
                    <a:lnT>
                      <a:noFill/>
                    </a:lnT>
                    <a:lnB>
                      <a:noFill/>
                    </a:lnB>
                    <a:solidFill>
                      <a:schemeClr val="accent1">
                        <a:alpha val="22000"/>
                      </a:schemeClr>
                    </a:solidFill>
                  </a:tcPr>
                </a:tc>
                <a:tc>
                  <a:txBody>
                    <a:bodyPr/>
                    <a:lstStyle/>
                    <a:p>
                      <a:pPr>
                        <a:buNone/>
                      </a:pPr>
                      <a:r>
                        <a:rPr lang="en-US" dirty="0"/>
                        <a:t>Spam</a:t>
                      </a:r>
                    </a:p>
                  </a:txBody>
                  <a:tcPr anchor="ctr">
                    <a:lnL>
                      <a:noFill/>
                    </a:lnL>
                    <a:lnR>
                      <a:noFill/>
                    </a:lnR>
                    <a:lnT>
                      <a:noFill/>
                    </a:lnT>
                    <a:lnB>
                      <a:noFill/>
                    </a:lnB>
                    <a:solidFill>
                      <a:schemeClr val="accent1">
                        <a:alpha val="22000"/>
                      </a:schemeClr>
                    </a:solidFill>
                  </a:tcPr>
                </a:tc>
                <a:extLst>
                  <a:ext uri="{0D108BD9-81ED-4DB2-BD59-A6C34878D82A}">
                    <a16:rowId xmlns:a16="http://schemas.microsoft.com/office/drawing/2014/main" val="3665292249"/>
                  </a:ext>
                </a:extLst>
              </a:tr>
              <a:tr h="0">
                <a:tc>
                  <a:txBody>
                    <a:bodyPr/>
                    <a:lstStyle/>
                    <a:p>
                      <a:pPr>
                        <a:buNone/>
                      </a:pPr>
                      <a:r>
                        <a:rPr lang="en-US" dirty="0"/>
                        <a:t>4</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Not Spam</a:t>
                      </a:r>
                    </a:p>
                  </a:txBody>
                  <a:tcPr anchor="ctr">
                    <a:lnL>
                      <a:noFill/>
                    </a:lnL>
                    <a:lnR>
                      <a:noFill/>
                    </a:lnR>
                    <a:lnT>
                      <a:noFill/>
                    </a:lnT>
                    <a:lnB>
                      <a:noFill/>
                    </a:lnB>
                    <a:noFill/>
                  </a:tcPr>
                </a:tc>
                <a:extLst>
                  <a:ext uri="{0D108BD9-81ED-4DB2-BD59-A6C34878D82A}">
                    <a16:rowId xmlns:a16="http://schemas.microsoft.com/office/drawing/2014/main" val="2031653753"/>
                  </a:ext>
                </a:extLst>
              </a:tr>
              <a:tr h="0">
                <a:tc>
                  <a:txBody>
                    <a:bodyPr/>
                    <a:lstStyle/>
                    <a:p>
                      <a:pPr>
                        <a:buNone/>
                      </a:pPr>
                      <a:r>
                        <a:rPr lang="en-US" dirty="0"/>
                        <a:t>5</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dirty="0"/>
                        <a:t>Not Spam</a:t>
                      </a:r>
                    </a:p>
                  </a:txBody>
                  <a:tcPr anchor="ctr">
                    <a:lnL>
                      <a:noFill/>
                    </a:lnL>
                    <a:lnR>
                      <a:noFill/>
                    </a:lnR>
                    <a:lnT>
                      <a:noFill/>
                    </a:lnT>
                    <a:lnB>
                      <a:noFill/>
                    </a:lnB>
                    <a:noFill/>
                  </a:tcPr>
                </a:tc>
                <a:extLst>
                  <a:ext uri="{0D108BD9-81ED-4DB2-BD59-A6C34878D82A}">
                    <a16:rowId xmlns:a16="http://schemas.microsoft.com/office/drawing/2014/main" val="1544264981"/>
                  </a:ext>
                </a:extLst>
              </a:tr>
            </a:tbl>
          </a:graphicData>
        </a:graphic>
      </p:graphicFrame>
      <p:sp>
        <p:nvSpPr>
          <p:cNvPr id="26" name="TextBox 25">
            <a:extLst>
              <a:ext uri="{FF2B5EF4-FFF2-40B4-BE49-F238E27FC236}">
                <a16:creationId xmlns:a16="http://schemas.microsoft.com/office/drawing/2014/main" id="{42521D8E-A012-EED6-82EA-5D2EFDE1312D}"/>
              </a:ext>
            </a:extLst>
          </p:cNvPr>
          <p:cNvSpPr txBox="1"/>
          <p:nvPr/>
        </p:nvSpPr>
        <p:spPr>
          <a:xfrm>
            <a:off x="89452" y="1806816"/>
            <a:ext cx="1514197" cy="369332"/>
          </a:xfrm>
          <a:prstGeom prst="rect">
            <a:avLst/>
          </a:prstGeom>
          <a:noFill/>
        </p:spPr>
        <p:txBody>
          <a:bodyPr wrap="none" rtlCol="0">
            <a:spAutoFit/>
          </a:bodyPr>
          <a:lstStyle/>
          <a:p>
            <a:pPr algn="l"/>
            <a:r>
              <a:rPr lang="en-US" dirty="0">
                <a:solidFill>
                  <a:schemeClr val="accent1"/>
                </a:solidFill>
              </a:rPr>
              <a:t>Training data</a:t>
            </a:r>
            <a:r>
              <a:rPr lang="en-US" dirty="0"/>
              <a:t>:</a:t>
            </a:r>
          </a:p>
        </p:txBody>
      </p:sp>
      <p:sp>
        <p:nvSpPr>
          <p:cNvPr id="27" name="TextBox 26">
            <a:extLst>
              <a:ext uri="{FF2B5EF4-FFF2-40B4-BE49-F238E27FC236}">
                <a16:creationId xmlns:a16="http://schemas.microsoft.com/office/drawing/2014/main" id="{55646DBC-907C-67FB-A03B-6BA8F7C088ED}"/>
              </a:ext>
            </a:extLst>
          </p:cNvPr>
          <p:cNvSpPr txBox="1"/>
          <p:nvPr/>
        </p:nvSpPr>
        <p:spPr>
          <a:xfrm>
            <a:off x="89452" y="4811746"/>
            <a:ext cx="5932843" cy="369332"/>
          </a:xfrm>
          <a:prstGeom prst="rect">
            <a:avLst/>
          </a:prstGeom>
          <a:noFill/>
        </p:spPr>
        <p:txBody>
          <a:bodyPr wrap="none" rtlCol="0">
            <a:spAutoFit/>
          </a:bodyPr>
          <a:lstStyle/>
          <a:p>
            <a:pPr algn="l"/>
            <a:r>
              <a:rPr lang="en-US" dirty="0">
                <a:solidFill>
                  <a:schemeClr val="accent1"/>
                </a:solidFill>
              </a:rPr>
              <a:t>Inference</a:t>
            </a:r>
            <a:r>
              <a:rPr lang="en-US" dirty="0"/>
              <a:t>: Given mail with no “Free”  and “Win”, is it spam?</a:t>
            </a:r>
          </a:p>
        </p:txBody>
      </p:sp>
      <p:sp>
        <p:nvSpPr>
          <p:cNvPr id="28" name="Rectangle 27">
            <a:extLst>
              <a:ext uri="{FF2B5EF4-FFF2-40B4-BE49-F238E27FC236}">
                <a16:creationId xmlns:a16="http://schemas.microsoft.com/office/drawing/2014/main" id="{AD67A667-0822-2AD2-C7FB-EBC9B597DA17}"/>
              </a:ext>
            </a:extLst>
          </p:cNvPr>
          <p:cNvSpPr/>
          <p:nvPr/>
        </p:nvSpPr>
        <p:spPr>
          <a:xfrm>
            <a:off x="327991" y="2194560"/>
            <a:ext cx="5059018" cy="2487293"/>
          </a:xfrm>
          <a:prstGeom prst="rect">
            <a:avLst/>
          </a:pr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3" name="Picture 92" descr="\documentclass{article}&#10;\usepackage{amsmath}&#10;\pagestyle{empty}&#10;\begin{document}&#10;\begin{align*}&#10;P(Spam|\neg Free,Win) &amp;\propto P(Spam)*P(\neg Free|Spam)*P( Win|Spam)\\&#10;&amp;\propto \frac{2}{4}*\frac{1}{4}*\frac{2}{4} = \frac{1}{16}\\&#10;P(\neg Spam|\neg Free, Win) &amp;\propto P(\neg Spam)*P(\neg Free|\neg Spam)*P(Win|\neg Spam)\\&#10;&amp;\propto \frac{1}{2}*\frac{3}{4}*\frac{1}{4} = \frac{3}{32}&#10;\end{align*}&#10;\end{document}" title="IguanaTex Bitmap Display">
            <a:extLst>
              <a:ext uri="{FF2B5EF4-FFF2-40B4-BE49-F238E27FC236}">
                <a16:creationId xmlns:a16="http://schemas.microsoft.com/office/drawing/2014/main" id="{1BD4480C-9597-10B2-A675-DD8997D08AAE}"/>
              </a:ext>
            </a:extLst>
          </p:cNvPr>
          <p:cNvPicPr>
            <a:picLocks noChangeAspect="1"/>
          </p:cNvPicPr>
          <p:nvPr>
            <p:custDataLst>
              <p:tags r:id="rId1"/>
            </p:custDataLst>
          </p:nvPr>
        </p:nvPicPr>
        <p:blipFill>
          <a:blip r:embed="rId3"/>
          <a:stretch>
            <a:fillRect/>
          </a:stretch>
        </p:blipFill>
        <p:spPr>
          <a:xfrm>
            <a:off x="5791851" y="2283722"/>
            <a:ext cx="6204686" cy="1811197"/>
          </a:xfrm>
          <a:prstGeom prst="rect">
            <a:avLst/>
          </a:prstGeom>
        </p:spPr>
      </p:pic>
      <p:sp>
        <p:nvSpPr>
          <p:cNvPr id="41" name="TextBox 40">
            <a:extLst>
              <a:ext uri="{FF2B5EF4-FFF2-40B4-BE49-F238E27FC236}">
                <a16:creationId xmlns:a16="http://schemas.microsoft.com/office/drawing/2014/main" id="{5F8F383B-F2EB-5721-AF60-E0A36D2A0BEF}"/>
              </a:ext>
            </a:extLst>
          </p:cNvPr>
          <p:cNvSpPr txBox="1"/>
          <p:nvPr/>
        </p:nvSpPr>
        <p:spPr>
          <a:xfrm>
            <a:off x="5791847" y="4257748"/>
            <a:ext cx="4827604" cy="369332"/>
          </a:xfrm>
          <a:prstGeom prst="rect">
            <a:avLst/>
          </a:prstGeom>
          <a:noFill/>
        </p:spPr>
        <p:txBody>
          <a:bodyPr wrap="none" rtlCol="0">
            <a:spAutoFit/>
          </a:bodyPr>
          <a:lstStyle/>
          <a:p>
            <a:pPr algn="l"/>
            <a:r>
              <a:rPr lang="en-US" dirty="0"/>
              <a:t>Prediction with Laplace smoothing (1) : </a:t>
            </a:r>
            <a:r>
              <a:rPr lang="en-US" dirty="0">
                <a:sym typeface="Symbol" panose="05050102010706020507" pitchFamily="18" charset="2"/>
              </a:rPr>
              <a:t> </a:t>
            </a:r>
            <a:r>
              <a:rPr lang="en-US" dirty="0"/>
              <a:t>Spam</a:t>
            </a:r>
          </a:p>
        </p:txBody>
      </p:sp>
      <p:sp>
        <p:nvSpPr>
          <p:cNvPr id="12" name="TextBox 11">
            <a:extLst>
              <a:ext uri="{FF2B5EF4-FFF2-40B4-BE49-F238E27FC236}">
                <a16:creationId xmlns:a16="http://schemas.microsoft.com/office/drawing/2014/main" id="{ED41BEFB-780E-18F0-20DD-F074362DB502}"/>
              </a:ext>
            </a:extLst>
          </p:cNvPr>
          <p:cNvSpPr txBox="1"/>
          <p:nvPr/>
        </p:nvSpPr>
        <p:spPr>
          <a:xfrm>
            <a:off x="89452" y="5465541"/>
            <a:ext cx="6778138" cy="923330"/>
          </a:xfrm>
          <a:prstGeom prst="rect">
            <a:avLst/>
          </a:prstGeom>
          <a:solidFill>
            <a:srgbClr val="0070C0">
              <a:alpha val="21000"/>
            </a:srgbClr>
          </a:solidFill>
        </p:spPr>
        <p:txBody>
          <a:bodyPr wrap="none" rtlCol="0">
            <a:spAutoFit/>
          </a:bodyPr>
          <a:lstStyle/>
          <a:p>
            <a:pPr algn="l"/>
            <a:r>
              <a:rPr lang="en-US" dirty="0"/>
              <a:t>Naïve Bayes classifier generalizes by computing class probabilities</a:t>
            </a:r>
            <a:br>
              <a:rPr lang="en-US" dirty="0"/>
            </a:br>
            <a:r>
              <a:rPr lang="en-US" dirty="0"/>
              <a:t>for given individual features, and multiplying these probabilities </a:t>
            </a:r>
          </a:p>
          <a:p>
            <a:pPr algn="l"/>
            <a:r>
              <a:rPr lang="en-US" dirty="0"/>
              <a:t>to implicitly fill in joint probability table. </a:t>
            </a:r>
          </a:p>
        </p:txBody>
      </p:sp>
      <p:sp>
        <p:nvSpPr>
          <p:cNvPr id="66" name="Parallelogram 65">
            <a:extLst>
              <a:ext uri="{FF2B5EF4-FFF2-40B4-BE49-F238E27FC236}">
                <a16:creationId xmlns:a16="http://schemas.microsoft.com/office/drawing/2014/main" id="{9A422208-5245-70E9-1B07-8D6806C0A601}"/>
              </a:ext>
            </a:extLst>
          </p:cNvPr>
          <p:cNvSpPr/>
          <p:nvPr/>
        </p:nvSpPr>
        <p:spPr>
          <a:xfrm rot="1828099">
            <a:off x="9231263" y="5768178"/>
            <a:ext cx="692294" cy="663983"/>
          </a:xfrm>
          <a:prstGeom prst="parallelogram">
            <a:avLst/>
          </a:prstGeom>
          <a:noFill/>
          <a:ln w="19050">
            <a:solidFill>
              <a:schemeClr val="tx1"/>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BDF6BFDD-EA24-F998-0A61-8AE45D4C8B9A}"/>
              </a:ext>
            </a:extLst>
          </p:cNvPr>
          <p:cNvCxnSpPr>
            <a:cxnSpLocks/>
            <a:stCxn id="66" idx="5"/>
            <a:endCxn id="66" idx="2"/>
          </p:cNvCxnSpPr>
          <p:nvPr/>
        </p:nvCxnSpPr>
        <p:spPr>
          <a:xfrm>
            <a:off x="9350599" y="5966737"/>
            <a:ext cx="453621" cy="2668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43B67B80-7C22-DF11-8657-531D016F29A9}"/>
              </a:ext>
            </a:extLst>
          </p:cNvPr>
          <p:cNvCxnSpPr>
            <a:cxnSpLocks/>
            <a:stCxn id="66" idx="1"/>
            <a:endCxn id="66" idx="3"/>
          </p:cNvCxnSpPr>
          <p:nvPr/>
        </p:nvCxnSpPr>
        <p:spPr>
          <a:xfrm flipH="1">
            <a:off x="9337533" y="5856108"/>
            <a:ext cx="479754" cy="48812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Parallelogram 73">
            <a:extLst>
              <a:ext uri="{FF2B5EF4-FFF2-40B4-BE49-F238E27FC236}">
                <a16:creationId xmlns:a16="http://schemas.microsoft.com/office/drawing/2014/main" id="{C885127B-6F02-FFCB-55E8-ECF9B5DD06CA}"/>
              </a:ext>
            </a:extLst>
          </p:cNvPr>
          <p:cNvSpPr/>
          <p:nvPr/>
        </p:nvSpPr>
        <p:spPr>
          <a:xfrm rot="1828099">
            <a:off x="9263590" y="4960000"/>
            <a:ext cx="692294" cy="663983"/>
          </a:xfrm>
          <a:prstGeom prst="parallelogram">
            <a:avLst/>
          </a:prstGeom>
          <a:noFill/>
          <a:ln w="19050">
            <a:solidFill>
              <a:schemeClr val="tx1"/>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0CC17708-1B55-E983-D3B1-E566EA014419}"/>
              </a:ext>
            </a:extLst>
          </p:cNvPr>
          <p:cNvCxnSpPr>
            <a:cxnSpLocks/>
            <a:stCxn id="74" idx="5"/>
            <a:endCxn id="74" idx="2"/>
          </p:cNvCxnSpPr>
          <p:nvPr/>
        </p:nvCxnSpPr>
        <p:spPr>
          <a:xfrm>
            <a:off x="9382926" y="5158559"/>
            <a:ext cx="453621" cy="2668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C6A1A0E1-FB5E-9B85-1957-7CC222B471A3}"/>
              </a:ext>
            </a:extLst>
          </p:cNvPr>
          <p:cNvCxnSpPr>
            <a:cxnSpLocks/>
            <a:stCxn id="74" idx="1"/>
            <a:endCxn id="74" idx="3"/>
          </p:cNvCxnSpPr>
          <p:nvPr/>
        </p:nvCxnSpPr>
        <p:spPr>
          <a:xfrm flipH="1">
            <a:off x="9369860" y="5047930"/>
            <a:ext cx="479754" cy="48812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87B1F20-75BA-A475-5443-8B15AC7762C0}"/>
              </a:ext>
            </a:extLst>
          </p:cNvPr>
          <p:cNvSpPr txBox="1"/>
          <p:nvPr/>
        </p:nvSpPr>
        <p:spPr>
          <a:xfrm rot="2354820">
            <a:off x="9238378" y="4774997"/>
            <a:ext cx="306494" cy="369332"/>
          </a:xfrm>
          <a:prstGeom prst="rect">
            <a:avLst/>
          </a:prstGeom>
          <a:noFill/>
        </p:spPr>
        <p:txBody>
          <a:bodyPr wrap="none" rtlCol="0">
            <a:spAutoFit/>
          </a:bodyPr>
          <a:lstStyle/>
          <a:p>
            <a:pPr algn="l"/>
            <a:r>
              <a:rPr lang="en-US" dirty="0"/>
              <a:t>F</a:t>
            </a:r>
          </a:p>
        </p:txBody>
      </p:sp>
      <p:sp>
        <p:nvSpPr>
          <p:cNvPr id="78" name="TextBox 77">
            <a:extLst>
              <a:ext uri="{FF2B5EF4-FFF2-40B4-BE49-F238E27FC236}">
                <a16:creationId xmlns:a16="http://schemas.microsoft.com/office/drawing/2014/main" id="{AB6B6215-0B59-B499-7FF8-D4342232422B}"/>
              </a:ext>
            </a:extLst>
          </p:cNvPr>
          <p:cNvSpPr txBox="1"/>
          <p:nvPr/>
        </p:nvSpPr>
        <p:spPr>
          <a:xfrm rot="2195120">
            <a:off x="8851675" y="4962696"/>
            <a:ext cx="518091" cy="369332"/>
          </a:xfrm>
          <a:prstGeom prst="rect">
            <a:avLst/>
          </a:prstGeom>
          <a:noFill/>
        </p:spPr>
        <p:txBody>
          <a:bodyPr wrap="none" rtlCol="0">
            <a:spAutoFit/>
          </a:bodyPr>
          <a:lstStyle/>
          <a:p>
            <a:pPr algn="l"/>
            <a:r>
              <a:rPr lang="en-US" dirty="0">
                <a:sym typeface="Symbol" panose="05050102010706020507" pitchFamily="18" charset="2"/>
              </a:rPr>
              <a:t> F</a:t>
            </a:r>
            <a:endParaRPr lang="en-US" dirty="0"/>
          </a:p>
        </p:txBody>
      </p:sp>
      <p:sp>
        <p:nvSpPr>
          <p:cNvPr id="79" name="TextBox 78">
            <a:extLst>
              <a:ext uri="{FF2B5EF4-FFF2-40B4-BE49-F238E27FC236}">
                <a16:creationId xmlns:a16="http://schemas.microsoft.com/office/drawing/2014/main" id="{C3281235-DA2C-05D5-D555-4BE1B7074EFB}"/>
              </a:ext>
            </a:extLst>
          </p:cNvPr>
          <p:cNvSpPr txBox="1"/>
          <p:nvPr/>
        </p:nvSpPr>
        <p:spPr>
          <a:xfrm rot="2296018">
            <a:off x="9602093" y="4682751"/>
            <a:ext cx="389850" cy="369332"/>
          </a:xfrm>
          <a:prstGeom prst="rect">
            <a:avLst/>
          </a:prstGeom>
          <a:noFill/>
        </p:spPr>
        <p:txBody>
          <a:bodyPr wrap="none" rtlCol="0">
            <a:spAutoFit/>
          </a:bodyPr>
          <a:lstStyle/>
          <a:p>
            <a:pPr algn="l"/>
            <a:r>
              <a:rPr lang="en-US" dirty="0"/>
              <a:t>W</a:t>
            </a:r>
          </a:p>
        </p:txBody>
      </p:sp>
      <p:sp>
        <p:nvSpPr>
          <p:cNvPr id="80" name="TextBox 79">
            <a:extLst>
              <a:ext uri="{FF2B5EF4-FFF2-40B4-BE49-F238E27FC236}">
                <a16:creationId xmlns:a16="http://schemas.microsoft.com/office/drawing/2014/main" id="{22494D6B-3463-C591-9D7A-EA224CDC291B}"/>
              </a:ext>
            </a:extLst>
          </p:cNvPr>
          <p:cNvSpPr txBox="1"/>
          <p:nvPr/>
        </p:nvSpPr>
        <p:spPr>
          <a:xfrm rot="2358463">
            <a:off x="9853166" y="4886432"/>
            <a:ext cx="601447" cy="369332"/>
          </a:xfrm>
          <a:prstGeom prst="rect">
            <a:avLst/>
          </a:prstGeom>
          <a:noFill/>
        </p:spPr>
        <p:txBody>
          <a:bodyPr wrap="none" rtlCol="0">
            <a:spAutoFit/>
          </a:bodyPr>
          <a:lstStyle/>
          <a:p>
            <a:pPr algn="l"/>
            <a:r>
              <a:rPr lang="en-US" dirty="0">
                <a:sym typeface="Symbol" panose="05050102010706020507" pitchFamily="18" charset="2"/>
              </a:rPr>
              <a:t> W</a:t>
            </a:r>
            <a:endParaRPr lang="en-US" dirty="0"/>
          </a:p>
        </p:txBody>
      </p:sp>
      <p:sp>
        <p:nvSpPr>
          <p:cNvPr id="81" name="TextBox 80">
            <a:extLst>
              <a:ext uri="{FF2B5EF4-FFF2-40B4-BE49-F238E27FC236}">
                <a16:creationId xmlns:a16="http://schemas.microsoft.com/office/drawing/2014/main" id="{D8930B68-01AB-9CB3-C480-0ABBEB60CA43}"/>
              </a:ext>
            </a:extLst>
          </p:cNvPr>
          <p:cNvSpPr txBox="1"/>
          <p:nvPr/>
        </p:nvSpPr>
        <p:spPr>
          <a:xfrm>
            <a:off x="10169136" y="5263909"/>
            <a:ext cx="764953" cy="369332"/>
          </a:xfrm>
          <a:prstGeom prst="rect">
            <a:avLst/>
          </a:prstGeom>
          <a:noFill/>
        </p:spPr>
        <p:txBody>
          <a:bodyPr wrap="none" rtlCol="0">
            <a:spAutoFit/>
          </a:bodyPr>
          <a:lstStyle/>
          <a:p>
            <a:pPr algn="l"/>
            <a:r>
              <a:rPr lang="en-US" dirty="0"/>
              <a:t>Spam</a:t>
            </a:r>
          </a:p>
        </p:txBody>
      </p:sp>
      <p:sp>
        <p:nvSpPr>
          <p:cNvPr id="82" name="TextBox 81">
            <a:extLst>
              <a:ext uri="{FF2B5EF4-FFF2-40B4-BE49-F238E27FC236}">
                <a16:creationId xmlns:a16="http://schemas.microsoft.com/office/drawing/2014/main" id="{9E5F8A75-6B3D-8828-0E10-1F9F46C58628}"/>
              </a:ext>
            </a:extLst>
          </p:cNvPr>
          <p:cNvSpPr txBox="1"/>
          <p:nvPr/>
        </p:nvSpPr>
        <p:spPr>
          <a:xfrm>
            <a:off x="10010721" y="6068484"/>
            <a:ext cx="976549" cy="369332"/>
          </a:xfrm>
          <a:prstGeom prst="rect">
            <a:avLst/>
          </a:prstGeom>
          <a:noFill/>
        </p:spPr>
        <p:txBody>
          <a:bodyPr wrap="none" rtlCol="0">
            <a:spAutoFit/>
          </a:bodyPr>
          <a:lstStyle/>
          <a:p>
            <a:pPr algn="l"/>
            <a:r>
              <a:rPr lang="en-US" dirty="0">
                <a:sym typeface="Symbol" panose="05050102010706020507" pitchFamily="18" charset="2"/>
              </a:rPr>
              <a:t> Spam</a:t>
            </a:r>
            <a:endParaRPr lang="en-US" dirty="0"/>
          </a:p>
        </p:txBody>
      </p:sp>
      <p:sp>
        <p:nvSpPr>
          <p:cNvPr id="83" name="TextBox 82">
            <a:extLst>
              <a:ext uri="{FF2B5EF4-FFF2-40B4-BE49-F238E27FC236}">
                <a16:creationId xmlns:a16="http://schemas.microsoft.com/office/drawing/2014/main" id="{74251F1E-90C5-6ACA-3FA1-12910F05F6BE}"/>
              </a:ext>
            </a:extLst>
          </p:cNvPr>
          <p:cNvSpPr txBox="1"/>
          <p:nvPr/>
        </p:nvSpPr>
        <p:spPr>
          <a:xfrm>
            <a:off x="9472876" y="4899476"/>
            <a:ext cx="287258" cy="369332"/>
          </a:xfrm>
          <a:prstGeom prst="rect">
            <a:avLst/>
          </a:prstGeom>
          <a:noFill/>
        </p:spPr>
        <p:txBody>
          <a:bodyPr wrap="none" rtlCol="0">
            <a:spAutoFit/>
          </a:bodyPr>
          <a:lstStyle/>
          <a:p>
            <a:pPr algn="l"/>
            <a:r>
              <a:rPr lang="en-US" dirty="0"/>
              <a:t>x</a:t>
            </a:r>
          </a:p>
        </p:txBody>
      </p:sp>
      <p:sp>
        <p:nvSpPr>
          <p:cNvPr id="84" name="TextBox 83">
            <a:extLst>
              <a:ext uri="{FF2B5EF4-FFF2-40B4-BE49-F238E27FC236}">
                <a16:creationId xmlns:a16="http://schemas.microsoft.com/office/drawing/2014/main" id="{F913658C-F39C-137F-68FA-ADD3B5BECF4D}"/>
              </a:ext>
            </a:extLst>
          </p:cNvPr>
          <p:cNvSpPr txBox="1"/>
          <p:nvPr/>
        </p:nvSpPr>
        <p:spPr>
          <a:xfrm>
            <a:off x="9708427" y="5047465"/>
            <a:ext cx="287258" cy="369332"/>
          </a:xfrm>
          <a:prstGeom prst="rect">
            <a:avLst/>
          </a:prstGeom>
          <a:noFill/>
        </p:spPr>
        <p:txBody>
          <a:bodyPr wrap="none" rtlCol="0">
            <a:spAutoFit/>
          </a:bodyPr>
          <a:lstStyle/>
          <a:p>
            <a:pPr algn="l"/>
            <a:r>
              <a:rPr lang="en-US" dirty="0"/>
              <a:t>x</a:t>
            </a:r>
          </a:p>
        </p:txBody>
      </p:sp>
      <p:sp>
        <p:nvSpPr>
          <p:cNvPr id="85" name="TextBox 84">
            <a:extLst>
              <a:ext uri="{FF2B5EF4-FFF2-40B4-BE49-F238E27FC236}">
                <a16:creationId xmlns:a16="http://schemas.microsoft.com/office/drawing/2014/main" id="{310635D0-E629-8A5D-C300-5421F24FE06F}"/>
              </a:ext>
            </a:extLst>
          </p:cNvPr>
          <p:cNvSpPr txBox="1"/>
          <p:nvPr/>
        </p:nvSpPr>
        <p:spPr>
          <a:xfrm>
            <a:off x="9374775" y="6067479"/>
            <a:ext cx="436338" cy="369332"/>
          </a:xfrm>
          <a:prstGeom prst="rect">
            <a:avLst/>
          </a:prstGeom>
          <a:noFill/>
        </p:spPr>
        <p:txBody>
          <a:bodyPr wrap="none" rtlCol="0">
            <a:spAutoFit/>
          </a:bodyPr>
          <a:lstStyle/>
          <a:p>
            <a:pPr algn="l"/>
            <a:r>
              <a:rPr lang="en-US" dirty="0"/>
              <a:t>x </a:t>
            </a:r>
            <a:r>
              <a:rPr lang="en-US" dirty="0" err="1"/>
              <a:t>x</a:t>
            </a:r>
            <a:endParaRPr lang="en-US" dirty="0"/>
          </a:p>
        </p:txBody>
      </p:sp>
      <p:sp>
        <p:nvSpPr>
          <p:cNvPr id="86" name="TextBox 85">
            <a:extLst>
              <a:ext uri="{FF2B5EF4-FFF2-40B4-BE49-F238E27FC236}">
                <a16:creationId xmlns:a16="http://schemas.microsoft.com/office/drawing/2014/main" id="{5943B0C5-B7E3-2EE2-3968-648071C30996}"/>
              </a:ext>
            </a:extLst>
          </p:cNvPr>
          <p:cNvSpPr txBox="1"/>
          <p:nvPr/>
        </p:nvSpPr>
        <p:spPr>
          <a:xfrm>
            <a:off x="9623898" y="5481408"/>
            <a:ext cx="510076" cy="369332"/>
          </a:xfrm>
          <a:prstGeom prst="rect">
            <a:avLst/>
          </a:prstGeom>
          <a:noFill/>
        </p:spPr>
        <p:txBody>
          <a:bodyPr wrap="none" rtlCol="0">
            <a:spAutoFit/>
          </a:bodyPr>
          <a:lstStyle/>
          <a:p>
            <a:pPr algn="l"/>
            <a:r>
              <a:rPr lang="en-US" dirty="0">
                <a:solidFill>
                  <a:srgbClr val="FF0000"/>
                </a:solidFill>
              </a:rPr>
              <a:t>1/4</a:t>
            </a:r>
          </a:p>
        </p:txBody>
      </p:sp>
      <p:sp>
        <p:nvSpPr>
          <p:cNvPr id="87" name="TextBox 86">
            <a:extLst>
              <a:ext uri="{FF2B5EF4-FFF2-40B4-BE49-F238E27FC236}">
                <a16:creationId xmlns:a16="http://schemas.microsoft.com/office/drawing/2014/main" id="{EE82BDD0-2B69-0EE9-0CB6-53FAF5F12A2C}"/>
              </a:ext>
            </a:extLst>
          </p:cNvPr>
          <p:cNvSpPr txBox="1"/>
          <p:nvPr/>
        </p:nvSpPr>
        <p:spPr>
          <a:xfrm>
            <a:off x="8846717" y="5412739"/>
            <a:ext cx="510076" cy="369332"/>
          </a:xfrm>
          <a:prstGeom prst="rect">
            <a:avLst/>
          </a:prstGeom>
          <a:noFill/>
        </p:spPr>
        <p:txBody>
          <a:bodyPr wrap="none" rtlCol="0">
            <a:spAutoFit/>
          </a:bodyPr>
          <a:lstStyle/>
          <a:p>
            <a:pPr algn="l"/>
            <a:r>
              <a:rPr lang="en-US" dirty="0">
                <a:solidFill>
                  <a:srgbClr val="FF0000"/>
                </a:solidFill>
              </a:rPr>
              <a:t>2/4</a:t>
            </a:r>
          </a:p>
        </p:txBody>
      </p:sp>
      <p:sp>
        <p:nvSpPr>
          <p:cNvPr id="88" name="TextBox 87">
            <a:extLst>
              <a:ext uri="{FF2B5EF4-FFF2-40B4-BE49-F238E27FC236}">
                <a16:creationId xmlns:a16="http://schemas.microsoft.com/office/drawing/2014/main" id="{4C38C8DE-08E7-CFA4-0345-5528E0AD5FA9}"/>
              </a:ext>
            </a:extLst>
          </p:cNvPr>
          <p:cNvSpPr txBox="1"/>
          <p:nvPr/>
        </p:nvSpPr>
        <p:spPr>
          <a:xfrm>
            <a:off x="8792650" y="6258910"/>
            <a:ext cx="510076" cy="369332"/>
          </a:xfrm>
          <a:prstGeom prst="rect">
            <a:avLst/>
          </a:prstGeom>
          <a:noFill/>
        </p:spPr>
        <p:txBody>
          <a:bodyPr wrap="none" rtlCol="0">
            <a:spAutoFit/>
          </a:bodyPr>
          <a:lstStyle/>
          <a:p>
            <a:pPr algn="l"/>
            <a:r>
              <a:rPr lang="en-US" dirty="0">
                <a:solidFill>
                  <a:srgbClr val="FF0000"/>
                </a:solidFill>
              </a:rPr>
              <a:t>1/4</a:t>
            </a:r>
          </a:p>
        </p:txBody>
      </p:sp>
      <p:sp>
        <p:nvSpPr>
          <p:cNvPr id="89" name="TextBox 88">
            <a:extLst>
              <a:ext uri="{FF2B5EF4-FFF2-40B4-BE49-F238E27FC236}">
                <a16:creationId xmlns:a16="http://schemas.microsoft.com/office/drawing/2014/main" id="{FE1D60BC-5876-6D6A-846F-4133253B93E3}"/>
              </a:ext>
            </a:extLst>
          </p:cNvPr>
          <p:cNvSpPr txBox="1"/>
          <p:nvPr/>
        </p:nvSpPr>
        <p:spPr>
          <a:xfrm>
            <a:off x="9593317" y="6295952"/>
            <a:ext cx="510076" cy="369332"/>
          </a:xfrm>
          <a:prstGeom prst="rect">
            <a:avLst/>
          </a:prstGeom>
          <a:noFill/>
        </p:spPr>
        <p:txBody>
          <a:bodyPr wrap="none" rtlCol="0">
            <a:spAutoFit/>
          </a:bodyPr>
          <a:lstStyle/>
          <a:p>
            <a:pPr algn="l"/>
            <a:r>
              <a:rPr lang="en-US" dirty="0">
                <a:solidFill>
                  <a:srgbClr val="FF0000"/>
                </a:solidFill>
              </a:rPr>
              <a:t>3/4</a:t>
            </a:r>
          </a:p>
        </p:txBody>
      </p:sp>
      <p:cxnSp>
        <p:nvCxnSpPr>
          <p:cNvPr id="91" name="Straight Connector 90">
            <a:extLst>
              <a:ext uri="{FF2B5EF4-FFF2-40B4-BE49-F238E27FC236}">
                <a16:creationId xmlns:a16="http://schemas.microsoft.com/office/drawing/2014/main" id="{C8E0B80A-164B-3E42-B167-ACB1DB5CFD30}"/>
              </a:ext>
            </a:extLst>
          </p:cNvPr>
          <p:cNvCxnSpPr/>
          <p:nvPr/>
        </p:nvCxnSpPr>
        <p:spPr>
          <a:xfrm>
            <a:off x="432550" y="3749964"/>
            <a:ext cx="494797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8096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1B5266-CE14-56CA-2455-15478B59FCE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6228626-D70F-4F13-E39F-10F5DE60A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9F060B57-F033-68C6-8466-BE6042CD1B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DF64DC99-9FCB-B21A-63CA-4AABB431E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A61D46A-314B-156E-4326-0E2EB276A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092860DF-717B-D94A-D0A1-B5B9388DE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B24C2699-3341-8E10-9DFE-8CEBE6D02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1F5CDE68-BC4D-A811-051B-382DAACE8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C2AD52B-F958-4D9A-0CBA-D21B8F254E1E}"/>
              </a:ext>
            </a:extLst>
          </p:cNvPr>
          <p:cNvSpPr>
            <a:spLocks noGrp="1"/>
          </p:cNvSpPr>
          <p:nvPr>
            <p:ph type="title"/>
          </p:nvPr>
        </p:nvSpPr>
        <p:spPr>
          <a:xfrm>
            <a:off x="1748397" y="1527362"/>
            <a:ext cx="8147713" cy="3081242"/>
          </a:xfrm>
        </p:spPr>
        <p:txBody>
          <a:bodyPr vert="horz" lIns="91440" tIns="45720" rIns="91440" bIns="45720" rtlCol="0" anchor="ctr">
            <a:normAutofit/>
          </a:bodyPr>
          <a:lstStyle/>
          <a:p>
            <a:pPr algn="ctr"/>
            <a:r>
              <a:rPr lang="en-US" sz="4800" dirty="0">
                <a:solidFill>
                  <a:srgbClr val="FFFFFF"/>
                </a:solidFill>
              </a:rPr>
              <a:t>Bayesian Networks</a:t>
            </a: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3629644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FCEA96-60D8-F44E-9A1D-6BFB6AD1AD1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9727FFD-417A-D553-F578-649263A95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90E55B-28B6-B8C5-7F6F-83A86D6FE8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9897B34-D73E-1DD2-1722-F4AC37DB2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425343-2E4D-83C4-528B-2D3A18BF0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796D687-802D-DEAF-83B7-4D2CA46E6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7467F9-3A7A-A621-0AC9-39920AC7F215}"/>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Conditional probability &amp; probability tree</a:t>
            </a:r>
          </a:p>
        </p:txBody>
      </p:sp>
      <p:grpSp>
        <p:nvGrpSpPr>
          <p:cNvPr id="53" name="Group 52">
            <a:extLst>
              <a:ext uri="{FF2B5EF4-FFF2-40B4-BE49-F238E27FC236}">
                <a16:creationId xmlns:a16="http://schemas.microsoft.com/office/drawing/2014/main" id="{A92F19E3-F644-5079-2885-D65956ABFF65}"/>
              </a:ext>
            </a:extLst>
          </p:cNvPr>
          <p:cNvGrpSpPr/>
          <p:nvPr/>
        </p:nvGrpSpPr>
        <p:grpSpPr>
          <a:xfrm>
            <a:off x="696482" y="2181387"/>
            <a:ext cx="3473279" cy="4293035"/>
            <a:chOff x="696482" y="2181387"/>
            <a:chExt cx="3473279" cy="4293035"/>
          </a:xfrm>
        </p:grpSpPr>
        <p:sp>
          <p:nvSpPr>
            <p:cNvPr id="54" name="Oval 53">
              <a:extLst>
                <a:ext uri="{FF2B5EF4-FFF2-40B4-BE49-F238E27FC236}">
                  <a16:creationId xmlns:a16="http://schemas.microsoft.com/office/drawing/2014/main" id="{9134FAD6-B808-74EC-F7AD-32A75B888ADB}"/>
                </a:ext>
              </a:extLst>
            </p:cNvPr>
            <p:cNvSpPr/>
            <p:nvPr/>
          </p:nvSpPr>
          <p:spPr>
            <a:xfrm>
              <a:off x="696482" y="3925853"/>
              <a:ext cx="182880" cy="18288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12FB83F4-7154-820B-8C46-B49C48F677F2}"/>
                </a:ext>
              </a:extLst>
            </p:cNvPr>
            <p:cNvCxnSpPr>
              <a:cxnSpLocks/>
            </p:cNvCxnSpPr>
            <p:nvPr/>
          </p:nvCxnSpPr>
          <p:spPr>
            <a:xfrm flipV="1">
              <a:off x="833630" y="3228127"/>
              <a:ext cx="1245265" cy="7824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8D6C9320-A9DA-8F66-CC7A-AE14E41D93A8}"/>
                </a:ext>
              </a:extLst>
            </p:cNvPr>
            <p:cNvCxnSpPr>
              <a:cxnSpLocks/>
              <a:stCxn id="54" idx="6"/>
              <a:endCxn id="61" idx="1"/>
            </p:cNvCxnSpPr>
            <p:nvPr/>
          </p:nvCxnSpPr>
          <p:spPr>
            <a:xfrm>
              <a:off x="879362" y="4017293"/>
              <a:ext cx="1218483" cy="6895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C9FF6897-A51E-2D1A-CA79-06AAF1C2B6D6}"/>
                </a:ext>
              </a:extLst>
            </p:cNvPr>
            <p:cNvSpPr txBox="1"/>
            <p:nvPr/>
          </p:nvSpPr>
          <p:spPr>
            <a:xfrm>
              <a:off x="2189285" y="2886207"/>
              <a:ext cx="335348" cy="400110"/>
            </a:xfrm>
            <a:prstGeom prst="rect">
              <a:avLst/>
            </a:prstGeom>
            <a:noFill/>
          </p:spPr>
          <p:txBody>
            <a:bodyPr wrap="none" rtlCol="0">
              <a:spAutoFit/>
            </a:bodyPr>
            <a:lstStyle/>
            <a:p>
              <a:r>
                <a:rPr lang="en-US" sz="2000" dirty="0"/>
                <a:t>A</a:t>
              </a:r>
            </a:p>
          </p:txBody>
        </p:sp>
        <p:sp>
          <p:nvSpPr>
            <p:cNvPr id="61" name="TextBox 60">
              <a:extLst>
                <a:ext uri="{FF2B5EF4-FFF2-40B4-BE49-F238E27FC236}">
                  <a16:creationId xmlns:a16="http://schemas.microsoft.com/office/drawing/2014/main" id="{3D8229C4-295E-BC2E-A90C-7B5415330758}"/>
                </a:ext>
              </a:extLst>
            </p:cNvPr>
            <p:cNvSpPr txBox="1"/>
            <p:nvPr/>
          </p:nvSpPr>
          <p:spPr>
            <a:xfrm>
              <a:off x="2097845" y="4506814"/>
              <a:ext cx="570990" cy="400110"/>
            </a:xfrm>
            <a:prstGeom prst="rect">
              <a:avLst/>
            </a:prstGeom>
            <a:noFill/>
          </p:spPr>
          <p:txBody>
            <a:bodyPr wrap="none" rtlCol="0">
              <a:spAutoFit/>
            </a:bodyPr>
            <a:lstStyle/>
            <a:p>
              <a:r>
                <a:rPr lang="en-US" sz="2000" dirty="0">
                  <a:sym typeface="Symbol" panose="05050102010706020507" pitchFamily="18" charset="2"/>
                </a:rPr>
                <a:t> </a:t>
              </a:r>
              <a:r>
                <a:rPr lang="en-US" sz="2000" dirty="0"/>
                <a:t>A</a:t>
              </a:r>
            </a:p>
          </p:txBody>
        </p:sp>
        <p:cxnSp>
          <p:nvCxnSpPr>
            <p:cNvPr id="62" name="Straight Arrow Connector 61">
              <a:extLst>
                <a:ext uri="{FF2B5EF4-FFF2-40B4-BE49-F238E27FC236}">
                  <a16:creationId xmlns:a16="http://schemas.microsoft.com/office/drawing/2014/main" id="{70305F5C-880E-8291-2F1C-A2F42CEDE4B1}"/>
                </a:ext>
              </a:extLst>
            </p:cNvPr>
            <p:cNvCxnSpPr>
              <a:cxnSpLocks/>
            </p:cNvCxnSpPr>
            <p:nvPr/>
          </p:nvCxnSpPr>
          <p:spPr>
            <a:xfrm flipV="1">
              <a:off x="2604715" y="2573519"/>
              <a:ext cx="1029322" cy="462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68C00FB2-6716-A969-81B6-54B113070940}"/>
                </a:ext>
              </a:extLst>
            </p:cNvPr>
            <p:cNvCxnSpPr>
              <a:cxnSpLocks/>
            </p:cNvCxnSpPr>
            <p:nvPr/>
          </p:nvCxnSpPr>
          <p:spPr>
            <a:xfrm>
              <a:off x="2604715" y="3033815"/>
              <a:ext cx="1029322" cy="3611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DB62095C-0B46-DB6B-3362-CB42ED53ADE8}"/>
                </a:ext>
              </a:extLst>
            </p:cNvPr>
            <p:cNvCxnSpPr>
              <a:cxnSpLocks/>
            </p:cNvCxnSpPr>
            <p:nvPr/>
          </p:nvCxnSpPr>
          <p:spPr>
            <a:xfrm flipV="1">
              <a:off x="2745779" y="4275982"/>
              <a:ext cx="888258" cy="48188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97BB3B99-A13E-101D-7B8A-E8F4DE5F7F0D}"/>
                </a:ext>
              </a:extLst>
            </p:cNvPr>
            <p:cNvCxnSpPr>
              <a:cxnSpLocks/>
            </p:cNvCxnSpPr>
            <p:nvPr/>
          </p:nvCxnSpPr>
          <p:spPr>
            <a:xfrm>
              <a:off x="2745779" y="4768977"/>
              <a:ext cx="888258" cy="5002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52842F53-B31F-B4D2-0E17-CE030B55F129}"/>
                </a:ext>
              </a:extLst>
            </p:cNvPr>
            <p:cNvSpPr txBox="1"/>
            <p:nvPr/>
          </p:nvSpPr>
          <p:spPr>
            <a:xfrm>
              <a:off x="3634037" y="2353912"/>
              <a:ext cx="324128" cy="369332"/>
            </a:xfrm>
            <a:prstGeom prst="rect">
              <a:avLst/>
            </a:prstGeom>
            <a:noFill/>
          </p:spPr>
          <p:txBody>
            <a:bodyPr wrap="none" rtlCol="0">
              <a:spAutoFit/>
            </a:bodyPr>
            <a:lstStyle/>
            <a:p>
              <a:r>
                <a:rPr lang="en-US" dirty="0"/>
                <a:t>B</a:t>
              </a:r>
            </a:p>
          </p:txBody>
        </p:sp>
        <p:sp>
          <p:nvSpPr>
            <p:cNvPr id="67" name="TextBox 66">
              <a:extLst>
                <a:ext uri="{FF2B5EF4-FFF2-40B4-BE49-F238E27FC236}">
                  <a16:creationId xmlns:a16="http://schemas.microsoft.com/office/drawing/2014/main" id="{1B1E9F53-56E0-FDDD-C3B0-A14730E2ADF7}"/>
                </a:ext>
              </a:extLst>
            </p:cNvPr>
            <p:cNvSpPr txBox="1"/>
            <p:nvPr/>
          </p:nvSpPr>
          <p:spPr>
            <a:xfrm>
              <a:off x="3685316" y="4101615"/>
              <a:ext cx="324128" cy="369332"/>
            </a:xfrm>
            <a:prstGeom prst="rect">
              <a:avLst/>
            </a:prstGeom>
            <a:noFill/>
          </p:spPr>
          <p:txBody>
            <a:bodyPr wrap="none" rtlCol="0">
              <a:spAutoFit/>
            </a:bodyPr>
            <a:lstStyle/>
            <a:p>
              <a:r>
                <a:rPr lang="en-US" dirty="0"/>
                <a:t>B</a:t>
              </a:r>
            </a:p>
          </p:txBody>
        </p:sp>
        <p:sp>
          <p:nvSpPr>
            <p:cNvPr id="68" name="TextBox 67">
              <a:extLst>
                <a:ext uri="{FF2B5EF4-FFF2-40B4-BE49-F238E27FC236}">
                  <a16:creationId xmlns:a16="http://schemas.microsoft.com/office/drawing/2014/main" id="{11064BAC-0E40-30BD-3889-2366CBCE3D72}"/>
                </a:ext>
              </a:extLst>
            </p:cNvPr>
            <p:cNvSpPr txBox="1"/>
            <p:nvPr/>
          </p:nvSpPr>
          <p:spPr>
            <a:xfrm>
              <a:off x="3593417" y="3193898"/>
              <a:ext cx="535724" cy="369332"/>
            </a:xfrm>
            <a:prstGeom prst="rect">
              <a:avLst/>
            </a:prstGeom>
            <a:noFill/>
          </p:spPr>
          <p:txBody>
            <a:bodyPr wrap="none" rtlCol="0">
              <a:spAutoFit/>
            </a:bodyPr>
            <a:lstStyle/>
            <a:p>
              <a:r>
                <a:rPr lang="en-US" dirty="0">
                  <a:sym typeface="Symbol" panose="05050102010706020507" pitchFamily="18" charset="2"/>
                </a:rPr>
                <a:t> </a:t>
              </a:r>
              <a:r>
                <a:rPr lang="en-US" dirty="0"/>
                <a:t>B</a:t>
              </a:r>
            </a:p>
          </p:txBody>
        </p:sp>
        <p:sp>
          <p:nvSpPr>
            <p:cNvPr id="69" name="TextBox 68">
              <a:extLst>
                <a:ext uri="{FF2B5EF4-FFF2-40B4-BE49-F238E27FC236}">
                  <a16:creationId xmlns:a16="http://schemas.microsoft.com/office/drawing/2014/main" id="{B074635E-111E-3166-5A9D-57A5BEE019C1}"/>
                </a:ext>
              </a:extLst>
            </p:cNvPr>
            <p:cNvSpPr txBox="1"/>
            <p:nvPr/>
          </p:nvSpPr>
          <p:spPr>
            <a:xfrm>
              <a:off x="3634037" y="5065796"/>
              <a:ext cx="535724" cy="369332"/>
            </a:xfrm>
            <a:prstGeom prst="rect">
              <a:avLst/>
            </a:prstGeom>
            <a:noFill/>
          </p:spPr>
          <p:txBody>
            <a:bodyPr wrap="none" rtlCol="0">
              <a:spAutoFit/>
            </a:bodyPr>
            <a:lstStyle/>
            <a:p>
              <a:r>
                <a:rPr lang="en-US" dirty="0">
                  <a:sym typeface="Symbol" panose="05050102010706020507" pitchFamily="18" charset="2"/>
                </a:rPr>
                <a:t> B</a:t>
              </a:r>
              <a:endParaRPr lang="en-US" dirty="0"/>
            </a:p>
          </p:txBody>
        </p:sp>
        <p:sp>
          <p:nvSpPr>
            <p:cNvPr id="70" name="TextBox 69">
              <a:extLst>
                <a:ext uri="{FF2B5EF4-FFF2-40B4-BE49-F238E27FC236}">
                  <a16:creationId xmlns:a16="http://schemas.microsoft.com/office/drawing/2014/main" id="{2503FEA1-ABBA-D2F4-BFCE-2FA0DAD6C526}"/>
                </a:ext>
              </a:extLst>
            </p:cNvPr>
            <p:cNvSpPr txBox="1"/>
            <p:nvPr/>
          </p:nvSpPr>
          <p:spPr>
            <a:xfrm rot="19854557">
              <a:off x="1074251" y="3175285"/>
              <a:ext cx="620683" cy="369332"/>
            </a:xfrm>
            <a:prstGeom prst="rect">
              <a:avLst/>
            </a:prstGeom>
            <a:noFill/>
          </p:spPr>
          <p:txBody>
            <a:bodyPr wrap="none" rtlCol="0">
              <a:spAutoFit/>
            </a:bodyPr>
            <a:lstStyle/>
            <a:p>
              <a:r>
                <a:rPr lang="en-US" dirty="0"/>
                <a:t>0.80</a:t>
              </a:r>
            </a:p>
          </p:txBody>
        </p:sp>
        <p:sp>
          <p:nvSpPr>
            <p:cNvPr id="71" name="TextBox 70">
              <a:extLst>
                <a:ext uri="{FF2B5EF4-FFF2-40B4-BE49-F238E27FC236}">
                  <a16:creationId xmlns:a16="http://schemas.microsoft.com/office/drawing/2014/main" id="{21C2A741-4B84-E029-AAA7-D5383A945719}"/>
                </a:ext>
              </a:extLst>
            </p:cNvPr>
            <p:cNvSpPr txBox="1"/>
            <p:nvPr/>
          </p:nvSpPr>
          <p:spPr>
            <a:xfrm rot="1547123">
              <a:off x="1055807" y="4317905"/>
              <a:ext cx="620683" cy="369332"/>
            </a:xfrm>
            <a:prstGeom prst="rect">
              <a:avLst/>
            </a:prstGeom>
            <a:noFill/>
          </p:spPr>
          <p:txBody>
            <a:bodyPr wrap="none" rtlCol="0">
              <a:spAutoFit/>
            </a:bodyPr>
            <a:lstStyle/>
            <a:p>
              <a:r>
                <a:rPr lang="en-US" dirty="0"/>
                <a:t>0.20</a:t>
              </a:r>
            </a:p>
          </p:txBody>
        </p:sp>
        <p:sp>
          <p:nvSpPr>
            <p:cNvPr id="72" name="TextBox 71">
              <a:extLst>
                <a:ext uri="{FF2B5EF4-FFF2-40B4-BE49-F238E27FC236}">
                  <a16:creationId xmlns:a16="http://schemas.microsoft.com/office/drawing/2014/main" id="{66E1AF5E-5A5E-2213-D50D-869FD95B425D}"/>
                </a:ext>
              </a:extLst>
            </p:cNvPr>
            <p:cNvSpPr txBox="1"/>
            <p:nvPr/>
          </p:nvSpPr>
          <p:spPr>
            <a:xfrm rot="20060106">
              <a:off x="2809034" y="2409915"/>
              <a:ext cx="620683" cy="369332"/>
            </a:xfrm>
            <a:prstGeom prst="rect">
              <a:avLst/>
            </a:prstGeom>
            <a:noFill/>
          </p:spPr>
          <p:txBody>
            <a:bodyPr wrap="none" rtlCol="0">
              <a:spAutoFit/>
            </a:bodyPr>
            <a:lstStyle/>
            <a:p>
              <a:r>
                <a:rPr lang="en-US" dirty="0"/>
                <a:t>0.90</a:t>
              </a:r>
            </a:p>
          </p:txBody>
        </p:sp>
        <p:sp>
          <p:nvSpPr>
            <p:cNvPr id="73" name="TextBox 72">
              <a:extLst>
                <a:ext uri="{FF2B5EF4-FFF2-40B4-BE49-F238E27FC236}">
                  <a16:creationId xmlns:a16="http://schemas.microsoft.com/office/drawing/2014/main" id="{11E90143-FF03-875B-4D4B-0024C646E5BE}"/>
                </a:ext>
              </a:extLst>
            </p:cNvPr>
            <p:cNvSpPr txBox="1"/>
            <p:nvPr/>
          </p:nvSpPr>
          <p:spPr>
            <a:xfrm rot="1004917">
              <a:off x="2776206" y="3196783"/>
              <a:ext cx="620683" cy="369332"/>
            </a:xfrm>
            <a:prstGeom prst="rect">
              <a:avLst/>
            </a:prstGeom>
            <a:noFill/>
          </p:spPr>
          <p:txBody>
            <a:bodyPr wrap="none" rtlCol="0">
              <a:spAutoFit/>
            </a:bodyPr>
            <a:lstStyle/>
            <a:p>
              <a:r>
                <a:rPr lang="en-US" dirty="0"/>
                <a:t>0.10</a:t>
              </a:r>
            </a:p>
          </p:txBody>
        </p:sp>
        <p:sp>
          <p:nvSpPr>
            <p:cNvPr id="74" name="TextBox 73">
              <a:extLst>
                <a:ext uri="{FF2B5EF4-FFF2-40B4-BE49-F238E27FC236}">
                  <a16:creationId xmlns:a16="http://schemas.microsoft.com/office/drawing/2014/main" id="{06102F41-498E-252B-12BA-D470434B90B9}"/>
                </a:ext>
              </a:extLst>
            </p:cNvPr>
            <p:cNvSpPr txBox="1"/>
            <p:nvPr/>
          </p:nvSpPr>
          <p:spPr>
            <a:xfrm rot="19753839">
              <a:off x="2816751" y="4177415"/>
              <a:ext cx="620683" cy="369332"/>
            </a:xfrm>
            <a:prstGeom prst="rect">
              <a:avLst/>
            </a:prstGeom>
            <a:noFill/>
          </p:spPr>
          <p:txBody>
            <a:bodyPr wrap="none" rtlCol="0">
              <a:spAutoFit/>
            </a:bodyPr>
            <a:lstStyle/>
            <a:p>
              <a:r>
                <a:rPr lang="en-US" dirty="0"/>
                <a:t>0.25</a:t>
              </a:r>
            </a:p>
          </p:txBody>
        </p:sp>
        <p:sp>
          <p:nvSpPr>
            <p:cNvPr id="75" name="TextBox 74">
              <a:extLst>
                <a:ext uri="{FF2B5EF4-FFF2-40B4-BE49-F238E27FC236}">
                  <a16:creationId xmlns:a16="http://schemas.microsoft.com/office/drawing/2014/main" id="{C8000A8F-E7F2-559B-2C10-BF2ECC90FCF4}"/>
                </a:ext>
              </a:extLst>
            </p:cNvPr>
            <p:cNvSpPr txBox="1"/>
            <p:nvPr/>
          </p:nvSpPr>
          <p:spPr>
            <a:xfrm rot="2025751">
              <a:off x="2773029" y="4999623"/>
              <a:ext cx="620683" cy="369332"/>
            </a:xfrm>
            <a:prstGeom prst="rect">
              <a:avLst/>
            </a:prstGeom>
            <a:noFill/>
          </p:spPr>
          <p:txBody>
            <a:bodyPr wrap="none" rtlCol="0">
              <a:spAutoFit/>
            </a:bodyPr>
            <a:lstStyle/>
            <a:p>
              <a:r>
                <a:rPr lang="en-US" dirty="0"/>
                <a:t>0.75</a:t>
              </a:r>
            </a:p>
          </p:txBody>
        </p:sp>
        <p:sp>
          <p:nvSpPr>
            <p:cNvPr id="76" name="TextBox 75">
              <a:extLst>
                <a:ext uri="{FF2B5EF4-FFF2-40B4-BE49-F238E27FC236}">
                  <a16:creationId xmlns:a16="http://schemas.microsoft.com/office/drawing/2014/main" id="{FAB77DF7-CC43-A5DE-702E-748C73679A8A}"/>
                </a:ext>
              </a:extLst>
            </p:cNvPr>
            <p:cNvSpPr txBox="1"/>
            <p:nvPr/>
          </p:nvSpPr>
          <p:spPr>
            <a:xfrm rot="19845072">
              <a:off x="2520161" y="2181387"/>
              <a:ext cx="790601" cy="369332"/>
            </a:xfrm>
            <a:prstGeom prst="rect">
              <a:avLst/>
            </a:prstGeom>
            <a:noFill/>
          </p:spPr>
          <p:txBody>
            <a:bodyPr wrap="none" rtlCol="0">
              <a:spAutoFit/>
            </a:bodyPr>
            <a:lstStyle/>
            <a:p>
              <a:r>
                <a:rPr lang="en-US" dirty="0">
                  <a:solidFill>
                    <a:srgbClr val="00B0F0"/>
                  </a:solidFill>
                </a:rPr>
                <a:t>P(B|A)</a:t>
              </a:r>
            </a:p>
          </p:txBody>
        </p:sp>
        <p:sp>
          <p:nvSpPr>
            <p:cNvPr id="77" name="TextBox 76">
              <a:extLst>
                <a:ext uri="{FF2B5EF4-FFF2-40B4-BE49-F238E27FC236}">
                  <a16:creationId xmlns:a16="http://schemas.microsoft.com/office/drawing/2014/main" id="{A7038F03-0382-324D-6C44-931B2D81276B}"/>
                </a:ext>
              </a:extLst>
            </p:cNvPr>
            <p:cNvSpPr txBox="1"/>
            <p:nvPr/>
          </p:nvSpPr>
          <p:spPr>
            <a:xfrm rot="1389350">
              <a:off x="2493195" y="3381965"/>
              <a:ext cx="955711" cy="369332"/>
            </a:xfrm>
            <a:prstGeom prst="rect">
              <a:avLst/>
            </a:prstGeom>
            <a:noFill/>
          </p:spPr>
          <p:txBody>
            <a:bodyPr wrap="none" rtlCol="0">
              <a:spAutoFit/>
            </a:bodyPr>
            <a:lstStyle/>
            <a:p>
              <a:r>
                <a:rPr lang="en-US" dirty="0">
                  <a:solidFill>
                    <a:srgbClr val="00B0F0"/>
                  </a:solidFill>
                </a:rPr>
                <a:t>P(</a:t>
              </a:r>
              <a:r>
                <a:rPr lang="en-US" dirty="0">
                  <a:solidFill>
                    <a:srgbClr val="00B0F0"/>
                  </a:solidFill>
                  <a:sym typeface="Symbol" panose="05050102010706020507" pitchFamily="18" charset="2"/>
                </a:rPr>
                <a:t></a:t>
              </a:r>
              <a:r>
                <a:rPr lang="en-US" dirty="0">
                  <a:solidFill>
                    <a:srgbClr val="00B0F0"/>
                  </a:solidFill>
                </a:rPr>
                <a:t>B|A)</a:t>
              </a:r>
            </a:p>
          </p:txBody>
        </p:sp>
        <p:sp>
          <p:nvSpPr>
            <p:cNvPr id="78" name="TextBox 77">
              <a:extLst>
                <a:ext uri="{FF2B5EF4-FFF2-40B4-BE49-F238E27FC236}">
                  <a16:creationId xmlns:a16="http://schemas.microsoft.com/office/drawing/2014/main" id="{226D67DC-D6C3-4CF4-70C2-93F7DBEA0C9F}"/>
                </a:ext>
              </a:extLst>
            </p:cNvPr>
            <p:cNvSpPr txBox="1"/>
            <p:nvPr/>
          </p:nvSpPr>
          <p:spPr>
            <a:xfrm rot="19845072">
              <a:off x="2437607" y="4013965"/>
              <a:ext cx="955711" cy="369332"/>
            </a:xfrm>
            <a:prstGeom prst="rect">
              <a:avLst/>
            </a:prstGeom>
            <a:noFill/>
          </p:spPr>
          <p:txBody>
            <a:bodyPr wrap="none" rtlCol="0">
              <a:spAutoFit/>
            </a:bodyPr>
            <a:lstStyle/>
            <a:p>
              <a:r>
                <a:rPr lang="en-US" dirty="0">
                  <a:solidFill>
                    <a:srgbClr val="00B0F0"/>
                  </a:solidFill>
                </a:rPr>
                <a:t>P(B|</a:t>
              </a:r>
              <a:r>
                <a:rPr lang="en-US" dirty="0">
                  <a:solidFill>
                    <a:srgbClr val="00B0F0"/>
                  </a:solidFill>
                  <a:sym typeface="Symbol" panose="05050102010706020507" pitchFamily="18" charset="2"/>
                </a:rPr>
                <a:t></a:t>
              </a:r>
              <a:r>
                <a:rPr lang="en-US" dirty="0">
                  <a:solidFill>
                    <a:srgbClr val="00B0F0"/>
                  </a:solidFill>
                </a:rPr>
                <a:t>A)</a:t>
              </a:r>
            </a:p>
          </p:txBody>
        </p:sp>
        <p:sp>
          <p:nvSpPr>
            <p:cNvPr id="79" name="TextBox 78">
              <a:extLst>
                <a:ext uri="{FF2B5EF4-FFF2-40B4-BE49-F238E27FC236}">
                  <a16:creationId xmlns:a16="http://schemas.microsoft.com/office/drawing/2014/main" id="{F83E3B47-5847-A385-8EF5-659ACCA427AD}"/>
                </a:ext>
              </a:extLst>
            </p:cNvPr>
            <p:cNvSpPr txBox="1"/>
            <p:nvPr/>
          </p:nvSpPr>
          <p:spPr>
            <a:xfrm rot="1962217">
              <a:off x="2464928" y="5192842"/>
              <a:ext cx="1120820" cy="369332"/>
            </a:xfrm>
            <a:prstGeom prst="rect">
              <a:avLst/>
            </a:prstGeom>
            <a:noFill/>
          </p:spPr>
          <p:txBody>
            <a:bodyPr wrap="none" rtlCol="0">
              <a:spAutoFit/>
            </a:bodyPr>
            <a:lstStyle/>
            <a:p>
              <a:r>
                <a:rPr lang="en-US" dirty="0">
                  <a:solidFill>
                    <a:srgbClr val="00B0F0"/>
                  </a:solidFill>
                </a:rPr>
                <a:t>P(</a:t>
              </a:r>
              <a:r>
                <a:rPr lang="en-US" dirty="0">
                  <a:solidFill>
                    <a:srgbClr val="00B0F0"/>
                  </a:solidFill>
                  <a:sym typeface="Symbol" panose="05050102010706020507" pitchFamily="18" charset="2"/>
                </a:rPr>
                <a:t></a:t>
              </a:r>
              <a:r>
                <a:rPr lang="en-US" dirty="0">
                  <a:solidFill>
                    <a:srgbClr val="00B0F0"/>
                  </a:solidFill>
                </a:rPr>
                <a:t>B|</a:t>
              </a:r>
              <a:r>
                <a:rPr lang="en-US" dirty="0">
                  <a:solidFill>
                    <a:srgbClr val="00B0F0"/>
                  </a:solidFill>
                  <a:sym typeface="Symbol" panose="05050102010706020507" pitchFamily="18" charset="2"/>
                </a:rPr>
                <a:t></a:t>
              </a:r>
              <a:r>
                <a:rPr lang="en-US" dirty="0">
                  <a:solidFill>
                    <a:srgbClr val="00B0F0"/>
                  </a:solidFill>
                </a:rPr>
                <a:t>A)</a:t>
              </a:r>
            </a:p>
          </p:txBody>
        </p:sp>
        <p:sp>
          <p:nvSpPr>
            <p:cNvPr id="80" name="TextBox 79">
              <a:extLst>
                <a:ext uri="{FF2B5EF4-FFF2-40B4-BE49-F238E27FC236}">
                  <a16:creationId xmlns:a16="http://schemas.microsoft.com/office/drawing/2014/main" id="{B1E4B751-8D3D-CA29-3CEA-0869FECDCA65}"/>
                </a:ext>
              </a:extLst>
            </p:cNvPr>
            <p:cNvSpPr txBox="1"/>
            <p:nvPr/>
          </p:nvSpPr>
          <p:spPr>
            <a:xfrm rot="19845072">
              <a:off x="946342" y="2930519"/>
              <a:ext cx="588623" cy="369332"/>
            </a:xfrm>
            <a:prstGeom prst="rect">
              <a:avLst/>
            </a:prstGeom>
            <a:noFill/>
          </p:spPr>
          <p:txBody>
            <a:bodyPr wrap="none" rtlCol="0">
              <a:spAutoFit/>
            </a:bodyPr>
            <a:lstStyle/>
            <a:p>
              <a:r>
                <a:rPr lang="en-US" dirty="0">
                  <a:solidFill>
                    <a:srgbClr val="00B0F0"/>
                  </a:solidFill>
                </a:rPr>
                <a:t>P(A)</a:t>
              </a:r>
            </a:p>
          </p:txBody>
        </p:sp>
        <p:sp>
          <p:nvSpPr>
            <p:cNvPr id="81" name="TextBox 80">
              <a:extLst>
                <a:ext uri="{FF2B5EF4-FFF2-40B4-BE49-F238E27FC236}">
                  <a16:creationId xmlns:a16="http://schemas.microsoft.com/office/drawing/2014/main" id="{EC9A9E56-D4AD-A62B-080A-48E4DDF41C8D}"/>
                </a:ext>
              </a:extLst>
            </p:cNvPr>
            <p:cNvSpPr txBox="1"/>
            <p:nvPr/>
          </p:nvSpPr>
          <p:spPr>
            <a:xfrm rot="1962217">
              <a:off x="873674" y="4514945"/>
              <a:ext cx="753732" cy="369332"/>
            </a:xfrm>
            <a:prstGeom prst="rect">
              <a:avLst/>
            </a:prstGeom>
            <a:noFill/>
          </p:spPr>
          <p:txBody>
            <a:bodyPr wrap="none" rtlCol="0">
              <a:spAutoFit/>
            </a:bodyPr>
            <a:lstStyle/>
            <a:p>
              <a:r>
                <a:rPr lang="en-US" dirty="0">
                  <a:solidFill>
                    <a:srgbClr val="00B0F0"/>
                  </a:solidFill>
                </a:rPr>
                <a:t>P(</a:t>
              </a:r>
              <a:r>
                <a:rPr lang="en-US" dirty="0">
                  <a:solidFill>
                    <a:srgbClr val="00B0F0"/>
                  </a:solidFill>
                  <a:sym typeface="Symbol" panose="05050102010706020507" pitchFamily="18" charset="2"/>
                </a:rPr>
                <a:t></a:t>
              </a:r>
              <a:r>
                <a:rPr lang="en-US" dirty="0">
                  <a:solidFill>
                    <a:srgbClr val="00B0F0"/>
                  </a:solidFill>
                </a:rPr>
                <a:t>A)</a:t>
              </a:r>
            </a:p>
          </p:txBody>
        </p:sp>
        <p:sp>
          <p:nvSpPr>
            <p:cNvPr id="82" name="TextBox 81">
              <a:extLst>
                <a:ext uri="{FF2B5EF4-FFF2-40B4-BE49-F238E27FC236}">
                  <a16:creationId xmlns:a16="http://schemas.microsoft.com/office/drawing/2014/main" id="{E377ECA3-CFAD-8C87-D974-52D3F7F1FFC1}"/>
                </a:ext>
              </a:extLst>
            </p:cNvPr>
            <p:cNvSpPr txBox="1"/>
            <p:nvPr/>
          </p:nvSpPr>
          <p:spPr>
            <a:xfrm>
              <a:off x="2016998" y="6074312"/>
              <a:ext cx="1855060" cy="400110"/>
            </a:xfrm>
            <a:prstGeom prst="rect">
              <a:avLst/>
            </a:prstGeom>
            <a:noFill/>
          </p:spPr>
          <p:txBody>
            <a:bodyPr wrap="none" rtlCol="0">
              <a:spAutoFit/>
            </a:bodyPr>
            <a:lstStyle/>
            <a:p>
              <a:r>
                <a:rPr lang="en-US" sz="2000" dirty="0"/>
                <a:t>Probability tree</a:t>
              </a:r>
            </a:p>
          </p:txBody>
        </p:sp>
      </p:grpSp>
      <p:sp>
        <p:nvSpPr>
          <p:cNvPr id="4" name="Oval 3">
            <a:extLst>
              <a:ext uri="{FF2B5EF4-FFF2-40B4-BE49-F238E27FC236}">
                <a16:creationId xmlns:a16="http://schemas.microsoft.com/office/drawing/2014/main" id="{FC2C39A2-883A-7F27-180F-E858C348C79F}"/>
              </a:ext>
            </a:extLst>
          </p:cNvPr>
          <p:cNvSpPr/>
          <p:nvPr/>
        </p:nvSpPr>
        <p:spPr>
          <a:xfrm>
            <a:off x="7987311" y="2330970"/>
            <a:ext cx="530352" cy="493776"/>
          </a:xfrm>
          <a:prstGeom prst="ellipse">
            <a:avLst/>
          </a:prstGeom>
          <a:solidFill>
            <a:schemeClr val="tx1">
              <a:lumMod val="50000"/>
              <a:lumOff val="50000"/>
              <a:alpha val="17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925FA41-6473-FF18-0487-4F634E7846CD}"/>
              </a:ext>
            </a:extLst>
          </p:cNvPr>
          <p:cNvSpPr/>
          <p:nvPr/>
        </p:nvSpPr>
        <p:spPr>
          <a:xfrm>
            <a:off x="7072911" y="3515626"/>
            <a:ext cx="530352" cy="493776"/>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BD0C435-C6DE-9849-537E-5656AB656293}"/>
              </a:ext>
            </a:extLst>
          </p:cNvPr>
          <p:cNvSpPr/>
          <p:nvPr/>
        </p:nvSpPr>
        <p:spPr>
          <a:xfrm>
            <a:off x="9023631" y="3515626"/>
            <a:ext cx="530352" cy="493776"/>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E6A014E-A733-C58E-17BC-CFDC86B27A2D}"/>
              </a:ext>
            </a:extLst>
          </p:cNvPr>
          <p:cNvSpPr/>
          <p:nvPr/>
        </p:nvSpPr>
        <p:spPr>
          <a:xfrm>
            <a:off x="7489471" y="4775466"/>
            <a:ext cx="530352" cy="493776"/>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C1BC437-932A-7235-19ED-89F3AC5DA2EA}"/>
              </a:ext>
            </a:extLst>
          </p:cNvPr>
          <p:cNvSpPr/>
          <p:nvPr/>
        </p:nvSpPr>
        <p:spPr>
          <a:xfrm>
            <a:off x="8613224" y="4775466"/>
            <a:ext cx="530352" cy="493776"/>
          </a:xfrm>
          <a:prstGeom prst="ellipse">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0648B6C-5AAE-1148-F1CB-83884CD71B57}"/>
              </a:ext>
            </a:extLst>
          </p:cNvPr>
          <p:cNvSpPr/>
          <p:nvPr/>
        </p:nvSpPr>
        <p:spPr>
          <a:xfrm>
            <a:off x="7364503" y="2751889"/>
            <a:ext cx="675640" cy="763737"/>
          </a:xfrm>
          <a:custGeom>
            <a:avLst/>
            <a:gdLst>
              <a:gd name="csX0" fmla="*/ 609600 w 609600"/>
              <a:gd name="csY0" fmla="*/ 0 h 711200"/>
              <a:gd name="csX1" fmla="*/ 213360 w 609600"/>
              <a:gd name="csY1" fmla="*/ 304800 h 711200"/>
              <a:gd name="csX2" fmla="*/ 0 w 609600"/>
              <a:gd name="csY2" fmla="*/ 711200 h 711200"/>
            </a:gdLst>
            <a:ahLst/>
            <a:cxnLst>
              <a:cxn ang="0">
                <a:pos x="csX0" y="csY0"/>
              </a:cxn>
              <a:cxn ang="0">
                <a:pos x="csX1" y="csY1"/>
              </a:cxn>
              <a:cxn ang="0">
                <a:pos x="csX2" y="csY2"/>
              </a:cxn>
            </a:cxnLst>
            <a:rect l="l" t="t" r="r" b="b"/>
            <a:pathLst>
              <a:path w="609600" h="711200">
                <a:moveTo>
                  <a:pt x="609600" y="0"/>
                </a:moveTo>
                <a:cubicBezTo>
                  <a:pt x="462280" y="93133"/>
                  <a:pt x="314960" y="186267"/>
                  <a:pt x="213360" y="304800"/>
                </a:cubicBezTo>
                <a:cubicBezTo>
                  <a:pt x="111760" y="423333"/>
                  <a:pt x="55880" y="567266"/>
                  <a:pt x="0" y="711200"/>
                </a:cubicBezTo>
              </a:path>
            </a:pathLst>
          </a:cu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D99DBA7-F972-EA0D-EF3F-6DD95476C5F5}"/>
              </a:ext>
            </a:extLst>
          </p:cNvPr>
          <p:cNvSpPr/>
          <p:nvPr/>
        </p:nvSpPr>
        <p:spPr>
          <a:xfrm>
            <a:off x="8421143" y="2751889"/>
            <a:ext cx="772160" cy="782026"/>
          </a:xfrm>
          <a:custGeom>
            <a:avLst/>
            <a:gdLst>
              <a:gd name="csX0" fmla="*/ 0 w 833120"/>
              <a:gd name="csY0" fmla="*/ 0 h 762000"/>
              <a:gd name="csX1" fmla="*/ 650240 w 833120"/>
              <a:gd name="csY1" fmla="*/ 294640 h 762000"/>
              <a:gd name="csX2" fmla="*/ 833120 w 833120"/>
              <a:gd name="csY2" fmla="*/ 762000 h 762000"/>
            </a:gdLst>
            <a:ahLst/>
            <a:cxnLst>
              <a:cxn ang="0">
                <a:pos x="csX0" y="csY0"/>
              </a:cxn>
              <a:cxn ang="0">
                <a:pos x="csX1" y="csY1"/>
              </a:cxn>
              <a:cxn ang="0">
                <a:pos x="csX2" y="csY2"/>
              </a:cxn>
            </a:cxnLst>
            <a:rect l="l" t="t" r="r" b="b"/>
            <a:pathLst>
              <a:path w="833120" h="762000">
                <a:moveTo>
                  <a:pt x="0" y="0"/>
                </a:moveTo>
                <a:cubicBezTo>
                  <a:pt x="255693" y="83820"/>
                  <a:pt x="511387" y="167640"/>
                  <a:pt x="650240" y="294640"/>
                </a:cubicBezTo>
                <a:cubicBezTo>
                  <a:pt x="789093" y="421640"/>
                  <a:pt x="811106" y="591820"/>
                  <a:pt x="833120" y="762000"/>
                </a:cubicBezTo>
              </a:path>
            </a:pathLst>
          </a:cu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581E09E-4455-86E5-ED14-F9BB32B9A177}"/>
              </a:ext>
            </a:extLst>
          </p:cNvPr>
          <p:cNvSpPr/>
          <p:nvPr/>
        </p:nvSpPr>
        <p:spPr>
          <a:xfrm>
            <a:off x="7374663" y="4021594"/>
            <a:ext cx="284480" cy="782320"/>
          </a:xfrm>
          <a:custGeom>
            <a:avLst/>
            <a:gdLst>
              <a:gd name="csX0" fmla="*/ 0 w 284480"/>
              <a:gd name="csY0" fmla="*/ 0 h 782320"/>
              <a:gd name="csX1" fmla="*/ 284480 w 284480"/>
              <a:gd name="csY1" fmla="*/ 782320 h 782320"/>
            </a:gdLst>
            <a:ahLst/>
            <a:cxnLst>
              <a:cxn ang="0">
                <a:pos x="csX0" y="csY0"/>
              </a:cxn>
              <a:cxn ang="0">
                <a:pos x="csX1" y="csY1"/>
              </a:cxn>
            </a:cxnLst>
            <a:rect l="l" t="t" r="r" b="b"/>
            <a:pathLst>
              <a:path w="284480" h="782320">
                <a:moveTo>
                  <a:pt x="0" y="0"/>
                </a:moveTo>
                <a:lnTo>
                  <a:pt x="284480" y="782320"/>
                </a:lnTo>
              </a:path>
            </a:pathLst>
          </a:cu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E7F2395-21A7-2C27-F9F9-DDF1165DAD4A}"/>
              </a:ext>
            </a:extLst>
          </p:cNvPr>
          <p:cNvSpPr/>
          <p:nvPr/>
        </p:nvSpPr>
        <p:spPr>
          <a:xfrm>
            <a:off x="7384823" y="4011434"/>
            <a:ext cx="1483360" cy="762000"/>
          </a:xfrm>
          <a:custGeom>
            <a:avLst/>
            <a:gdLst>
              <a:gd name="csX0" fmla="*/ 0 w 1483360"/>
              <a:gd name="csY0" fmla="*/ 0 h 762000"/>
              <a:gd name="csX1" fmla="*/ 934720 w 1483360"/>
              <a:gd name="csY1" fmla="*/ 213360 h 762000"/>
              <a:gd name="csX2" fmla="*/ 1483360 w 1483360"/>
              <a:gd name="csY2" fmla="*/ 762000 h 762000"/>
            </a:gdLst>
            <a:ahLst/>
            <a:cxnLst>
              <a:cxn ang="0">
                <a:pos x="csX0" y="csY0"/>
              </a:cxn>
              <a:cxn ang="0">
                <a:pos x="csX1" y="csY1"/>
              </a:cxn>
              <a:cxn ang="0">
                <a:pos x="csX2" y="csY2"/>
              </a:cxn>
            </a:cxnLst>
            <a:rect l="l" t="t" r="r" b="b"/>
            <a:pathLst>
              <a:path w="1483360" h="762000">
                <a:moveTo>
                  <a:pt x="0" y="0"/>
                </a:moveTo>
                <a:cubicBezTo>
                  <a:pt x="343746" y="43180"/>
                  <a:pt x="687493" y="86360"/>
                  <a:pt x="934720" y="213360"/>
                </a:cubicBezTo>
                <a:cubicBezTo>
                  <a:pt x="1181947" y="340360"/>
                  <a:pt x="1332653" y="551180"/>
                  <a:pt x="1483360" y="762000"/>
                </a:cubicBezTo>
              </a:path>
            </a:pathLst>
          </a:cu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829FC7A-7110-D222-C08E-339F8D071B2C}"/>
              </a:ext>
            </a:extLst>
          </p:cNvPr>
          <p:cNvSpPr/>
          <p:nvPr/>
        </p:nvSpPr>
        <p:spPr>
          <a:xfrm>
            <a:off x="7720103" y="4011434"/>
            <a:ext cx="1584960" cy="751840"/>
          </a:xfrm>
          <a:custGeom>
            <a:avLst/>
            <a:gdLst>
              <a:gd name="csX0" fmla="*/ 1584960 w 1584960"/>
              <a:gd name="csY0" fmla="*/ 0 h 751840"/>
              <a:gd name="csX1" fmla="*/ 314960 w 1584960"/>
              <a:gd name="csY1" fmla="*/ 284480 h 751840"/>
              <a:gd name="csX2" fmla="*/ 0 w 1584960"/>
              <a:gd name="csY2" fmla="*/ 751840 h 751840"/>
            </a:gdLst>
            <a:ahLst/>
            <a:cxnLst>
              <a:cxn ang="0">
                <a:pos x="csX0" y="csY0"/>
              </a:cxn>
              <a:cxn ang="0">
                <a:pos x="csX1" y="csY1"/>
              </a:cxn>
              <a:cxn ang="0">
                <a:pos x="csX2" y="csY2"/>
              </a:cxn>
            </a:cxnLst>
            <a:rect l="l" t="t" r="r" b="b"/>
            <a:pathLst>
              <a:path w="1584960" h="751840">
                <a:moveTo>
                  <a:pt x="1584960" y="0"/>
                </a:moveTo>
                <a:cubicBezTo>
                  <a:pt x="1082040" y="79586"/>
                  <a:pt x="579120" y="159173"/>
                  <a:pt x="314960" y="284480"/>
                </a:cubicBezTo>
                <a:cubicBezTo>
                  <a:pt x="50800" y="409787"/>
                  <a:pt x="25400" y="580813"/>
                  <a:pt x="0" y="751840"/>
                </a:cubicBezTo>
              </a:path>
            </a:pathLst>
          </a:cu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5CC5B07-DF13-CA40-F9B0-E3918115E860}"/>
              </a:ext>
            </a:extLst>
          </p:cNvPr>
          <p:cNvSpPr/>
          <p:nvPr/>
        </p:nvSpPr>
        <p:spPr>
          <a:xfrm>
            <a:off x="8868183" y="4031754"/>
            <a:ext cx="396240" cy="772160"/>
          </a:xfrm>
          <a:custGeom>
            <a:avLst/>
            <a:gdLst>
              <a:gd name="csX0" fmla="*/ 396240 w 396240"/>
              <a:gd name="csY0" fmla="*/ 0 h 772160"/>
              <a:gd name="csX1" fmla="*/ 0 w 396240"/>
              <a:gd name="csY1" fmla="*/ 772160 h 772160"/>
            </a:gdLst>
            <a:ahLst/>
            <a:cxnLst>
              <a:cxn ang="0">
                <a:pos x="csX0" y="csY0"/>
              </a:cxn>
              <a:cxn ang="0">
                <a:pos x="csX1" y="csY1"/>
              </a:cxn>
            </a:cxnLst>
            <a:rect l="l" t="t" r="r" b="b"/>
            <a:pathLst>
              <a:path w="396240" h="772160">
                <a:moveTo>
                  <a:pt x="396240" y="0"/>
                </a:moveTo>
                <a:lnTo>
                  <a:pt x="0" y="772160"/>
                </a:lnTo>
              </a:path>
            </a:pathLst>
          </a:cu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6CE40A7-59AD-8715-8131-26F3B3DA9783}"/>
              </a:ext>
            </a:extLst>
          </p:cNvPr>
          <p:cNvSpPr txBox="1"/>
          <p:nvPr/>
        </p:nvSpPr>
        <p:spPr>
          <a:xfrm>
            <a:off x="7168549" y="3588009"/>
            <a:ext cx="320922" cy="369332"/>
          </a:xfrm>
          <a:prstGeom prst="rect">
            <a:avLst/>
          </a:prstGeom>
          <a:noFill/>
        </p:spPr>
        <p:txBody>
          <a:bodyPr wrap="none" rtlCol="0">
            <a:spAutoFit/>
          </a:bodyPr>
          <a:lstStyle/>
          <a:p>
            <a:r>
              <a:rPr lang="en-US" dirty="0"/>
              <a:t>A</a:t>
            </a:r>
          </a:p>
        </p:txBody>
      </p:sp>
      <p:sp>
        <p:nvSpPr>
          <p:cNvPr id="21" name="TextBox 20">
            <a:extLst>
              <a:ext uri="{FF2B5EF4-FFF2-40B4-BE49-F238E27FC236}">
                <a16:creationId xmlns:a16="http://schemas.microsoft.com/office/drawing/2014/main" id="{E82B9974-920C-A02E-B8EC-008AF735554F}"/>
              </a:ext>
            </a:extLst>
          </p:cNvPr>
          <p:cNvSpPr txBox="1"/>
          <p:nvPr/>
        </p:nvSpPr>
        <p:spPr>
          <a:xfrm>
            <a:off x="9021408" y="3533915"/>
            <a:ext cx="486030" cy="369332"/>
          </a:xfrm>
          <a:prstGeom prst="rect">
            <a:avLst/>
          </a:prstGeom>
          <a:noFill/>
        </p:spPr>
        <p:txBody>
          <a:bodyPr wrap="none" rtlCol="0">
            <a:spAutoFit/>
          </a:bodyPr>
          <a:lstStyle/>
          <a:p>
            <a:r>
              <a:rPr lang="en-US" dirty="0">
                <a:sym typeface="Symbol" panose="05050102010706020507" pitchFamily="18" charset="2"/>
              </a:rPr>
              <a:t>A</a:t>
            </a:r>
            <a:endParaRPr lang="en-US" dirty="0"/>
          </a:p>
        </p:txBody>
      </p:sp>
      <p:sp>
        <p:nvSpPr>
          <p:cNvPr id="22" name="TextBox 21">
            <a:extLst>
              <a:ext uri="{FF2B5EF4-FFF2-40B4-BE49-F238E27FC236}">
                <a16:creationId xmlns:a16="http://schemas.microsoft.com/office/drawing/2014/main" id="{4DE8653D-CF10-3DA4-E058-5D8EAA208F3E}"/>
              </a:ext>
            </a:extLst>
          </p:cNvPr>
          <p:cNvSpPr txBox="1"/>
          <p:nvPr/>
        </p:nvSpPr>
        <p:spPr>
          <a:xfrm>
            <a:off x="7594055" y="4854190"/>
            <a:ext cx="324128" cy="369332"/>
          </a:xfrm>
          <a:prstGeom prst="rect">
            <a:avLst/>
          </a:prstGeom>
          <a:noFill/>
        </p:spPr>
        <p:txBody>
          <a:bodyPr wrap="none" rtlCol="0">
            <a:spAutoFit/>
          </a:bodyPr>
          <a:lstStyle/>
          <a:p>
            <a:r>
              <a:rPr lang="en-US" dirty="0"/>
              <a:t>B</a:t>
            </a:r>
          </a:p>
        </p:txBody>
      </p:sp>
      <p:sp>
        <p:nvSpPr>
          <p:cNvPr id="23" name="TextBox 22">
            <a:extLst>
              <a:ext uri="{FF2B5EF4-FFF2-40B4-BE49-F238E27FC236}">
                <a16:creationId xmlns:a16="http://schemas.microsoft.com/office/drawing/2014/main" id="{44B0E468-1AE0-80DD-009F-E69A585D85B0}"/>
              </a:ext>
            </a:extLst>
          </p:cNvPr>
          <p:cNvSpPr txBox="1"/>
          <p:nvPr/>
        </p:nvSpPr>
        <p:spPr>
          <a:xfrm>
            <a:off x="8613224" y="4821432"/>
            <a:ext cx="489236" cy="369332"/>
          </a:xfrm>
          <a:prstGeom prst="rect">
            <a:avLst/>
          </a:prstGeom>
          <a:noFill/>
        </p:spPr>
        <p:txBody>
          <a:bodyPr wrap="none" rtlCol="0">
            <a:spAutoFit/>
          </a:bodyPr>
          <a:lstStyle/>
          <a:p>
            <a:r>
              <a:rPr lang="en-US" dirty="0">
                <a:sym typeface="Symbol" panose="05050102010706020507" pitchFamily="18" charset="2"/>
              </a:rPr>
              <a:t>B</a:t>
            </a:r>
            <a:endParaRPr lang="en-US" dirty="0"/>
          </a:p>
        </p:txBody>
      </p:sp>
      <p:sp>
        <p:nvSpPr>
          <p:cNvPr id="24" name="TextBox 23">
            <a:extLst>
              <a:ext uri="{FF2B5EF4-FFF2-40B4-BE49-F238E27FC236}">
                <a16:creationId xmlns:a16="http://schemas.microsoft.com/office/drawing/2014/main" id="{3B7917E0-DFE5-EA94-96DA-858575F2EB4A}"/>
              </a:ext>
            </a:extLst>
          </p:cNvPr>
          <p:cNvSpPr txBox="1"/>
          <p:nvPr/>
        </p:nvSpPr>
        <p:spPr>
          <a:xfrm>
            <a:off x="7003823" y="2831614"/>
            <a:ext cx="620683" cy="369332"/>
          </a:xfrm>
          <a:prstGeom prst="rect">
            <a:avLst/>
          </a:prstGeom>
          <a:noFill/>
        </p:spPr>
        <p:txBody>
          <a:bodyPr wrap="none" rtlCol="0">
            <a:spAutoFit/>
          </a:bodyPr>
          <a:lstStyle/>
          <a:p>
            <a:r>
              <a:rPr lang="en-US" dirty="0"/>
              <a:t>0.80</a:t>
            </a:r>
          </a:p>
        </p:txBody>
      </p:sp>
      <p:sp>
        <p:nvSpPr>
          <p:cNvPr id="25" name="TextBox 24">
            <a:extLst>
              <a:ext uri="{FF2B5EF4-FFF2-40B4-BE49-F238E27FC236}">
                <a16:creationId xmlns:a16="http://schemas.microsoft.com/office/drawing/2014/main" id="{2971932B-69E3-1481-4778-3E44AB90313E}"/>
              </a:ext>
            </a:extLst>
          </p:cNvPr>
          <p:cNvSpPr txBox="1"/>
          <p:nvPr/>
        </p:nvSpPr>
        <p:spPr>
          <a:xfrm>
            <a:off x="9021408" y="2812554"/>
            <a:ext cx="620683" cy="369332"/>
          </a:xfrm>
          <a:prstGeom prst="rect">
            <a:avLst/>
          </a:prstGeom>
          <a:noFill/>
        </p:spPr>
        <p:txBody>
          <a:bodyPr wrap="none" rtlCol="0">
            <a:spAutoFit/>
          </a:bodyPr>
          <a:lstStyle/>
          <a:p>
            <a:r>
              <a:rPr lang="en-US" dirty="0"/>
              <a:t>0.20</a:t>
            </a:r>
          </a:p>
        </p:txBody>
      </p:sp>
      <p:sp>
        <p:nvSpPr>
          <p:cNvPr id="26" name="TextBox 25">
            <a:extLst>
              <a:ext uri="{FF2B5EF4-FFF2-40B4-BE49-F238E27FC236}">
                <a16:creationId xmlns:a16="http://schemas.microsoft.com/office/drawing/2014/main" id="{C17FEFDD-50C1-C787-87D9-2F96EA114223}"/>
              </a:ext>
            </a:extLst>
          </p:cNvPr>
          <p:cNvSpPr txBox="1"/>
          <p:nvPr/>
        </p:nvSpPr>
        <p:spPr>
          <a:xfrm>
            <a:off x="6896220" y="4190988"/>
            <a:ext cx="620683" cy="369332"/>
          </a:xfrm>
          <a:prstGeom prst="rect">
            <a:avLst/>
          </a:prstGeom>
          <a:noFill/>
        </p:spPr>
        <p:txBody>
          <a:bodyPr wrap="none" rtlCol="0">
            <a:spAutoFit/>
          </a:bodyPr>
          <a:lstStyle/>
          <a:p>
            <a:r>
              <a:rPr lang="en-US" dirty="0"/>
              <a:t>0.90</a:t>
            </a:r>
          </a:p>
        </p:txBody>
      </p:sp>
      <p:sp>
        <p:nvSpPr>
          <p:cNvPr id="27" name="TextBox 26">
            <a:extLst>
              <a:ext uri="{FF2B5EF4-FFF2-40B4-BE49-F238E27FC236}">
                <a16:creationId xmlns:a16="http://schemas.microsoft.com/office/drawing/2014/main" id="{8E6F7E01-6331-5F3B-48F7-5FEF39338BBE}"/>
              </a:ext>
            </a:extLst>
          </p:cNvPr>
          <p:cNvSpPr txBox="1"/>
          <p:nvPr/>
        </p:nvSpPr>
        <p:spPr>
          <a:xfrm>
            <a:off x="7673460" y="3787406"/>
            <a:ext cx="620683" cy="369332"/>
          </a:xfrm>
          <a:prstGeom prst="rect">
            <a:avLst/>
          </a:prstGeom>
          <a:noFill/>
        </p:spPr>
        <p:txBody>
          <a:bodyPr wrap="none" rtlCol="0">
            <a:spAutoFit/>
          </a:bodyPr>
          <a:lstStyle/>
          <a:p>
            <a:r>
              <a:rPr lang="en-US" dirty="0"/>
              <a:t>0.10</a:t>
            </a:r>
          </a:p>
        </p:txBody>
      </p:sp>
      <p:sp>
        <p:nvSpPr>
          <p:cNvPr id="28" name="TextBox 27">
            <a:extLst>
              <a:ext uri="{FF2B5EF4-FFF2-40B4-BE49-F238E27FC236}">
                <a16:creationId xmlns:a16="http://schemas.microsoft.com/office/drawing/2014/main" id="{82C4BE5A-7CC0-41D2-CB8E-D7C9C0FAA0AB}"/>
              </a:ext>
            </a:extLst>
          </p:cNvPr>
          <p:cNvSpPr txBox="1"/>
          <p:nvPr/>
        </p:nvSpPr>
        <p:spPr>
          <a:xfrm>
            <a:off x="8300791" y="3792486"/>
            <a:ext cx="620683" cy="369332"/>
          </a:xfrm>
          <a:prstGeom prst="rect">
            <a:avLst/>
          </a:prstGeom>
          <a:noFill/>
        </p:spPr>
        <p:txBody>
          <a:bodyPr wrap="none" rtlCol="0">
            <a:spAutoFit/>
          </a:bodyPr>
          <a:lstStyle/>
          <a:p>
            <a:r>
              <a:rPr lang="en-US" dirty="0"/>
              <a:t>0.25</a:t>
            </a:r>
          </a:p>
        </p:txBody>
      </p:sp>
      <p:sp>
        <p:nvSpPr>
          <p:cNvPr id="29" name="TextBox 28">
            <a:extLst>
              <a:ext uri="{FF2B5EF4-FFF2-40B4-BE49-F238E27FC236}">
                <a16:creationId xmlns:a16="http://schemas.microsoft.com/office/drawing/2014/main" id="{82E29072-E2C4-8E44-54BB-C44155530DAF}"/>
              </a:ext>
            </a:extLst>
          </p:cNvPr>
          <p:cNvSpPr txBox="1"/>
          <p:nvPr/>
        </p:nvSpPr>
        <p:spPr>
          <a:xfrm>
            <a:off x="9095860" y="4176765"/>
            <a:ext cx="620683" cy="369332"/>
          </a:xfrm>
          <a:prstGeom prst="rect">
            <a:avLst/>
          </a:prstGeom>
          <a:noFill/>
        </p:spPr>
        <p:txBody>
          <a:bodyPr wrap="none" rtlCol="0">
            <a:spAutoFit/>
          </a:bodyPr>
          <a:lstStyle/>
          <a:p>
            <a:r>
              <a:rPr lang="en-US" dirty="0"/>
              <a:t>0.75</a:t>
            </a:r>
          </a:p>
        </p:txBody>
      </p:sp>
      <p:sp>
        <p:nvSpPr>
          <p:cNvPr id="30" name="TextBox 29">
            <a:extLst>
              <a:ext uri="{FF2B5EF4-FFF2-40B4-BE49-F238E27FC236}">
                <a16:creationId xmlns:a16="http://schemas.microsoft.com/office/drawing/2014/main" id="{39EE2022-3E1E-1E8E-CB4D-7945A547FFED}"/>
              </a:ext>
            </a:extLst>
          </p:cNvPr>
          <p:cNvSpPr txBox="1"/>
          <p:nvPr/>
        </p:nvSpPr>
        <p:spPr>
          <a:xfrm>
            <a:off x="5993678" y="6074312"/>
            <a:ext cx="5441874" cy="400110"/>
          </a:xfrm>
          <a:prstGeom prst="rect">
            <a:avLst/>
          </a:prstGeom>
          <a:noFill/>
        </p:spPr>
        <p:txBody>
          <a:bodyPr wrap="none" rtlCol="0">
            <a:spAutoFit/>
          </a:bodyPr>
          <a:lstStyle/>
          <a:p>
            <a:pPr algn="l"/>
            <a:r>
              <a:rPr lang="en-US" sz="2000" dirty="0"/>
              <a:t>Bayesian network: DAG with one node per event</a:t>
            </a:r>
          </a:p>
        </p:txBody>
      </p:sp>
    </p:spTree>
    <p:extLst>
      <p:ext uri="{BB962C8B-B14F-4D97-AF65-F5344CB8AC3E}">
        <p14:creationId xmlns:p14="http://schemas.microsoft.com/office/powerpoint/2010/main" val="201876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D00653-CF51-139C-0950-9AAA024F3E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EF8700-891F-1588-367D-F42FD9958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07DD978-4DC3-D61B-1AA6-5C0D71608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F7A1EEB-3E6E-FF4D-8A54-2E73C82F3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FF523F3-B714-B924-3F69-D58EC1523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2685AF8-3D2D-AD72-5AB5-ADED4F1A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AA0BAC-EF45-CC5B-4320-B1841085374D}"/>
              </a:ext>
            </a:extLst>
          </p:cNvPr>
          <p:cNvSpPr>
            <a:spLocks noGrp="1"/>
          </p:cNvSpPr>
          <p:nvPr>
            <p:ph type="title"/>
          </p:nvPr>
        </p:nvSpPr>
        <p:spPr>
          <a:xfrm>
            <a:off x="459346" y="157378"/>
            <a:ext cx="9895951" cy="1033669"/>
          </a:xfrm>
        </p:spPr>
        <p:txBody>
          <a:bodyPr>
            <a:normAutofit/>
          </a:bodyPr>
          <a:lstStyle/>
          <a:p>
            <a:r>
              <a:rPr lang="en-US" sz="4000" dirty="0">
                <a:solidFill>
                  <a:schemeClr val="bg1"/>
                </a:solidFill>
              </a:rPr>
              <a:t>Markov Chain Monte Carlo</a:t>
            </a:r>
          </a:p>
        </p:txBody>
      </p:sp>
      <p:sp>
        <p:nvSpPr>
          <p:cNvPr id="9" name="TextBox 8">
            <a:extLst>
              <a:ext uri="{FF2B5EF4-FFF2-40B4-BE49-F238E27FC236}">
                <a16:creationId xmlns:a16="http://schemas.microsoft.com/office/drawing/2014/main" id="{545274DA-47E5-A6E1-2595-26D28E676ACE}"/>
              </a:ext>
            </a:extLst>
          </p:cNvPr>
          <p:cNvSpPr txBox="1"/>
          <p:nvPr/>
        </p:nvSpPr>
        <p:spPr>
          <a:xfrm>
            <a:off x="642366" y="2124516"/>
            <a:ext cx="6094476" cy="3693319"/>
          </a:xfrm>
          <a:prstGeom prst="rect">
            <a:avLst/>
          </a:prstGeom>
          <a:noFill/>
        </p:spPr>
        <p:txBody>
          <a:bodyPr wrap="square">
            <a:spAutoFit/>
          </a:bodyPr>
          <a:lstStyle/>
          <a:p>
            <a:pPr>
              <a:buNone/>
            </a:pPr>
            <a:r>
              <a:rPr lang="en-US" b="1" dirty="0"/>
              <a:t>Markov Chain Monte Carlo (MCMC)</a:t>
            </a:r>
          </a:p>
          <a:p>
            <a:pPr>
              <a:buNone/>
            </a:pPr>
            <a:r>
              <a:rPr lang="en-US" dirty="0"/>
              <a:t>Markov Chain Monte Carlo (MCMC) methods sample from posterior distributions when direct computation is difficult. The Metropolis-Hastings algorithm proposes new parameter values and accepts them based on their probability. Gibbs Sampling simplifies the process by sampling each part of the model sequentially. MCMC is useful for high-dimensional and complex distributions. It generates samples iteratively to approximate the posterior. These methods are commonly used in Bayesian analysis for reliable results.</a:t>
            </a:r>
          </a:p>
          <a:p>
            <a:pPr>
              <a:buNone/>
            </a:pPr>
            <a:endParaRPr lang="en-US" dirty="0"/>
          </a:p>
          <a:p>
            <a:pPr>
              <a:buNone/>
            </a:pPr>
            <a:r>
              <a:rPr lang="en-US" b="1" dirty="0"/>
              <a:t>Gibbs sampling</a:t>
            </a:r>
          </a:p>
        </p:txBody>
      </p:sp>
    </p:spTree>
    <p:extLst>
      <p:ext uri="{BB962C8B-B14F-4D97-AF65-F5344CB8AC3E}">
        <p14:creationId xmlns:p14="http://schemas.microsoft.com/office/powerpoint/2010/main" val="1884710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837B5E-839E-1C56-40FF-5FCD2875C0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7280A0-3410-55A4-F010-AED0F7955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6259C08-1A94-0B29-FF8D-56404083F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6F302FC-CE25-9703-1F6B-9425AB6249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6D909A1-84D5-A5FF-AF20-B4FFC08C4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82DC750-0444-07B9-A7F5-8FAE7CAC3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F4CB14-5FC4-9AC1-78DF-966905EC7938}"/>
              </a:ext>
            </a:extLst>
          </p:cNvPr>
          <p:cNvSpPr>
            <a:spLocks noGrp="1"/>
          </p:cNvSpPr>
          <p:nvPr>
            <p:ph type="title"/>
          </p:nvPr>
        </p:nvSpPr>
        <p:spPr>
          <a:xfrm>
            <a:off x="459346" y="157378"/>
            <a:ext cx="9895951" cy="1033669"/>
          </a:xfrm>
        </p:spPr>
        <p:txBody>
          <a:bodyPr>
            <a:normAutofit/>
          </a:bodyPr>
          <a:lstStyle/>
          <a:p>
            <a:r>
              <a:rPr lang="en-US" sz="4000" dirty="0">
                <a:solidFill>
                  <a:schemeClr val="bg1"/>
                </a:solidFill>
              </a:rPr>
              <a:t>Variational Inference</a:t>
            </a:r>
          </a:p>
        </p:txBody>
      </p:sp>
      <p:sp>
        <p:nvSpPr>
          <p:cNvPr id="9" name="TextBox 8">
            <a:extLst>
              <a:ext uri="{FF2B5EF4-FFF2-40B4-BE49-F238E27FC236}">
                <a16:creationId xmlns:a16="http://schemas.microsoft.com/office/drawing/2014/main" id="{4543D62F-BA87-968F-5395-50947386A20E}"/>
              </a:ext>
            </a:extLst>
          </p:cNvPr>
          <p:cNvSpPr txBox="1"/>
          <p:nvPr/>
        </p:nvSpPr>
        <p:spPr>
          <a:xfrm>
            <a:off x="550926" y="2413337"/>
            <a:ext cx="6938010" cy="2031325"/>
          </a:xfrm>
          <a:prstGeom prst="rect">
            <a:avLst/>
          </a:prstGeom>
          <a:noFill/>
        </p:spPr>
        <p:txBody>
          <a:bodyPr wrap="square">
            <a:spAutoFit/>
          </a:bodyPr>
          <a:lstStyle/>
          <a:p>
            <a:r>
              <a:rPr lang="en-US" dirty="0"/>
              <a:t>Variational inference is a faster alternative to MCMC for approximating posterior distributions. It uses a simpler, approximate distribution instead of the true posterior. The method minimizes the difference using KL divergence. It is efficient for large datasets and high-dimensional problems. Variational inference is less computationally expensive than MCMC. However, it may sacrifice some accuracy.</a:t>
            </a:r>
          </a:p>
        </p:txBody>
      </p:sp>
    </p:spTree>
    <p:extLst>
      <p:ext uri="{BB962C8B-B14F-4D97-AF65-F5344CB8AC3E}">
        <p14:creationId xmlns:p14="http://schemas.microsoft.com/office/powerpoint/2010/main" val="2398651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9C5BA9-1645-344D-D774-9B7DB71E910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9CB5FC-B6BD-AF60-E322-31D9D80CE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7B6960C-818F-AC0B-9A28-C0C45993A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1EC1D9E-BD94-55B4-74AC-D144A5506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B88B20-812E-A12C-F30E-02AA000AC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DF5CE70-2834-C8DA-BE90-68EDB8DAB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3CFC82-E0BC-2CDF-2320-26BF377F6EF5}"/>
              </a:ext>
            </a:extLst>
          </p:cNvPr>
          <p:cNvSpPr>
            <a:spLocks noGrp="1"/>
          </p:cNvSpPr>
          <p:nvPr>
            <p:ph type="title"/>
          </p:nvPr>
        </p:nvSpPr>
        <p:spPr>
          <a:xfrm>
            <a:off x="257697" y="194889"/>
            <a:ext cx="10406990" cy="1033669"/>
          </a:xfrm>
        </p:spPr>
        <p:txBody>
          <a:bodyPr>
            <a:normAutofit fontScale="90000"/>
          </a:bodyPr>
          <a:lstStyle/>
          <a:p>
            <a:r>
              <a:rPr lang="en-US" sz="4000" dirty="0">
                <a:solidFill>
                  <a:schemeClr val="bg1"/>
                </a:solidFill>
              </a:rPr>
              <a:t>Likelihood functions, confusion matrix, and ROC curve</a:t>
            </a:r>
          </a:p>
        </p:txBody>
      </p:sp>
      <p:pic>
        <p:nvPicPr>
          <p:cNvPr id="1026" name="Picture 2" descr="undefined">
            <a:extLst>
              <a:ext uri="{FF2B5EF4-FFF2-40B4-BE49-F238E27FC236}">
                <a16:creationId xmlns:a16="http://schemas.microsoft.com/office/drawing/2014/main" id="{0E3C7F77-8FB5-94F2-B9CF-8FEA3B4C8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851" y="1785630"/>
            <a:ext cx="5196205" cy="4733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943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11EA4-2B48-84D8-3308-05FA384DC6D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0C4A1AB-D607-0033-75A4-CB407A399443}"/>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18E43C01-A29D-DC2C-4ABC-71C3D8428C61}"/>
              </a:ext>
            </a:extLst>
          </p:cNvPr>
          <p:cNvPicPr>
            <a:picLocks noChangeAspect="1" noChangeArrowheads="1"/>
          </p:cNvPicPr>
          <p:nvPr/>
        </p:nvPicPr>
        <p:blipFill>
          <a:blip r:embed="rId2">
            <a:alphaModFix amt="68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444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999E4365-FF4A-C07E-24D9-358CECD058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90CD45-FAA3-8EFE-EBBD-3BED76BA48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E09E44A-7EAE-2D23-5EC1-8032D1C11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DCDA927-E2EF-C3E7-C515-E88D661CE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485A26A-CC65-AA0E-71B2-73E70C858F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42C4611-4E00-9E44-19C0-5D3659C41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7A3B48-2966-8354-4207-C0721CAF8696}"/>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Joint probability and marginalization</a:t>
            </a:r>
          </a:p>
        </p:txBody>
      </p:sp>
      <p:pic>
        <p:nvPicPr>
          <p:cNvPr id="232" name="Picture 231" descr="\documentclass{article}&#10;\usepackage{amsmath,mdframed}&#10;\usepackage{xcolor}&#10;\pagestyle{empty}&#10;\begin{document}&#10;&#10;\begin{mdframed}[leftmargin=75pt, rightmargin=-50pt, &#10;innertopmargin=-5pt,innerbottommargin=1pt,skipabove=-20pt, skipbelow=20pt]&#10;\begin{flalign}&#10;P(A\land B) &amp;= P(A)P(B|A)\ \ \  \text{(Axiom of conditional probability)} \\&#10;&amp;= P(B)P(A|B) \nonumber\\&#10;&amp;\neq P(B)P(A)\nonumber &#10;\end{flalign}&#10;\end{mdframed}&#10;&#10;\end{document}" title="IguanaTex Bitmap Display">
            <a:extLst>
              <a:ext uri="{FF2B5EF4-FFF2-40B4-BE49-F238E27FC236}">
                <a16:creationId xmlns:a16="http://schemas.microsoft.com/office/drawing/2014/main" id="{2D0D0FD3-77DA-33B2-4E25-55D8670D771A}"/>
              </a:ext>
            </a:extLst>
          </p:cNvPr>
          <p:cNvPicPr>
            <a:picLocks noChangeAspect="1"/>
          </p:cNvPicPr>
          <p:nvPr>
            <p:custDataLst>
              <p:tags r:id="rId1"/>
            </p:custDataLst>
          </p:nvPr>
        </p:nvPicPr>
        <p:blipFill>
          <a:blip r:embed="rId4"/>
          <a:stretch>
            <a:fillRect/>
          </a:stretch>
        </p:blipFill>
        <p:spPr>
          <a:xfrm>
            <a:off x="6588113" y="4031390"/>
            <a:ext cx="5418560" cy="965297"/>
          </a:xfrm>
          <a:prstGeom prst="rect">
            <a:avLst/>
          </a:prstGeom>
        </p:spPr>
      </p:pic>
      <p:sp>
        <p:nvSpPr>
          <p:cNvPr id="3" name="Rectangle 2">
            <a:extLst>
              <a:ext uri="{FF2B5EF4-FFF2-40B4-BE49-F238E27FC236}">
                <a16:creationId xmlns:a16="http://schemas.microsoft.com/office/drawing/2014/main" id="{81663838-1912-53EB-8D53-79E6FB025F71}"/>
              </a:ext>
            </a:extLst>
          </p:cNvPr>
          <p:cNvSpPr/>
          <p:nvPr/>
        </p:nvSpPr>
        <p:spPr>
          <a:xfrm>
            <a:off x="7517420" y="1926496"/>
            <a:ext cx="3355848"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BDA1928-903E-7957-DE7C-ADDF5008D690}"/>
              </a:ext>
            </a:extLst>
          </p:cNvPr>
          <p:cNvSpPr/>
          <p:nvPr/>
        </p:nvSpPr>
        <p:spPr>
          <a:xfrm>
            <a:off x="7879116" y="2353168"/>
            <a:ext cx="1727200" cy="846590"/>
          </a:xfrm>
          <a:prstGeom prst="ellipse">
            <a:avLst/>
          </a:prstGeom>
          <a:pattFill prst="pct5">
            <a:fgClr>
              <a:schemeClr val="tx1">
                <a:lumMod val="50000"/>
                <a:lumOff val="5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8421EC4-A237-3857-7245-A4081BAF4455}"/>
              </a:ext>
            </a:extLst>
          </p:cNvPr>
          <p:cNvSpPr/>
          <p:nvPr/>
        </p:nvSpPr>
        <p:spPr>
          <a:xfrm>
            <a:off x="9022480" y="2353168"/>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D3EC114-36A8-A067-E433-D206A95E2BEE}"/>
              </a:ext>
            </a:extLst>
          </p:cNvPr>
          <p:cNvSpPr txBox="1"/>
          <p:nvPr/>
        </p:nvSpPr>
        <p:spPr>
          <a:xfrm>
            <a:off x="7987351" y="2576408"/>
            <a:ext cx="335348" cy="400110"/>
          </a:xfrm>
          <a:prstGeom prst="rect">
            <a:avLst/>
          </a:prstGeom>
          <a:noFill/>
        </p:spPr>
        <p:txBody>
          <a:bodyPr wrap="none" rtlCol="0">
            <a:spAutoFit/>
          </a:bodyPr>
          <a:lstStyle/>
          <a:p>
            <a:r>
              <a:rPr lang="en-US" sz="2000" dirty="0"/>
              <a:t>A</a:t>
            </a:r>
          </a:p>
        </p:txBody>
      </p:sp>
      <p:sp>
        <p:nvSpPr>
          <p:cNvPr id="13" name="TextBox 12">
            <a:extLst>
              <a:ext uri="{FF2B5EF4-FFF2-40B4-BE49-F238E27FC236}">
                <a16:creationId xmlns:a16="http://schemas.microsoft.com/office/drawing/2014/main" id="{BC6ED6B3-E472-1D1C-4E70-9264F10F6FC4}"/>
              </a:ext>
            </a:extLst>
          </p:cNvPr>
          <p:cNvSpPr txBox="1"/>
          <p:nvPr/>
        </p:nvSpPr>
        <p:spPr>
          <a:xfrm>
            <a:off x="9953413" y="2544965"/>
            <a:ext cx="340158" cy="400110"/>
          </a:xfrm>
          <a:prstGeom prst="rect">
            <a:avLst/>
          </a:prstGeom>
          <a:noFill/>
        </p:spPr>
        <p:txBody>
          <a:bodyPr wrap="none" rtlCol="0">
            <a:spAutoFit/>
          </a:bodyPr>
          <a:lstStyle/>
          <a:p>
            <a:r>
              <a:rPr lang="en-US" sz="2000" dirty="0"/>
              <a:t>B</a:t>
            </a:r>
          </a:p>
        </p:txBody>
      </p:sp>
      <p:sp>
        <p:nvSpPr>
          <p:cNvPr id="15" name="TextBox 14">
            <a:extLst>
              <a:ext uri="{FF2B5EF4-FFF2-40B4-BE49-F238E27FC236}">
                <a16:creationId xmlns:a16="http://schemas.microsoft.com/office/drawing/2014/main" id="{A81370B2-D46E-A86F-6B76-DD4C0062C9F1}"/>
              </a:ext>
            </a:extLst>
          </p:cNvPr>
          <p:cNvSpPr txBox="1"/>
          <p:nvPr/>
        </p:nvSpPr>
        <p:spPr>
          <a:xfrm>
            <a:off x="8997471" y="2581898"/>
            <a:ext cx="599844" cy="369332"/>
          </a:xfrm>
          <a:prstGeom prst="rect">
            <a:avLst/>
          </a:prstGeom>
          <a:noFill/>
        </p:spPr>
        <p:txBody>
          <a:bodyPr wrap="none" rtlCol="0">
            <a:spAutoFit/>
          </a:bodyPr>
          <a:lstStyle/>
          <a:p>
            <a:r>
              <a:rPr lang="en-US" dirty="0"/>
              <a:t>A</a:t>
            </a:r>
            <a:r>
              <a:rPr lang="en-US" dirty="0">
                <a:sym typeface="Symbol" panose="05050102010706020507" pitchFamily="18" charset="2"/>
              </a:rPr>
              <a:t></a:t>
            </a:r>
            <a:r>
              <a:rPr lang="en-US" dirty="0"/>
              <a:t>B</a:t>
            </a:r>
          </a:p>
        </p:txBody>
      </p:sp>
      <p:pic>
        <p:nvPicPr>
          <p:cNvPr id="224" name="Picture 223" descr="\documentclass{article}&#10;\usepackage{amsmath}&#10;\pagestyle{empty}&#10;\begin{document}&#10;\begin{flalign*}&#10;P(B) &amp;= 0.80*0.90 + 0.20*0.25 = 0.77 \\&#10;P(A|B) &amp;= 0.72/0.77 = 0.935\\&#10;P(A|\lnot B) &amp;= 0.08/0.23 = 0.348&#10;\end{flalign*}&#10;\end{document}" title="IguanaTex Bitmap Display">
            <a:extLst>
              <a:ext uri="{FF2B5EF4-FFF2-40B4-BE49-F238E27FC236}">
                <a16:creationId xmlns:a16="http://schemas.microsoft.com/office/drawing/2014/main" id="{D6B4C10C-95D8-4627-542B-599C766AC731}"/>
              </a:ext>
            </a:extLst>
          </p:cNvPr>
          <p:cNvPicPr>
            <a:picLocks noChangeAspect="1"/>
          </p:cNvPicPr>
          <p:nvPr>
            <p:custDataLst>
              <p:tags r:id="rId2"/>
            </p:custDataLst>
          </p:nvPr>
        </p:nvPicPr>
        <p:blipFill>
          <a:blip r:embed="rId5"/>
          <a:stretch>
            <a:fillRect/>
          </a:stretch>
        </p:blipFill>
        <p:spPr>
          <a:xfrm>
            <a:off x="6855252" y="5505085"/>
            <a:ext cx="3774927" cy="683668"/>
          </a:xfrm>
          <a:prstGeom prst="rect">
            <a:avLst/>
          </a:prstGeom>
        </p:spPr>
      </p:pic>
      <p:grpSp>
        <p:nvGrpSpPr>
          <p:cNvPr id="196" name="Group 195">
            <a:extLst>
              <a:ext uri="{FF2B5EF4-FFF2-40B4-BE49-F238E27FC236}">
                <a16:creationId xmlns:a16="http://schemas.microsoft.com/office/drawing/2014/main" id="{FE2C476F-C6C5-45B1-03FB-98C7CA785B36}"/>
              </a:ext>
            </a:extLst>
          </p:cNvPr>
          <p:cNvGrpSpPr/>
          <p:nvPr/>
        </p:nvGrpSpPr>
        <p:grpSpPr>
          <a:xfrm>
            <a:off x="1148976" y="1926496"/>
            <a:ext cx="3473279" cy="4262257"/>
            <a:chOff x="354285" y="2357116"/>
            <a:chExt cx="3473279" cy="4262257"/>
          </a:xfrm>
        </p:grpSpPr>
        <p:sp>
          <p:nvSpPr>
            <p:cNvPr id="197" name="Oval 196">
              <a:extLst>
                <a:ext uri="{FF2B5EF4-FFF2-40B4-BE49-F238E27FC236}">
                  <a16:creationId xmlns:a16="http://schemas.microsoft.com/office/drawing/2014/main" id="{40382965-A2C8-E7F4-6151-C3DDB8156CDD}"/>
                </a:ext>
              </a:extLst>
            </p:cNvPr>
            <p:cNvSpPr/>
            <p:nvPr/>
          </p:nvSpPr>
          <p:spPr>
            <a:xfrm>
              <a:off x="354285" y="4101582"/>
              <a:ext cx="182880" cy="18288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8" name="Straight Arrow Connector 197">
              <a:extLst>
                <a:ext uri="{FF2B5EF4-FFF2-40B4-BE49-F238E27FC236}">
                  <a16:creationId xmlns:a16="http://schemas.microsoft.com/office/drawing/2014/main" id="{0D00F43D-124C-C797-2FC5-5D766DB96F5E}"/>
                </a:ext>
              </a:extLst>
            </p:cNvPr>
            <p:cNvCxnSpPr>
              <a:cxnSpLocks/>
            </p:cNvCxnSpPr>
            <p:nvPr/>
          </p:nvCxnSpPr>
          <p:spPr>
            <a:xfrm flipV="1">
              <a:off x="491433" y="3403856"/>
              <a:ext cx="1245265" cy="7824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9" name="Straight Arrow Connector 198">
              <a:extLst>
                <a:ext uri="{FF2B5EF4-FFF2-40B4-BE49-F238E27FC236}">
                  <a16:creationId xmlns:a16="http://schemas.microsoft.com/office/drawing/2014/main" id="{CA6AFEA8-4E0F-4DF7-B3C5-5D07E87B28D3}"/>
                </a:ext>
              </a:extLst>
            </p:cNvPr>
            <p:cNvCxnSpPr>
              <a:cxnSpLocks/>
              <a:stCxn id="197" idx="6"/>
              <a:endCxn id="201" idx="1"/>
            </p:cNvCxnSpPr>
            <p:nvPr/>
          </p:nvCxnSpPr>
          <p:spPr>
            <a:xfrm>
              <a:off x="537165" y="4193022"/>
              <a:ext cx="1218483" cy="6895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0" name="TextBox 199">
              <a:extLst>
                <a:ext uri="{FF2B5EF4-FFF2-40B4-BE49-F238E27FC236}">
                  <a16:creationId xmlns:a16="http://schemas.microsoft.com/office/drawing/2014/main" id="{DA1D0BFA-A53D-F157-6EA2-8B8EBBC26B1A}"/>
                </a:ext>
              </a:extLst>
            </p:cNvPr>
            <p:cNvSpPr txBox="1"/>
            <p:nvPr/>
          </p:nvSpPr>
          <p:spPr>
            <a:xfrm>
              <a:off x="1847088" y="3061936"/>
              <a:ext cx="335348" cy="400110"/>
            </a:xfrm>
            <a:prstGeom prst="rect">
              <a:avLst/>
            </a:prstGeom>
            <a:noFill/>
          </p:spPr>
          <p:txBody>
            <a:bodyPr wrap="none" rtlCol="0">
              <a:spAutoFit/>
            </a:bodyPr>
            <a:lstStyle/>
            <a:p>
              <a:r>
                <a:rPr lang="en-US" sz="2000" dirty="0"/>
                <a:t>A</a:t>
              </a:r>
            </a:p>
          </p:txBody>
        </p:sp>
        <p:sp>
          <p:nvSpPr>
            <p:cNvPr id="201" name="TextBox 200">
              <a:extLst>
                <a:ext uri="{FF2B5EF4-FFF2-40B4-BE49-F238E27FC236}">
                  <a16:creationId xmlns:a16="http://schemas.microsoft.com/office/drawing/2014/main" id="{61BBC433-F914-8EFD-7027-C86FFD3CFEC3}"/>
                </a:ext>
              </a:extLst>
            </p:cNvPr>
            <p:cNvSpPr txBox="1"/>
            <p:nvPr/>
          </p:nvSpPr>
          <p:spPr>
            <a:xfrm>
              <a:off x="1755648" y="4682543"/>
              <a:ext cx="570990" cy="400110"/>
            </a:xfrm>
            <a:prstGeom prst="rect">
              <a:avLst/>
            </a:prstGeom>
            <a:noFill/>
          </p:spPr>
          <p:txBody>
            <a:bodyPr wrap="none" rtlCol="0">
              <a:spAutoFit/>
            </a:bodyPr>
            <a:lstStyle/>
            <a:p>
              <a:r>
                <a:rPr lang="en-US" sz="2000" dirty="0">
                  <a:sym typeface="Symbol" panose="05050102010706020507" pitchFamily="18" charset="2"/>
                </a:rPr>
                <a:t> </a:t>
              </a:r>
              <a:r>
                <a:rPr lang="en-US" sz="2000" dirty="0"/>
                <a:t>A</a:t>
              </a:r>
            </a:p>
          </p:txBody>
        </p:sp>
        <p:cxnSp>
          <p:nvCxnSpPr>
            <p:cNvPr id="202" name="Straight Arrow Connector 201">
              <a:extLst>
                <a:ext uri="{FF2B5EF4-FFF2-40B4-BE49-F238E27FC236}">
                  <a16:creationId xmlns:a16="http://schemas.microsoft.com/office/drawing/2014/main" id="{4C3BA443-D0AA-27F4-7203-474027FF949C}"/>
                </a:ext>
              </a:extLst>
            </p:cNvPr>
            <p:cNvCxnSpPr>
              <a:cxnSpLocks/>
            </p:cNvCxnSpPr>
            <p:nvPr/>
          </p:nvCxnSpPr>
          <p:spPr>
            <a:xfrm flipV="1">
              <a:off x="2262518" y="2749248"/>
              <a:ext cx="1029322" cy="4621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3" name="Straight Arrow Connector 202">
              <a:extLst>
                <a:ext uri="{FF2B5EF4-FFF2-40B4-BE49-F238E27FC236}">
                  <a16:creationId xmlns:a16="http://schemas.microsoft.com/office/drawing/2014/main" id="{E1160806-5827-9B33-CDD8-8919FB4A4EBB}"/>
                </a:ext>
              </a:extLst>
            </p:cNvPr>
            <p:cNvCxnSpPr>
              <a:cxnSpLocks/>
            </p:cNvCxnSpPr>
            <p:nvPr/>
          </p:nvCxnSpPr>
          <p:spPr>
            <a:xfrm>
              <a:off x="2262518" y="3209544"/>
              <a:ext cx="1029322" cy="3611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4" name="Straight Arrow Connector 203">
              <a:extLst>
                <a:ext uri="{FF2B5EF4-FFF2-40B4-BE49-F238E27FC236}">
                  <a16:creationId xmlns:a16="http://schemas.microsoft.com/office/drawing/2014/main" id="{4FA5989A-8042-96CC-4DE8-14C09210E94F}"/>
                </a:ext>
              </a:extLst>
            </p:cNvPr>
            <p:cNvCxnSpPr>
              <a:cxnSpLocks/>
            </p:cNvCxnSpPr>
            <p:nvPr/>
          </p:nvCxnSpPr>
          <p:spPr>
            <a:xfrm flipV="1">
              <a:off x="2403582" y="4451711"/>
              <a:ext cx="888258" cy="48188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5" name="Straight Arrow Connector 204">
              <a:extLst>
                <a:ext uri="{FF2B5EF4-FFF2-40B4-BE49-F238E27FC236}">
                  <a16:creationId xmlns:a16="http://schemas.microsoft.com/office/drawing/2014/main" id="{0D3A8AA7-E09F-B5D9-CCA2-DE42A1D1DFC2}"/>
                </a:ext>
              </a:extLst>
            </p:cNvPr>
            <p:cNvCxnSpPr>
              <a:cxnSpLocks/>
            </p:cNvCxnSpPr>
            <p:nvPr/>
          </p:nvCxnSpPr>
          <p:spPr>
            <a:xfrm>
              <a:off x="2403582" y="4944706"/>
              <a:ext cx="888258" cy="5002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6" name="TextBox 205">
              <a:extLst>
                <a:ext uri="{FF2B5EF4-FFF2-40B4-BE49-F238E27FC236}">
                  <a16:creationId xmlns:a16="http://schemas.microsoft.com/office/drawing/2014/main" id="{214B336D-83E8-26AC-8724-EBD9B20AE28F}"/>
                </a:ext>
              </a:extLst>
            </p:cNvPr>
            <p:cNvSpPr txBox="1"/>
            <p:nvPr/>
          </p:nvSpPr>
          <p:spPr>
            <a:xfrm>
              <a:off x="3291840" y="2529641"/>
              <a:ext cx="324128" cy="369332"/>
            </a:xfrm>
            <a:prstGeom prst="rect">
              <a:avLst/>
            </a:prstGeom>
            <a:noFill/>
          </p:spPr>
          <p:txBody>
            <a:bodyPr wrap="none" rtlCol="0">
              <a:spAutoFit/>
            </a:bodyPr>
            <a:lstStyle/>
            <a:p>
              <a:r>
                <a:rPr lang="en-US" dirty="0"/>
                <a:t>B</a:t>
              </a:r>
            </a:p>
          </p:txBody>
        </p:sp>
        <p:sp>
          <p:nvSpPr>
            <p:cNvPr id="207" name="TextBox 206">
              <a:extLst>
                <a:ext uri="{FF2B5EF4-FFF2-40B4-BE49-F238E27FC236}">
                  <a16:creationId xmlns:a16="http://schemas.microsoft.com/office/drawing/2014/main" id="{4616ADB0-61AD-318F-A6A2-64E3A4AD15A9}"/>
                </a:ext>
              </a:extLst>
            </p:cNvPr>
            <p:cNvSpPr txBox="1"/>
            <p:nvPr/>
          </p:nvSpPr>
          <p:spPr>
            <a:xfrm>
              <a:off x="3343119" y="4277344"/>
              <a:ext cx="324128" cy="369332"/>
            </a:xfrm>
            <a:prstGeom prst="rect">
              <a:avLst/>
            </a:prstGeom>
            <a:noFill/>
          </p:spPr>
          <p:txBody>
            <a:bodyPr wrap="none" rtlCol="0">
              <a:spAutoFit/>
            </a:bodyPr>
            <a:lstStyle/>
            <a:p>
              <a:r>
                <a:rPr lang="en-US" dirty="0"/>
                <a:t>B</a:t>
              </a:r>
            </a:p>
          </p:txBody>
        </p:sp>
        <p:sp>
          <p:nvSpPr>
            <p:cNvPr id="208" name="TextBox 207">
              <a:extLst>
                <a:ext uri="{FF2B5EF4-FFF2-40B4-BE49-F238E27FC236}">
                  <a16:creationId xmlns:a16="http://schemas.microsoft.com/office/drawing/2014/main" id="{1C15509D-2519-5756-EEC4-485179335DDD}"/>
                </a:ext>
              </a:extLst>
            </p:cNvPr>
            <p:cNvSpPr txBox="1"/>
            <p:nvPr/>
          </p:nvSpPr>
          <p:spPr>
            <a:xfrm>
              <a:off x="3251220" y="3369627"/>
              <a:ext cx="535724" cy="369332"/>
            </a:xfrm>
            <a:prstGeom prst="rect">
              <a:avLst/>
            </a:prstGeom>
            <a:noFill/>
          </p:spPr>
          <p:txBody>
            <a:bodyPr wrap="none" rtlCol="0">
              <a:spAutoFit/>
            </a:bodyPr>
            <a:lstStyle/>
            <a:p>
              <a:r>
                <a:rPr lang="en-US" dirty="0">
                  <a:sym typeface="Symbol" panose="05050102010706020507" pitchFamily="18" charset="2"/>
                </a:rPr>
                <a:t> </a:t>
              </a:r>
              <a:r>
                <a:rPr lang="en-US" dirty="0"/>
                <a:t>B</a:t>
              </a:r>
            </a:p>
          </p:txBody>
        </p:sp>
        <p:sp>
          <p:nvSpPr>
            <p:cNvPr id="209" name="TextBox 208">
              <a:extLst>
                <a:ext uri="{FF2B5EF4-FFF2-40B4-BE49-F238E27FC236}">
                  <a16:creationId xmlns:a16="http://schemas.microsoft.com/office/drawing/2014/main" id="{DDA44239-F583-BC80-6B97-DB5277D9683E}"/>
                </a:ext>
              </a:extLst>
            </p:cNvPr>
            <p:cNvSpPr txBox="1"/>
            <p:nvPr/>
          </p:nvSpPr>
          <p:spPr>
            <a:xfrm>
              <a:off x="3291840" y="5241525"/>
              <a:ext cx="535724" cy="369332"/>
            </a:xfrm>
            <a:prstGeom prst="rect">
              <a:avLst/>
            </a:prstGeom>
            <a:noFill/>
          </p:spPr>
          <p:txBody>
            <a:bodyPr wrap="none" rtlCol="0">
              <a:spAutoFit/>
            </a:bodyPr>
            <a:lstStyle/>
            <a:p>
              <a:r>
                <a:rPr lang="en-US" dirty="0">
                  <a:sym typeface="Symbol" panose="05050102010706020507" pitchFamily="18" charset="2"/>
                </a:rPr>
                <a:t> B</a:t>
              </a:r>
              <a:endParaRPr lang="en-US" dirty="0"/>
            </a:p>
          </p:txBody>
        </p:sp>
        <p:sp>
          <p:nvSpPr>
            <p:cNvPr id="210" name="TextBox 209">
              <a:extLst>
                <a:ext uri="{FF2B5EF4-FFF2-40B4-BE49-F238E27FC236}">
                  <a16:creationId xmlns:a16="http://schemas.microsoft.com/office/drawing/2014/main" id="{4D888AB0-8962-FDFC-B3E0-AF823DD52903}"/>
                </a:ext>
              </a:extLst>
            </p:cNvPr>
            <p:cNvSpPr txBox="1"/>
            <p:nvPr/>
          </p:nvSpPr>
          <p:spPr>
            <a:xfrm rot="19854557">
              <a:off x="732054" y="3351014"/>
              <a:ext cx="620683" cy="369332"/>
            </a:xfrm>
            <a:prstGeom prst="rect">
              <a:avLst/>
            </a:prstGeom>
            <a:noFill/>
          </p:spPr>
          <p:txBody>
            <a:bodyPr wrap="none" rtlCol="0">
              <a:spAutoFit/>
            </a:bodyPr>
            <a:lstStyle/>
            <a:p>
              <a:r>
                <a:rPr lang="en-US" dirty="0"/>
                <a:t>0.80</a:t>
              </a:r>
            </a:p>
          </p:txBody>
        </p:sp>
        <p:sp>
          <p:nvSpPr>
            <p:cNvPr id="211" name="TextBox 210">
              <a:extLst>
                <a:ext uri="{FF2B5EF4-FFF2-40B4-BE49-F238E27FC236}">
                  <a16:creationId xmlns:a16="http://schemas.microsoft.com/office/drawing/2014/main" id="{73AA7F24-5CA2-470C-5965-DD23E90FFD10}"/>
                </a:ext>
              </a:extLst>
            </p:cNvPr>
            <p:cNvSpPr txBox="1"/>
            <p:nvPr/>
          </p:nvSpPr>
          <p:spPr>
            <a:xfrm rot="1547123">
              <a:off x="713610" y="4493634"/>
              <a:ext cx="620683" cy="369332"/>
            </a:xfrm>
            <a:prstGeom prst="rect">
              <a:avLst/>
            </a:prstGeom>
            <a:noFill/>
          </p:spPr>
          <p:txBody>
            <a:bodyPr wrap="none" rtlCol="0">
              <a:spAutoFit/>
            </a:bodyPr>
            <a:lstStyle/>
            <a:p>
              <a:r>
                <a:rPr lang="en-US" dirty="0"/>
                <a:t>0.20</a:t>
              </a:r>
            </a:p>
          </p:txBody>
        </p:sp>
        <p:sp>
          <p:nvSpPr>
            <p:cNvPr id="212" name="TextBox 211">
              <a:extLst>
                <a:ext uri="{FF2B5EF4-FFF2-40B4-BE49-F238E27FC236}">
                  <a16:creationId xmlns:a16="http://schemas.microsoft.com/office/drawing/2014/main" id="{7059B18F-8A8B-6C0F-4634-D1A860CC71F8}"/>
                </a:ext>
              </a:extLst>
            </p:cNvPr>
            <p:cNvSpPr txBox="1"/>
            <p:nvPr/>
          </p:nvSpPr>
          <p:spPr>
            <a:xfrm rot="20060106">
              <a:off x="2466837" y="2585644"/>
              <a:ext cx="620683" cy="369332"/>
            </a:xfrm>
            <a:prstGeom prst="rect">
              <a:avLst/>
            </a:prstGeom>
            <a:noFill/>
          </p:spPr>
          <p:txBody>
            <a:bodyPr wrap="none" rtlCol="0">
              <a:spAutoFit/>
            </a:bodyPr>
            <a:lstStyle/>
            <a:p>
              <a:r>
                <a:rPr lang="en-US" dirty="0"/>
                <a:t>0.90</a:t>
              </a:r>
            </a:p>
          </p:txBody>
        </p:sp>
        <p:sp>
          <p:nvSpPr>
            <p:cNvPr id="213" name="TextBox 212">
              <a:extLst>
                <a:ext uri="{FF2B5EF4-FFF2-40B4-BE49-F238E27FC236}">
                  <a16:creationId xmlns:a16="http://schemas.microsoft.com/office/drawing/2014/main" id="{E948A131-53A0-E0FC-ACA6-0812FD7B0390}"/>
                </a:ext>
              </a:extLst>
            </p:cNvPr>
            <p:cNvSpPr txBox="1"/>
            <p:nvPr/>
          </p:nvSpPr>
          <p:spPr>
            <a:xfrm rot="1004917">
              <a:off x="2434009" y="3372512"/>
              <a:ext cx="620683" cy="369332"/>
            </a:xfrm>
            <a:prstGeom prst="rect">
              <a:avLst/>
            </a:prstGeom>
            <a:noFill/>
          </p:spPr>
          <p:txBody>
            <a:bodyPr wrap="none" rtlCol="0">
              <a:spAutoFit/>
            </a:bodyPr>
            <a:lstStyle/>
            <a:p>
              <a:r>
                <a:rPr lang="en-US" dirty="0"/>
                <a:t>0.10</a:t>
              </a:r>
            </a:p>
          </p:txBody>
        </p:sp>
        <p:sp>
          <p:nvSpPr>
            <p:cNvPr id="214" name="TextBox 213">
              <a:extLst>
                <a:ext uri="{FF2B5EF4-FFF2-40B4-BE49-F238E27FC236}">
                  <a16:creationId xmlns:a16="http://schemas.microsoft.com/office/drawing/2014/main" id="{EDC63328-9CB1-3159-6FF4-3C21B82E062E}"/>
                </a:ext>
              </a:extLst>
            </p:cNvPr>
            <p:cNvSpPr txBox="1"/>
            <p:nvPr/>
          </p:nvSpPr>
          <p:spPr>
            <a:xfrm rot="19753839">
              <a:off x="2474554" y="4353144"/>
              <a:ext cx="620683" cy="369332"/>
            </a:xfrm>
            <a:prstGeom prst="rect">
              <a:avLst/>
            </a:prstGeom>
            <a:noFill/>
          </p:spPr>
          <p:txBody>
            <a:bodyPr wrap="none" rtlCol="0">
              <a:spAutoFit/>
            </a:bodyPr>
            <a:lstStyle/>
            <a:p>
              <a:r>
                <a:rPr lang="en-US" dirty="0"/>
                <a:t>0.25</a:t>
              </a:r>
            </a:p>
          </p:txBody>
        </p:sp>
        <p:sp>
          <p:nvSpPr>
            <p:cNvPr id="215" name="TextBox 214">
              <a:extLst>
                <a:ext uri="{FF2B5EF4-FFF2-40B4-BE49-F238E27FC236}">
                  <a16:creationId xmlns:a16="http://schemas.microsoft.com/office/drawing/2014/main" id="{22284BC5-F3A1-C185-B9D6-1B987D1A3F19}"/>
                </a:ext>
              </a:extLst>
            </p:cNvPr>
            <p:cNvSpPr txBox="1"/>
            <p:nvPr/>
          </p:nvSpPr>
          <p:spPr>
            <a:xfrm rot="2025751">
              <a:off x="2430832" y="5175352"/>
              <a:ext cx="620683" cy="369332"/>
            </a:xfrm>
            <a:prstGeom prst="rect">
              <a:avLst/>
            </a:prstGeom>
            <a:noFill/>
          </p:spPr>
          <p:txBody>
            <a:bodyPr wrap="none" rtlCol="0">
              <a:spAutoFit/>
            </a:bodyPr>
            <a:lstStyle/>
            <a:p>
              <a:r>
                <a:rPr lang="en-US" dirty="0"/>
                <a:t>0.75</a:t>
              </a:r>
            </a:p>
          </p:txBody>
        </p:sp>
        <p:sp>
          <p:nvSpPr>
            <p:cNvPr id="216" name="TextBox 215">
              <a:extLst>
                <a:ext uri="{FF2B5EF4-FFF2-40B4-BE49-F238E27FC236}">
                  <a16:creationId xmlns:a16="http://schemas.microsoft.com/office/drawing/2014/main" id="{9F2515CF-A6BC-64C6-EB87-811478334C4C}"/>
                </a:ext>
              </a:extLst>
            </p:cNvPr>
            <p:cNvSpPr txBox="1"/>
            <p:nvPr/>
          </p:nvSpPr>
          <p:spPr>
            <a:xfrm rot="19845072">
              <a:off x="2177964" y="2357116"/>
              <a:ext cx="790601" cy="369332"/>
            </a:xfrm>
            <a:prstGeom prst="rect">
              <a:avLst/>
            </a:prstGeom>
            <a:noFill/>
          </p:spPr>
          <p:txBody>
            <a:bodyPr wrap="none" rtlCol="0">
              <a:spAutoFit/>
            </a:bodyPr>
            <a:lstStyle/>
            <a:p>
              <a:r>
                <a:rPr lang="en-US" dirty="0">
                  <a:solidFill>
                    <a:srgbClr val="00B0F0"/>
                  </a:solidFill>
                </a:rPr>
                <a:t>P(B|A)</a:t>
              </a:r>
            </a:p>
          </p:txBody>
        </p:sp>
        <p:sp>
          <p:nvSpPr>
            <p:cNvPr id="217" name="TextBox 216">
              <a:extLst>
                <a:ext uri="{FF2B5EF4-FFF2-40B4-BE49-F238E27FC236}">
                  <a16:creationId xmlns:a16="http://schemas.microsoft.com/office/drawing/2014/main" id="{FCC4BA51-0FA2-0E7F-7BDC-325FCC1A053A}"/>
                </a:ext>
              </a:extLst>
            </p:cNvPr>
            <p:cNvSpPr txBox="1"/>
            <p:nvPr/>
          </p:nvSpPr>
          <p:spPr>
            <a:xfrm rot="1389350">
              <a:off x="2150998" y="3557694"/>
              <a:ext cx="955711" cy="369332"/>
            </a:xfrm>
            <a:prstGeom prst="rect">
              <a:avLst/>
            </a:prstGeom>
            <a:noFill/>
          </p:spPr>
          <p:txBody>
            <a:bodyPr wrap="none" rtlCol="0">
              <a:spAutoFit/>
            </a:bodyPr>
            <a:lstStyle/>
            <a:p>
              <a:r>
                <a:rPr lang="en-US" dirty="0">
                  <a:solidFill>
                    <a:srgbClr val="00B0F0"/>
                  </a:solidFill>
                </a:rPr>
                <a:t>P(</a:t>
              </a:r>
              <a:r>
                <a:rPr lang="en-US" dirty="0">
                  <a:solidFill>
                    <a:srgbClr val="00B0F0"/>
                  </a:solidFill>
                  <a:sym typeface="Symbol" panose="05050102010706020507" pitchFamily="18" charset="2"/>
                </a:rPr>
                <a:t></a:t>
              </a:r>
              <a:r>
                <a:rPr lang="en-US" dirty="0">
                  <a:solidFill>
                    <a:srgbClr val="00B0F0"/>
                  </a:solidFill>
                </a:rPr>
                <a:t>B|A)</a:t>
              </a:r>
            </a:p>
          </p:txBody>
        </p:sp>
        <p:sp>
          <p:nvSpPr>
            <p:cNvPr id="218" name="TextBox 217">
              <a:extLst>
                <a:ext uri="{FF2B5EF4-FFF2-40B4-BE49-F238E27FC236}">
                  <a16:creationId xmlns:a16="http://schemas.microsoft.com/office/drawing/2014/main" id="{C85E0B62-BCD9-D26E-A72B-74EB3B176B4E}"/>
                </a:ext>
              </a:extLst>
            </p:cNvPr>
            <p:cNvSpPr txBox="1"/>
            <p:nvPr/>
          </p:nvSpPr>
          <p:spPr>
            <a:xfrm rot="19845072">
              <a:off x="2095410" y="4189694"/>
              <a:ext cx="955711" cy="369332"/>
            </a:xfrm>
            <a:prstGeom prst="rect">
              <a:avLst/>
            </a:prstGeom>
            <a:noFill/>
          </p:spPr>
          <p:txBody>
            <a:bodyPr wrap="none" rtlCol="0">
              <a:spAutoFit/>
            </a:bodyPr>
            <a:lstStyle/>
            <a:p>
              <a:r>
                <a:rPr lang="en-US" dirty="0">
                  <a:solidFill>
                    <a:srgbClr val="00B0F0"/>
                  </a:solidFill>
                </a:rPr>
                <a:t>P(B|</a:t>
              </a:r>
              <a:r>
                <a:rPr lang="en-US" dirty="0">
                  <a:solidFill>
                    <a:srgbClr val="00B0F0"/>
                  </a:solidFill>
                  <a:sym typeface="Symbol" panose="05050102010706020507" pitchFamily="18" charset="2"/>
                </a:rPr>
                <a:t></a:t>
              </a:r>
              <a:r>
                <a:rPr lang="en-US" dirty="0">
                  <a:solidFill>
                    <a:srgbClr val="00B0F0"/>
                  </a:solidFill>
                </a:rPr>
                <a:t>A)</a:t>
              </a:r>
            </a:p>
          </p:txBody>
        </p:sp>
        <p:sp>
          <p:nvSpPr>
            <p:cNvPr id="219" name="TextBox 218">
              <a:extLst>
                <a:ext uri="{FF2B5EF4-FFF2-40B4-BE49-F238E27FC236}">
                  <a16:creationId xmlns:a16="http://schemas.microsoft.com/office/drawing/2014/main" id="{CD55464D-66EC-A6A4-9917-4402C1D874CA}"/>
                </a:ext>
              </a:extLst>
            </p:cNvPr>
            <p:cNvSpPr txBox="1"/>
            <p:nvPr/>
          </p:nvSpPr>
          <p:spPr>
            <a:xfrm rot="1962217">
              <a:off x="2122731" y="5368571"/>
              <a:ext cx="1120820" cy="369332"/>
            </a:xfrm>
            <a:prstGeom prst="rect">
              <a:avLst/>
            </a:prstGeom>
            <a:noFill/>
          </p:spPr>
          <p:txBody>
            <a:bodyPr wrap="none" rtlCol="0">
              <a:spAutoFit/>
            </a:bodyPr>
            <a:lstStyle/>
            <a:p>
              <a:r>
                <a:rPr lang="en-US" dirty="0">
                  <a:solidFill>
                    <a:srgbClr val="00B0F0"/>
                  </a:solidFill>
                </a:rPr>
                <a:t>P(</a:t>
              </a:r>
              <a:r>
                <a:rPr lang="en-US" dirty="0">
                  <a:solidFill>
                    <a:srgbClr val="00B0F0"/>
                  </a:solidFill>
                  <a:sym typeface="Symbol" panose="05050102010706020507" pitchFamily="18" charset="2"/>
                </a:rPr>
                <a:t></a:t>
              </a:r>
              <a:r>
                <a:rPr lang="en-US" dirty="0">
                  <a:solidFill>
                    <a:srgbClr val="00B0F0"/>
                  </a:solidFill>
                </a:rPr>
                <a:t>B|</a:t>
              </a:r>
              <a:r>
                <a:rPr lang="en-US" dirty="0">
                  <a:solidFill>
                    <a:srgbClr val="00B0F0"/>
                  </a:solidFill>
                  <a:sym typeface="Symbol" panose="05050102010706020507" pitchFamily="18" charset="2"/>
                </a:rPr>
                <a:t></a:t>
              </a:r>
              <a:r>
                <a:rPr lang="en-US" dirty="0">
                  <a:solidFill>
                    <a:srgbClr val="00B0F0"/>
                  </a:solidFill>
                </a:rPr>
                <a:t>A)</a:t>
              </a:r>
            </a:p>
          </p:txBody>
        </p:sp>
        <p:sp>
          <p:nvSpPr>
            <p:cNvPr id="220" name="TextBox 219">
              <a:extLst>
                <a:ext uri="{FF2B5EF4-FFF2-40B4-BE49-F238E27FC236}">
                  <a16:creationId xmlns:a16="http://schemas.microsoft.com/office/drawing/2014/main" id="{04FAF1A4-B745-90BF-F6A4-19E0BEFB4D48}"/>
                </a:ext>
              </a:extLst>
            </p:cNvPr>
            <p:cNvSpPr txBox="1"/>
            <p:nvPr/>
          </p:nvSpPr>
          <p:spPr>
            <a:xfrm rot="19845072">
              <a:off x="604145" y="3106248"/>
              <a:ext cx="588623" cy="369332"/>
            </a:xfrm>
            <a:prstGeom prst="rect">
              <a:avLst/>
            </a:prstGeom>
            <a:noFill/>
          </p:spPr>
          <p:txBody>
            <a:bodyPr wrap="none" rtlCol="0">
              <a:spAutoFit/>
            </a:bodyPr>
            <a:lstStyle/>
            <a:p>
              <a:r>
                <a:rPr lang="en-US" dirty="0">
                  <a:solidFill>
                    <a:srgbClr val="00B0F0"/>
                  </a:solidFill>
                </a:rPr>
                <a:t>P(A)</a:t>
              </a:r>
            </a:p>
          </p:txBody>
        </p:sp>
        <p:sp>
          <p:nvSpPr>
            <p:cNvPr id="221" name="TextBox 220">
              <a:extLst>
                <a:ext uri="{FF2B5EF4-FFF2-40B4-BE49-F238E27FC236}">
                  <a16:creationId xmlns:a16="http://schemas.microsoft.com/office/drawing/2014/main" id="{D4E0EA87-B876-60C0-5D3A-8D10530B2FF1}"/>
                </a:ext>
              </a:extLst>
            </p:cNvPr>
            <p:cNvSpPr txBox="1"/>
            <p:nvPr/>
          </p:nvSpPr>
          <p:spPr>
            <a:xfrm rot="1962217">
              <a:off x="531477" y="4690674"/>
              <a:ext cx="753732" cy="369332"/>
            </a:xfrm>
            <a:prstGeom prst="rect">
              <a:avLst/>
            </a:prstGeom>
            <a:noFill/>
          </p:spPr>
          <p:txBody>
            <a:bodyPr wrap="none" rtlCol="0">
              <a:spAutoFit/>
            </a:bodyPr>
            <a:lstStyle/>
            <a:p>
              <a:r>
                <a:rPr lang="en-US" dirty="0">
                  <a:solidFill>
                    <a:srgbClr val="00B0F0"/>
                  </a:solidFill>
                </a:rPr>
                <a:t>P(</a:t>
              </a:r>
              <a:r>
                <a:rPr lang="en-US" dirty="0">
                  <a:solidFill>
                    <a:srgbClr val="00B0F0"/>
                  </a:solidFill>
                  <a:sym typeface="Symbol" panose="05050102010706020507" pitchFamily="18" charset="2"/>
                </a:rPr>
                <a:t></a:t>
              </a:r>
              <a:r>
                <a:rPr lang="en-US" dirty="0">
                  <a:solidFill>
                    <a:srgbClr val="00B0F0"/>
                  </a:solidFill>
                </a:rPr>
                <a:t>A)</a:t>
              </a:r>
            </a:p>
          </p:txBody>
        </p:sp>
        <p:sp>
          <p:nvSpPr>
            <p:cNvPr id="222" name="TextBox 221">
              <a:extLst>
                <a:ext uri="{FF2B5EF4-FFF2-40B4-BE49-F238E27FC236}">
                  <a16:creationId xmlns:a16="http://schemas.microsoft.com/office/drawing/2014/main" id="{955EADCA-0AF8-9F3D-096F-BF5A9FEC3EB6}"/>
                </a:ext>
              </a:extLst>
            </p:cNvPr>
            <p:cNvSpPr txBox="1"/>
            <p:nvPr/>
          </p:nvSpPr>
          <p:spPr>
            <a:xfrm>
              <a:off x="1674801" y="6250041"/>
              <a:ext cx="1686167" cy="369332"/>
            </a:xfrm>
            <a:prstGeom prst="rect">
              <a:avLst/>
            </a:prstGeom>
            <a:noFill/>
          </p:spPr>
          <p:txBody>
            <a:bodyPr wrap="none" rtlCol="0">
              <a:spAutoFit/>
            </a:bodyPr>
            <a:lstStyle/>
            <a:p>
              <a:r>
                <a:rPr lang="en-US" dirty="0"/>
                <a:t>Probability tree</a:t>
              </a:r>
            </a:p>
          </p:txBody>
        </p:sp>
      </p:grpSp>
      <p:sp>
        <p:nvSpPr>
          <p:cNvPr id="225" name="TextBox 224">
            <a:extLst>
              <a:ext uri="{FF2B5EF4-FFF2-40B4-BE49-F238E27FC236}">
                <a16:creationId xmlns:a16="http://schemas.microsoft.com/office/drawing/2014/main" id="{6C3E0D17-CF2A-F2FD-D030-0A8A610C5F7B}"/>
              </a:ext>
            </a:extLst>
          </p:cNvPr>
          <p:cNvSpPr txBox="1"/>
          <p:nvPr/>
        </p:nvSpPr>
        <p:spPr>
          <a:xfrm>
            <a:off x="4553930" y="2103810"/>
            <a:ext cx="620683" cy="369332"/>
          </a:xfrm>
          <a:prstGeom prst="rect">
            <a:avLst/>
          </a:prstGeom>
          <a:noFill/>
        </p:spPr>
        <p:txBody>
          <a:bodyPr wrap="none" rtlCol="0">
            <a:spAutoFit/>
          </a:bodyPr>
          <a:lstStyle/>
          <a:p>
            <a:pPr algn="l"/>
            <a:r>
              <a:rPr lang="en-US" dirty="0"/>
              <a:t>0.72</a:t>
            </a:r>
          </a:p>
        </p:txBody>
      </p:sp>
      <p:sp>
        <p:nvSpPr>
          <p:cNvPr id="226" name="TextBox 225">
            <a:extLst>
              <a:ext uri="{FF2B5EF4-FFF2-40B4-BE49-F238E27FC236}">
                <a16:creationId xmlns:a16="http://schemas.microsoft.com/office/drawing/2014/main" id="{3B02CD99-211B-7DDE-FE3B-8B4CCBA1E4FA}"/>
              </a:ext>
            </a:extLst>
          </p:cNvPr>
          <p:cNvSpPr txBox="1"/>
          <p:nvPr/>
        </p:nvSpPr>
        <p:spPr>
          <a:xfrm>
            <a:off x="4526243" y="2935359"/>
            <a:ext cx="620683" cy="369332"/>
          </a:xfrm>
          <a:prstGeom prst="rect">
            <a:avLst/>
          </a:prstGeom>
          <a:noFill/>
        </p:spPr>
        <p:txBody>
          <a:bodyPr wrap="none" rtlCol="0">
            <a:spAutoFit/>
          </a:bodyPr>
          <a:lstStyle/>
          <a:p>
            <a:pPr algn="l"/>
            <a:r>
              <a:rPr lang="en-US" dirty="0"/>
              <a:t>0.08</a:t>
            </a:r>
          </a:p>
        </p:txBody>
      </p:sp>
      <p:sp>
        <p:nvSpPr>
          <p:cNvPr id="227" name="TextBox 226">
            <a:extLst>
              <a:ext uri="{FF2B5EF4-FFF2-40B4-BE49-F238E27FC236}">
                <a16:creationId xmlns:a16="http://schemas.microsoft.com/office/drawing/2014/main" id="{97BA19EF-0434-B430-26AF-99E018C5D138}"/>
              </a:ext>
            </a:extLst>
          </p:cNvPr>
          <p:cNvSpPr txBox="1"/>
          <p:nvPr/>
        </p:nvSpPr>
        <p:spPr>
          <a:xfrm>
            <a:off x="4501999" y="3811069"/>
            <a:ext cx="620683" cy="369332"/>
          </a:xfrm>
          <a:prstGeom prst="rect">
            <a:avLst/>
          </a:prstGeom>
          <a:noFill/>
        </p:spPr>
        <p:txBody>
          <a:bodyPr wrap="none" rtlCol="0">
            <a:spAutoFit/>
          </a:bodyPr>
          <a:lstStyle/>
          <a:p>
            <a:pPr algn="l"/>
            <a:r>
              <a:rPr lang="en-US" dirty="0"/>
              <a:t>0.05</a:t>
            </a:r>
          </a:p>
        </p:txBody>
      </p:sp>
      <p:sp>
        <p:nvSpPr>
          <p:cNvPr id="228" name="TextBox 227">
            <a:extLst>
              <a:ext uri="{FF2B5EF4-FFF2-40B4-BE49-F238E27FC236}">
                <a16:creationId xmlns:a16="http://schemas.microsoft.com/office/drawing/2014/main" id="{4BD38922-A60B-21BD-72B3-8464E44797C4}"/>
              </a:ext>
            </a:extLst>
          </p:cNvPr>
          <p:cNvSpPr txBox="1"/>
          <p:nvPr/>
        </p:nvSpPr>
        <p:spPr>
          <a:xfrm>
            <a:off x="4501999" y="4811357"/>
            <a:ext cx="620683" cy="369332"/>
          </a:xfrm>
          <a:prstGeom prst="rect">
            <a:avLst/>
          </a:prstGeom>
          <a:noFill/>
        </p:spPr>
        <p:txBody>
          <a:bodyPr wrap="none" rtlCol="0">
            <a:spAutoFit/>
          </a:bodyPr>
          <a:lstStyle/>
          <a:p>
            <a:pPr algn="l"/>
            <a:r>
              <a:rPr lang="en-US" dirty="0"/>
              <a:t>0.15</a:t>
            </a:r>
          </a:p>
        </p:txBody>
      </p:sp>
    </p:spTree>
    <p:extLst>
      <p:ext uri="{BB962C8B-B14F-4D97-AF65-F5344CB8AC3E}">
        <p14:creationId xmlns:p14="http://schemas.microsoft.com/office/powerpoint/2010/main" val="1850717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alpha val="35000"/>
          </a:schemeClr>
        </a:solidFill>
        <a:effectLst/>
      </p:bgPr>
    </p:bg>
    <p:spTree>
      <p:nvGrpSpPr>
        <p:cNvPr id="1" name="">
          <a:extLst>
            <a:ext uri="{FF2B5EF4-FFF2-40B4-BE49-F238E27FC236}">
              <a16:creationId xmlns:a16="http://schemas.microsoft.com/office/drawing/2014/main" id="{5055825A-A7DA-1840-5F39-F1ACC6205AA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8F4A64-13C1-E778-B934-1EC351789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64DEA67-6177-17B9-D003-E032ADB1C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5273B91-7AD3-4A57-D2FC-F693D51F3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8B7AF4-7441-8098-67B9-092D747E2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98A2516-EF84-4767-7CAE-B47DACAB4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9DD72-0647-3C2E-EE77-3D39DA993EA0}"/>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Joint probability can be subtle</a:t>
            </a:r>
          </a:p>
        </p:txBody>
      </p:sp>
      <p:pic>
        <p:nvPicPr>
          <p:cNvPr id="194" name="Picture 193" descr="\documentclass{article}&#10;\usepackage{amsmath,mdframed}&#10;\usepackage{xcolor}&#10;\pagestyle{empty}&#10;\begin{document}&#10;&#10;\begin{mdframed}[leftmargin=75pt, rightmargin=-50pt, &#10;innertopmargin=-5pt,innerbottommargin=1pt,skipabove=-20pt, skipbelow=20pt]&#10;\begin{flalign}&#10;P(A\land B) &amp;= P(A)P(B|A)\ \ \  \text{(Axiom of conditional probability)} \\&#10;&amp;= P(B)P(A|B) \nonumber\\&#10;&amp;\neq P(B)P(A) \text{\ \textcolor{red}{(Venn diagram can be misleading!)}}\nonumber &#10;\end{flalign}&#10;\end{mdframed}&#10;&#10;\begin{mdframed}[leftmargin=75pt, rightmargin=-50pt, &#10;innertopmargin=-5pt,innerbottommargin=1pt,skipabove=-20pt, skipbelow=20pt]&#10;\begin{flalign}&#10;P(A) &amp;= P(A\land B) + P(A\land \lnot B) \ \ \text{(Marginalization)}\\&#10;P(B) &amp;= P(B\land A) + P(B\land \lnot A) \nonumber&#10;\end{flalign}&#10;\end{mdframed}&#10;&#10;\end{document}" title="IguanaTex Bitmap Display">
            <a:extLst>
              <a:ext uri="{FF2B5EF4-FFF2-40B4-BE49-F238E27FC236}">
                <a16:creationId xmlns:a16="http://schemas.microsoft.com/office/drawing/2014/main" id="{EF4D1137-DEF7-28AF-3422-9652159A155F}"/>
              </a:ext>
            </a:extLst>
          </p:cNvPr>
          <p:cNvPicPr>
            <a:picLocks noChangeAspect="1"/>
          </p:cNvPicPr>
          <p:nvPr>
            <p:custDataLst>
              <p:tags r:id="rId1"/>
            </p:custDataLst>
          </p:nvPr>
        </p:nvPicPr>
        <p:blipFill>
          <a:blip r:embed="rId3"/>
          <a:stretch>
            <a:fillRect/>
          </a:stretch>
        </p:blipFill>
        <p:spPr>
          <a:xfrm>
            <a:off x="6543684" y="4541908"/>
            <a:ext cx="5418560" cy="1885156"/>
          </a:xfrm>
          <a:prstGeom prst="rect">
            <a:avLst/>
          </a:prstGeom>
        </p:spPr>
      </p:pic>
      <p:grpSp>
        <p:nvGrpSpPr>
          <p:cNvPr id="9" name="Group 8">
            <a:extLst>
              <a:ext uri="{FF2B5EF4-FFF2-40B4-BE49-F238E27FC236}">
                <a16:creationId xmlns:a16="http://schemas.microsoft.com/office/drawing/2014/main" id="{A9776109-0FA4-ADFF-E1F4-106F27984921}"/>
              </a:ext>
            </a:extLst>
          </p:cNvPr>
          <p:cNvGrpSpPr/>
          <p:nvPr/>
        </p:nvGrpSpPr>
        <p:grpSpPr>
          <a:xfrm>
            <a:off x="7378444" y="2171496"/>
            <a:ext cx="3355848" cy="1657180"/>
            <a:chOff x="3171664" y="1827297"/>
            <a:chExt cx="3355848" cy="1657180"/>
          </a:xfrm>
        </p:grpSpPr>
        <p:sp>
          <p:nvSpPr>
            <p:cNvPr id="3" name="Rectangle 2">
              <a:extLst>
                <a:ext uri="{FF2B5EF4-FFF2-40B4-BE49-F238E27FC236}">
                  <a16:creationId xmlns:a16="http://schemas.microsoft.com/office/drawing/2014/main" id="{9618E177-63A1-2B67-B3F4-52D7336D8A88}"/>
                </a:ext>
              </a:extLst>
            </p:cNvPr>
            <p:cNvSpPr/>
            <p:nvPr/>
          </p:nvSpPr>
          <p:spPr>
            <a:xfrm>
              <a:off x="3171664" y="1827297"/>
              <a:ext cx="3355848" cy="1657180"/>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95C5639-71E1-B0A2-6E2E-7123A894FF74}"/>
                </a:ext>
              </a:extLst>
            </p:cNvPr>
            <p:cNvSpPr/>
            <p:nvPr/>
          </p:nvSpPr>
          <p:spPr>
            <a:xfrm>
              <a:off x="3533360" y="2253969"/>
              <a:ext cx="1727200" cy="846590"/>
            </a:xfrm>
            <a:prstGeom prst="ellipse">
              <a:avLst/>
            </a:prstGeom>
            <a:pattFill prst="pct5">
              <a:fgClr>
                <a:schemeClr val="tx1">
                  <a:lumMod val="50000"/>
                  <a:lumOff val="50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8C20859-C743-7834-DB2D-5843FAA60F22}"/>
                </a:ext>
              </a:extLst>
            </p:cNvPr>
            <p:cNvSpPr/>
            <p:nvPr/>
          </p:nvSpPr>
          <p:spPr>
            <a:xfrm>
              <a:off x="4676724" y="2253969"/>
              <a:ext cx="1386476" cy="989711"/>
            </a:xfrm>
            <a:prstGeom prst="ellipse">
              <a:avLst/>
            </a:prstGeom>
            <a:solidFill>
              <a:schemeClr val="tx1">
                <a:lumMod val="50000"/>
                <a:lumOff val="50000"/>
                <a:alpha val="3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A0BB779-D72F-EB9F-E70D-EBCCBF2A8839}"/>
                </a:ext>
              </a:extLst>
            </p:cNvPr>
            <p:cNvSpPr txBox="1"/>
            <p:nvPr/>
          </p:nvSpPr>
          <p:spPr>
            <a:xfrm>
              <a:off x="3641595" y="2477209"/>
              <a:ext cx="614271" cy="400110"/>
            </a:xfrm>
            <a:prstGeom prst="rect">
              <a:avLst/>
            </a:prstGeom>
            <a:noFill/>
          </p:spPr>
          <p:txBody>
            <a:bodyPr wrap="none" rtlCol="0">
              <a:spAutoFit/>
            </a:bodyPr>
            <a:lstStyle/>
            <a:p>
              <a:r>
                <a:rPr lang="en-US" sz="2000" dirty="0"/>
                <a:t>odd</a:t>
              </a:r>
            </a:p>
          </p:txBody>
        </p:sp>
        <p:sp>
          <p:nvSpPr>
            <p:cNvPr id="13" name="TextBox 12">
              <a:extLst>
                <a:ext uri="{FF2B5EF4-FFF2-40B4-BE49-F238E27FC236}">
                  <a16:creationId xmlns:a16="http://schemas.microsoft.com/office/drawing/2014/main" id="{ADBB74A2-5EBA-D034-F2F8-EA711140AB80}"/>
                </a:ext>
              </a:extLst>
            </p:cNvPr>
            <p:cNvSpPr txBox="1"/>
            <p:nvPr/>
          </p:nvSpPr>
          <p:spPr>
            <a:xfrm>
              <a:off x="5276568" y="2455832"/>
              <a:ext cx="829073" cy="400110"/>
            </a:xfrm>
            <a:prstGeom prst="rect">
              <a:avLst/>
            </a:prstGeom>
            <a:noFill/>
          </p:spPr>
          <p:txBody>
            <a:bodyPr wrap="none" rtlCol="0">
              <a:spAutoFit/>
            </a:bodyPr>
            <a:lstStyle/>
            <a:p>
              <a:r>
                <a:rPr lang="en-US" sz="2000" dirty="0"/>
                <a:t>prime</a:t>
              </a:r>
            </a:p>
          </p:txBody>
        </p:sp>
        <p:sp>
          <p:nvSpPr>
            <p:cNvPr id="15" name="TextBox 14">
              <a:extLst>
                <a:ext uri="{FF2B5EF4-FFF2-40B4-BE49-F238E27FC236}">
                  <a16:creationId xmlns:a16="http://schemas.microsoft.com/office/drawing/2014/main" id="{7A11CA25-BFA6-1C27-ECCA-1DA9873AABB2}"/>
                </a:ext>
              </a:extLst>
            </p:cNvPr>
            <p:cNvSpPr txBox="1"/>
            <p:nvPr/>
          </p:nvSpPr>
          <p:spPr>
            <a:xfrm>
              <a:off x="4651715" y="2482699"/>
              <a:ext cx="184731" cy="369332"/>
            </a:xfrm>
            <a:prstGeom prst="rect">
              <a:avLst/>
            </a:prstGeom>
            <a:noFill/>
          </p:spPr>
          <p:txBody>
            <a:bodyPr wrap="none" rtlCol="0">
              <a:spAutoFit/>
            </a:bodyPr>
            <a:lstStyle/>
            <a:p>
              <a:endParaRPr lang="en-US" dirty="0"/>
            </a:p>
          </p:txBody>
        </p:sp>
      </p:grpSp>
      <p:sp>
        <p:nvSpPr>
          <p:cNvPr id="11" name="TextBox 10">
            <a:extLst>
              <a:ext uri="{FF2B5EF4-FFF2-40B4-BE49-F238E27FC236}">
                <a16:creationId xmlns:a16="http://schemas.microsoft.com/office/drawing/2014/main" id="{86D72E33-3AD2-84DF-A61F-A8811A845DFE}"/>
              </a:ext>
            </a:extLst>
          </p:cNvPr>
          <p:cNvSpPr txBox="1"/>
          <p:nvPr/>
        </p:nvSpPr>
        <p:spPr>
          <a:xfrm>
            <a:off x="459351" y="1927027"/>
            <a:ext cx="5636650" cy="4801314"/>
          </a:xfrm>
          <a:prstGeom prst="rect">
            <a:avLst/>
          </a:prstGeom>
          <a:noFill/>
        </p:spPr>
        <p:txBody>
          <a:bodyPr wrap="square" rtlCol="0">
            <a:spAutoFit/>
          </a:bodyPr>
          <a:lstStyle/>
          <a:p>
            <a:r>
              <a:rPr lang="en-US" dirty="0"/>
              <a:t>What is the probability of throwing a die and obtaining a number that is odd and prime? </a:t>
            </a:r>
            <a:br>
              <a:rPr lang="en-US" dirty="0"/>
            </a:br>
            <a:r>
              <a:rPr lang="en-US" dirty="0"/>
              <a:t>Ans: 1/3  since 3 and 5 are the only odd and prime numbers in {1,2,3,4,5,6}. </a:t>
            </a:r>
          </a:p>
          <a:p>
            <a:endParaRPr lang="en-US" dirty="0"/>
          </a:p>
          <a:p>
            <a:r>
              <a:rPr lang="en-US" dirty="0"/>
              <a:t>Wrong argument:</a:t>
            </a:r>
          </a:p>
          <a:p>
            <a:r>
              <a:rPr lang="en-US" dirty="0"/>
              <a:t>P(odd) = ½       {1,3,5}</a:t>
            </a:r>
          </a:p>
          <a:p>
            <a:r>
              <a:rPr lang="en-US" dirty="0"/>
              <a:t>P(prime) = 2/6    {3,5}</a:t>
            </a:r>
          </a:p>
          <a:p>
            <a:r>
              <a:rPr lang="en-US" dirty="0"/>
              <a:t>So P(odd </a:t>
            </a:r>
            <a:r>
              <a:rPr lang="en-US" dirty="0">
                <a:sym typeface="Symbol" panose="05050102010706020507" pitchFamily="18" charset="2"/>
              </a:rPr>
              <a:t> prime) = P(odd)*P(prime) = ½ * 2/6 = 1/6 </a:t>
            </a:r>
          </a:p>
          <a:p>
            <a:endParaRPr lang="en-US" dirty="0">
              <a:sym typeface="Symbol" panose="05050102010706020507" pitchFamily="18" charset="2"/>
            </a:endParaRPr>
          </a:p>
          <a:p>
            <a:r>
              <a:rPr lang="en-US" dirty="0">
                <a:sym typeface="Symbol" panose="05050102010706020507" pitchFamily="18" charset="2"/>
              </a:rPr>
              <a:t>Correct argument:</a:t>
            </a:r>
          </a:p>
          <a:p>
            <a:r>
              <a:rPr lang="en-US" dirty="0">
                <a:sym typeface="Symbol" panose="05050102010706020507" pitchFamily="18" charset="2"/>
              </a:rPr>
              <a:t>P(odd) = ½   {1,3,5}</a:t>
            </a:r>
          </a:p>
          <a:p>
            <a:r>
              <a:rPr lang="en-US" dirty="0">
                <a:sym typeface="Symbol" panose="05050102010706020507" pitchFamily="18" charset="2"/>
              </a:rPr>
              <a:t>P(</a:t>
            </a:r>
            <a:r>
              <a:rPr lang="en-US" dirty="0" err="1">
                <a:sym typeface="Symbol" panose="05050102010706020507" pitchFamily="18" charset="2"/>
              </a:rPr>
              <a:t>prime|odd</a:t>
            </a:r>
            <a:r>
              <a:rPr lang="en-US" dirty="0">
                <a:sym typeface="Symbol" panose="05050102010706020507" pitchFamily="18" charset="2"/>
              </a:rPr>
              <a:t>) =  2/3</a:t>
            </a:r>
          </a:p>
          <a:p>
            <a:r>
              <a:rPr lang="en-US" dirty="0">
                <a:sym typeface="Symbol" panose="05050102010706020507" pitchFamily="18" charset="2"/>
              </a:rPr>
              <a:t>So P(odd  prime) = ½ * 2/3 = 1/3</a:t>
            </a:r>
          </a:p>
          <a:p>
            <a:endParaRPr lang="en-US" dirty="0">
              <a:sym typeface="Symbol" panose="05050102010706020507" pitchFamily="18" charset="2"/>
            </a:endParaRPr>
          </a:p>
          <a:p>
            <a:r>
              <a:rPr lang="en-US" dirty="0">
                <a:solidFill>
                  <a:srgbClr val="0070C0"/>
                </a:solidFill>
                <a:sym typeface="Symbol" panose="05050102010706020507" pitchFamily="18" charset="2"/>
              </a:rPr>
              <a:t>Point: you can multiply probabilities only if events or judgements are independent (P(A|B) = P(A))</a:t>
            </a:r>
            <a:endParaRPr lang="en-US" dirty="0">
              <a:solidFill>
                <a:srgbClr val="0070C0"/>
              </a:solidFill>
            </a:endParaRPr>
          </a:p>
        </p:txBody>
      </p:sp>
      <p:cxnSp>
        <p:nvCxnSpPr>
          <p:cNvPr id="17" name="Straight Connector 16">
            <a:extLst>
              <a:ext uri="{FF2B5EF4-FFF2-40B4-BE49-F238E27FC236}">
                <a16:creationId xmlns:a16="http://schemas.microsoft.com/office/drawing/2014/main" id="{3B49439A-53C5-17DC-B3AA-0747D136BF9B}"/>
              </a:ext>
            </a:extLst>
          </p:cNvPr>
          <p:cNvCxnSpPr/>
          <p:nvPr/>
        </p:nvCxnSpPr>
        <p:spPr>
          <a:xfrm>
            <a:off x="432550" y="3319272"/>
            <a:ext cx="5209298" cy="122263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39A80CC-7F4E-4E99-DFA9-68452A28BD99}"/>
              </a:ext>
            </a:extLst>
          </p:cNvPr>
          <p:cNvSpPr txBox="1"/>
          <p:nvPr/>
        </p:nvSpPr>
        <p:spPr>
          <a:xfrm>
            <a:off x="8626344" y="2898459"/>
            <a:ext cx="740908" cy="369332"/>
          </a:xfrm>
          <a:prstGeom prst="rect">
            <a:avLst/>
          </a:prstGeom>
          <a:noFill/>
        </p:spPr>
        <p:txBody>
          <a:bodyPr wrap="none" rtlCol="0">
            <a:spAutoFit/>
          </a:bodyPr>
          <a:lstStyle/>
          <a:p>
            <a:r>
              <a:rPr lang="en-US" dirty="0"/>
              <a:t>1  3  5</a:t>
            </a:r>
          </a:p>
        </p:txBody>
      </p:sp>
      <p:sp>
        <p:nvSpPr>
          <p:cNvPr id="19" name="TextBox 18">
            <a:extLst>
              <a:ext uri="{FF2B5EF4-FFF2-40B4-BE49-F238E27FC236}">
                <a16:creationId xmlns:a16="http://schemas.microsoft.com/office/drawing/2014/main" id="{AB8270BE-3214-4410-98EA-92C7DFEDAD65}"/>
              </a:ext>
            </a:extLst>
          </p:cNvPr>
          <p:cNvSpPr txBox="1"/>
          <p:nvPr/>
        </p:nvSpPr>
        <p:spPr>
          <a:xfrm>
            <a:off x="8539598" y="2222602"/>
            <a:ext cx="914400" cy="369332"/>
          </a:xfrm>
          <a:prstGeom prst="rect">
            <a:avLst/>
          </a:prstGeom>
          <a:noFill/>
        </p:spPr>
        <p:txBody>
          <a:bodyPr wrap="square" rtlCol="0">
            <a:spAutoFit/>
          </a:bodyPr>
          <a:lstStyle/>
          <a:p>
            <a:r>
              <a:rPr lang="en-US" dirty="0"/>
              <a:t>2  4  6</a:t>
            </a:r>
          </a:p>
        </p:txBody>
      </p:sp>
    </p:spTree>
    <p:extLst>
      <p:ext uri="{BB962C8B-B14F-4D97-AF65-F5344CB8AC3E}">
        <p14:creationId xmlns:p14="http://schemas.microsoft.com/office/powerpoint/2010/main" val="3636068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BC4EA3-DF42-619F-BA2F-D64E4ADB078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68173F-7532-9B63-BE58-70BF7CA8D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B52070-705B-0FC5-FDD2-96BC597BC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5BACC8E-6E35-C128-ABF2-ED65A3409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CED31E6-AF64-6B98-D465-7015C957B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C40CDE-6E1A-D96F-3B10-C4E93E046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4F157-0A87-F49E-8509-B6E3E948167A}"/>
              </a:ext>
            </a:extLst>
          </p:cNvPr>
          <p:cNvSpPr>
            <a:spLocks noGrp="1"/>
          </p:cNvSpPr>
          <p:nvPr>
            <p:ph type="title"/>
          </p:nvPr>
        </p:nvSpPr>
        <p:spPr>
          <a:xfrm>
            <a:off x="257698" y="182746"/>
            <a:ext cx="9895951" cy="1033669"/>
          </a:xfrm>
        </p:spPr>
        <p:txBody>
          <a:bodyPr>
            <a:normAutofit/>
          </a:bodyPr>
          <a:lstStyle/>
          <a:p>
            <a:r>
              <a:rPr lang="en-US" sz="4000" dirty="0">
                <a:solidFill>
                  <a:schemeClr val="bg1"/>
                </a:solidFill>
              </a:rPr>
              <a:t>Misleading example from Wikipedia</a:t>
            </a:r>
            <a:endParaRPr lang="en-US" sz="4000" dirty="0">
              <a:solidFill>
                <a:srgbClr val="FFFFFF"/>
              </a:solidFill>
            </a:endParaRPr>
          </a:p>
        </p:txBody>
      </p:sp>
      <p:pic>
        <p:nvPicPr>
          <p:cNvPr id="11" name="Picture 10" descr="A screenshot of a math test&#10;&#10;AI-generated content may be incorrect.">
            <a:extLst>
              <a:ext uri="{FF2B5EF4-FFF2-40B4-BE49-F238E27FC236}">
                <a16:creationId xmlns:a16="http://schemas.microsoft.com/office/drawing/2014/main" id="{11007E9D-E9B7-A4C0-EC1B-5AFD3C742AA9}"/>
              </a:ext>
            </a:extLst>
          </p:cNvPr>
          <p:cNvPicPr>
            <a:picLocks noChangeAspect="1"/>
          </p:cNvPicPr>
          <p:nvPr/>
        </p:nvPicPr>
        <p:blipFill>
          <a:blip r:embed="rId2"/>
          <a:stretch>
            <a:fillRect/>
          </a:stretch>
        </p:blipFill>
        <p:spPr>
          <a:xfrm>
            <a:off x="1002792" y="1626978"/>
            <a:ext cx="3450771" cy="5176157"/>
          </a:xfrm>
          <a:prstGeom prst="rect">
            <a:avLst/>
          </a:prstGeom>
        </p:spPr>
      </p:pic>
      <p:sp>
        <p:nvSpPr>
          <p:cNvPr id="12" name="TextBox 11">
            <a:extLst>
              <a:ext uri="{FF2B5EF4-FFF2-40B4-BE49-F238E27FC236}">
                <a16:creationId xmlns:a16="http://schemas.microsoft.com/office/drawing/2014/main" id="{1B6E419E-0E31-7DB5-C451-C62BCB16EF99}"/>
              </a:ext>
            </a:extLst>
          </p:cNvPr>
          <p:cNvSpPr txBox="1"/>
          <p:nvPr/>
        </p:nvSpPr>
        <p:spPr>
          <a:xfrm>
            <a:off x="5166360" y="4434840"/>
            <a:ext cx="867545" cy="369332"/>
          </a:xfrm>
          <a:prstGeom prst="rect">
            <a:avLst/>
          </a:prstGeom>
          <a:noFill/>
        </p:spPr>
        <p:txBody>
          <a:bodyPr wrap="none" rtlCol="0">
            <a:spAutoFit/>
          </a:bodyPr>
          <a:lstStyle/>
          <a:p>
            <a:r>
              <a:rPr lang="en-US" dirty="0">
                <a:solidFill>
                  <a:srgbClr val="FF0000"/>
                </a:solidFill>
              </a:rPr>
              <a:t>P(A</a:t>
            </a:r>
            <a:r>
              <a:rPr lang="en-US" dirty="0">
                <a:solidFill>
                  <a:srgbClr val="FF0000"/>
                </a:solidFill>
                <a:sym typeface="Symbol" panose="05050102010706020507" pitchFamily="18" charset="2"/>
              </a:rPr>
              <a:t>B)</a:t>
            </a:r>
            <a:endParaRPr lang="en-US" dirty="0">
              <a:solidFill>
                <a:srgbClr val="FF0000"/>
              </a:solidFill>
            </a:endParaRPr>
          </a:p>
        </p:txBody>
      </p:sp>
      <p:cxnSp>
        <p:nvCxnSpPr>
          <p:cNvPr id="15" name="Straight Arrow Connector 14">
            <a:extLst>
              <a:ext uri="{FF2B5EF4-FFF2-40B4-BE49-F238E27FC236}">
                <a16:creationId xmlns:a16="http://schemas.microsoft.com/office/drawing/2014/main" id="{49D535BC-E395-237E-EB48-6E4A593F9590}"/>
              </a:ext>
            </a:extLst>
          </p:cNvPr>
          <p:cNvCxnSpPr>
            <a:cxnSpLocks/>
          </p:cNvCxnSpPr>
          <p:nvPr/>
        </p:nvCxnSpPr>
        <p:spPr>
          <a:xfrm flipH="1" flipV="1">
            <a:off x="4416987" y="4233345"/>
            <a:ext cx="703653" cy="2106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6D29742-A59C-266E-38BA-C1731177515B}"/>
              </a:ext>
            </a:extLst>
          </p:cNvPr>
          <p:cNvCxnSpPr/>
          <p:nvPr/>
        </p:nvCxnSpPr>
        <p:spPr>
          <a:xfrm flipH="1">
            <a:off x="4608576" y="4804172"/>
            <a:ext cx="557784" cy="499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025863CA-82C2-BCA2-FD52-193C843B700D}"/>
              </a:ext>
            </a:extLst>
          </p:cNvPr>
          <p:cNvSpPr/>
          <p:nvPr/>
        </p:nvSpPr>
        <p:spPr>
          <a:xfrm>
            <a:off x="7233480" y="2297826"/>
            <a:ext cx="3357351" cy="1582802"/>
          </a:xfrm>
          <a:prstGeom prst="rect">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226CDD5-0FBE-2E5E-30D1-ADA127ECAA62}"/>
              </a:ext>
            </a:extLst>
          </p:cNvPr>
          <p:cNvSpPr/>
          <p:nvPr/>
        </p:nvSpPr>
        <p:spPr>
          <a:xfrm>
            <a:off x="7527703" y="2625651"/>
            <a:ext cx="1727973" cy="80859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7047B8D-1B1C-6499-3B9E-F82849E9E473}"/>
              </a:ext>
            </a:extLst>
          </p:cNvPr>
          <p:cNvSpPr/>
          <p:nvPr/>
        </p:nvSpPr>
        <p:spPr>
          <a:xfrm>
            <a:off x="8457780" y="2625651"/>
            <a:ext cx="1387097" cy="94529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1738C86-7D35-AE62-EF40-007B8BC114F1}"/>
              </a:ext>
            </a:extLst>
          </p:cNvPr>
          <p:cNvSpPr txBox="1"/>
          <p:nvPr/>
        </p:nvSpPr>
        <p:spPr>
          <a:xfrm>
            <a:off x="7615749" y="2797173"/>
            <a:ext cx="335498" cy="400110"/>
          </a:xfrm>
          <a:prstGeom prst="rect">
            <a:avLst/>
          </a:prstGeom>
          <a:noFill/>
        </p:spPr>
        <p:txBody>
          <a:bodyPr wrap="square" rtlCol="0">
            <a:spAutoFit/>
          </a:bodyPr>
          <a:lstStyle/>
          <a:p>
            <a:r>
              <a:rPr lang="en-US" sz="2000" dirty="0"/>
              <a:t>A</a:t>
            </a:r>
          </a:p>
        </p:txBody>
      </p:sp>
      <p:sp>
        <p:nvSpPr>
          <p:cNvPr id="23" name="TextBox 22">
            <a:extLst>
              <a:ext uri="{FF2B5EF4-FFF2-40B4-BE49-F238E27FC236}">
                <a16:creationId xmlns:a16="http://schemas.microsoft.com/office/drawing/2014/main" id="{561F7896-EEAB-7989-265D-512254AE0A66}"/>
              </a:ext>
            </a:extLst>
          </p:cNvPr>
          <p:cNvSpPr txBox="1"/>
          <p:nvPr/>
        </p:nvSpPr>
        <p:spPr>
          <a:xfrm>
            <a:off x="9481696" y="2744931"/>
            <a:ext cx="340311" cy="400110"/>
          </a:xfrm>
          <a:prstGeom prst="rect">
            <a:avLst/>
          </a:prstGeom>
          <a:noFill/>
        </p:spPr>
        <p:txBody>
          <a:bodyPr wrap="square" rtlCol="0">
            <a:spAutoFit/>
          </a:bodyPr>
          <a:lstStyle/>
          <a:p>
            <a:r>
              <a:rPr lang="en-US" sz="2000" dirty="0"/>
              <a:t>B</a:t>
            </a:r>
          </a:p>
        </p:txBody>
      </p:sp>
      <p:sp>
        <p:nvSpPr>
          <p:cNvPr id="24" name="TextBox 23">
            <a:extLst>
              <a:ext uri="{FF2B5EF4-FFF2-40B4-BE49-F238E27FC236}">
                <a16:creationId xmlns:a16="http://schemas.microsoft.com/office/drawing/2014/main" id="{C1A22C1F-C7BC-032E-FDDA-C93A6E40B605}"/>
              </a:ext>
            </a:extLst>
          </p:cNvPr>
          <p:cNvSpPr txBox="1"/>
          <p:nvPr/>
        </p:nvSpPr>
        <p:spPr>
          <a:xfrm>
            <a:off x="8558027" y="2744931"/>
            <a:ext cx="600113" cy="369332"/>
          </a:xfrm>
          <a:prstGeom prst="rect">
            <a:avLst/>
          </a:prstGeom>
          <a:noFill/>
        </p:spPr>
        <p:txBody>
          <a:bodyPr wrap="square" rtlCol="0">
            <a:spAutoFit/>
          </a:bodyPr>
          <a:lstStyle/>
          <a:p>
            <a:r>
              <a:rPr lang="en-US" dirty="0"/>
              <a:t>A</a:t>
            </a:r>
            <a:r>
              <a:rPr lang="en-US" dirty="0">
                <a:sym typeface="Symbol" panose="05050102010706020507" pitchFamily="18" charset="2"/>
              </a:rPr>
              <a:t></a:t>
            </a:r>
            <a:r>
              <a:rPr lang="en-US" dirty="0"/>
              <a:t>B</a:t>
            </a:r>
          </a:p>
        </p:txBody>
      </p:sp>
      <p:sp>
        <p:nvSpPr>
          <p:cNvPr id="25" name="TextBox 24">
            <a:extLst>
              <a:ext uri="{FF2B5EF4-FFF2-40B4-BE49-F238E27FC236}">
                <a16:creationId xmlns:a16="http://schemas.microsoft.com/office/drawing/2014/main" id="{38374315-9239-DA3C-2F48-DD7359627DEC}"/>
              </a:ext>
            </a:extLst>
          </p:cNvPr>
          <p:cNvSpPr txBox="1"/>
          <p:nvPr/>
        </p:nvSpPr>
        <p:spPr>
          <a:xfrm>
            <a:off x="7937749" y="3029947"/>
            <a:ext cx="308098" cy="369332"/>
          </a:xfrm>
          <a:prstGeom prst="rect">
            <a:avLst/>
          </a:prstGeom>
          <a:noFill/>
        </p:spPr>
        <p:txBody>
          <a:bodyPr wrap="none" rtlCol="0">
            <a:spAutoFit/>
          </a:bodyPr>
          <a:lstStyle/>
          <a:p>
            <a:r>
              <a:rPr lang="en-US" dirty="0"/>
              <a:t>3</a:t>
            </a:r>
          </a:p>
        </p:txBody>
      </p:sp>
      <p:sp>
        <p:nvSpPr>
          <p:cNvPr id="26" name="TextBox 25">
            <a:extLst>
              <a:ext uri="{FF2B5EF4-FFF2-40B4-BE49-F238E27FC236}">
                <a16:creationId xmlns:a16="http://schemas.microsoft.com/office/drawing/2014/main" id="{44DD1EAF-AD67-AEE8-861C-9CE131A87E70}"/>
              </a:ext>
            </a:extLst>
          </p:cNvPr>
          <p:cNvSpPr txBox="1"/>
          <p:nvPr/>
        </p:nvSpPr>
        <p:spPr>
          <a:xfrm>
            <a:off x="8604057" y="3029947"/>
            <a:ext cx="308098" cy="369332"/>
          </a:xfrm>
          <a:prstGeom prst="rect">
            <a:avLst/>
          </a:prstGeom>
          <a:noFill/>
        </p:spPr>
        <p:txBody>
          <a:bodyPr wrap="none" rtlCol="0">
            <a:spAutoFit/>
          </a:bodyPr>
          <a:lstStyle/>
          <a:p>
            <a:r>
              <a:rPr lang="en-US" dirty="0"/>
              <a:t>2</a:t>
            </a:r>
          </a:p>
        </p:txBody>
      </p:sp>
      <p:sp>
        <p:nvSpPr>
          <p:cNvPr id="27" name="TextBox 26">
            <a:extLst>
              <a:ext uri="{FF2B5EF4-FFF2-40B4-BE49-F238E27FC236}">
                <a16:creationId xmlns:a16="http://schemas.microsoft.com/office/drawing/2014/main" id="{C7B9BAAE-0A3E-0488-7CD7-B73E975AAC32}"/>
              </a:ext>
            </a:extLst>
          </p:cNvPr>
          <p:cNvSpPr txBox="1"/>
          <p:nvPr/>
        </p:nvSpPr>
        <p:spPr>
          <a:xfrm>
            <a:off x="9242178" y="3027161"/>
            <a:ext cx="308098" cy="369332"/>
          </a:xfrm>
          <a:prstGeom prst="rect">
            <a:avLst/>
          </a:prstGeom>
          <a:noFill/>
        </p:spPr>
        <p:txBody>
          <a:bodyPr wrap="none" rtlCol="0">
            <a:spAutoFit/>
          </a:bodyPr>
          <a:lstStyle/>
          <a:p>
            <a:r>
              <a:rPr lang="en-US" dirty="0"/>
              <a:t>6</a:t>
            </a:r>
          </a:p>
        </p:txBody>
      </p:sp>
      <p:sp>
        <p:nvSpPr>
          <p:cNvPr id="28" name="TextBox 27">
            <a:extLst>
              <a:ext uri="{FF2B5EF4-FFF2-40B4-BE49-F238E27FC236}">
                <a16:creationId xmlns:a16="http://schemas.microsoft.com/office/drawing/2014/main" id="{7A50D42A-2620-952F-5243-14C274169C55}"/>
              </a:ext>
            </a:extLst>
          </p:cNvPr>
          <p:cNvSpPr txBox="1"/>
          <p:nvPr/>
        </p:nvSpPr>
        <p:spPr>
          <a:xfrm>
            <a:off x="10012950" y="3017136"/>
            <a:ext cx="308098" cy="369332"/>
          </a:xfrm>
          <a:prstGeom prst="rect">
            <a:avLst/>
          </a:prstGeom>
          <a:noFill/>
        </p:spPr>
        <p:txBody>
          <a:bodyPr wrap="none" rtlCol="0">
            <a:spAutoFit/>
          </a:bodyPr>
          <a:lstStyle/>
          <a:p>
            <a:r>
              <a:rPr lang="en-US" dirty="0"/>
              <a:t>9</a:t>
            </a:r>
          </a:p>
        </p:txBody>
      </p:sp>
      <p:sp>
        <p:nvSpPr>
          <p:cNvPr id="29" name="TextBox 28">
            <a:extLst>
              <a:ext uri="{FF2B5EF4-FFF2-40B4-BE49-F238E27FC236}">
                <a16:creationId xmlns:a16="http://schemas.microsoft.com/office/drawing/2014/main" id="{F6278C1F-75E8-2818-4F98-6C2A8519AD36}"/>
              </a:ext>
            </a:extLst>
          </p:cNvPr>
          <p:cNvSpPr txBox="1"/>
          <p:nvPr/>
        </p:nvSpPr>
        <p:spPr>
          <a:xfrm>
            <a:off x="6997714" y="4338664"/>
            <a:ext cx="4967963" cy="923330"/>
          </a:xfrm>
          <a:prstGeom prst="rect">
            <a:avLst/>
          </a:prstGeom>
          <a:noFill/>
        </p:spPr>
        <p:txBody>
          <a:bodyPr wrap="none" rtlCol="0">
            <a:spAutoFit/>
          </a:bodyPr>
          <a:lstStyle/>
          <a:p>
            <a:r>
              <a:rPr lang="en-US" dirty="0"/>
              <a:t>This example is misleading because in this case,</a:t>
            </a:r>
          </a:p>
          <a:p>
            <a:r>
              <a:rPr lang="en-US" dirty="0"/>
              <a:t>P(A</a:t>
            </a:r>
            <a:r>
              <a:rPr lang="en-US" dirty="0">
                <a:sym typeface="Symbol" panose="05050102010706020507" pitchFamily="18" charset="2"/>
              </a:rPr>
              <a:t>B) = P(A)*P(B) !</a:t>
            </a:r>
          </a:p>
          <a:p>
            <a:r>
              <a:rPr lang="en-US" dirty="0">
                <a:sym typeface="Symbol" panose="05050102010706020507" pitchFamily="18" charset="2"/>
              </a:rPr>
              <a:t>Exercise: change values so this is not true</a:t>
            </a:r>
            <a:endParaRPr lang="en-US" dirty="0"/>
          </a:p>
        </p:txBody>
      </p:sp>
    </p:spTree>
    <p:extLst>
      <p:ext uri="{BB962C8B-B14F-4D97-AF65-F5344CB8AC3E}">
        <p14:creationId xmlns:p14="http://schemas.microsoft.com/office/powerpoint/2010/main" val="35118216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528316-2282-6E11-8E44-C1E25DDD63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42B4B14-7E06-EC44-4036-87B38D561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98CC500-BAEB-6915-9806-F472024B3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E24019F-29D5-5297-05C9-DA28FFB68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91182AE-33F5-8EF0-EFCE-B395585AE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5962F4-B542-F15B-5254-E91A1B40C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599F2-857A-2358-45AE-B501A22DC820}"/>
              </a:ext>
            </a:extLst>
          </p:cNvPr>
          <p:cNvSpPr>
            <a:spLocks noGrp="1"/>
          </p:cNvSpPr>
          <p:nvPr>
            <p:ph type="title"/>
          </p:nvPr>
        </p:nvSpPr>
        <p:spPr>
          <a:xfrm>
            <a:off x="432550" y="229865"/>
            <a:ext cx="9895951" cy="1033669"/>
          </a:xfrm>
        </p:spPr>
        <p:txBody>
          <a:bodyPr>
            <a:normAutofit/>
          </a:bodyPr>
          <a:lstStyle/>
          <a:p>
            <a:r>
              <a:rPr lang="en-US" sz="4000" dirty="0">
                <a:solidFill>
                  <a:schemeClr val="bg1"/>
                </a:solidFill>
              </a:rPr>
              <a:t>Bayes’ Rule: multiple independent events</a:t>
            </a:r>
          </a:p>
        </p:txBody>
      </p:sp>
      <p:pic>
        <p:nvPicPr>
          <p:cNvPr id="104" name="Picture 103" descr="\documentclass{article}&#10;\usepackage{amsmath}&#10;\pagestyle{empty}&#10;\begin{document}&#10;\noindent&#10;Two independent events $o_\alpha$ and $o_\beta$.&#10;\begin{align*}&#10;P(M_i|o_\alpha\land o_\beta) &amp;= \frac{P(M_i\land o_\alpha \land o_\beta)}{P(o_\alpha\land o_\beta)} \text{\ (Bayes' rule)}\\&#10;&amp;= \frac{P(M_i)P(o_\alpha|M_i)P(o_\beta|M_i\land o_\alpha)}{P(o_\alpha)P(o_\beta|o_\alpha)} \text{\ Chain rule)}\\&#10;&amp;= \frac{P(M_i)P(o_\alpha|M_i)P(o_\beta|M_i)}{P(o_\alpha)P(o_\beta)} \text{\ \ (because $o_\alpha$ and $o_\beta$ are independent)}&#10;\end{align*}&#10;&#10;\end{document}" title="IguanaTex Bitmap Display">
            <a:extLst>
              <a:ext uri="{FF2B5EF4-FFF2-40B4-BE49-F238E27FC236}">
                <a16:creationId xmlns:a16="http://schemas.microsoft.com/office/drawing/2014/main" id="{BB71C33D-20E0-9924-708F-870C2328B888}"/>
              </a:ext>
            </a:extLst>
          </p:cNvPr>
          <p:cNvPicPr>
            <a:picLocks noChangeAspect="1"/>
          </p:cNvPicPr>
          <p:nvPr>
            <p:custDataLst>
              <p:tags r:id="rId1"/>
            </p:custDataLst>
          </p:nvPr>
        </p:nvPicPr>
        <p:blipFill>
          <a:blip r:embed="rId5"/>
          <a:stretch>
            <a:fillRect/>
          </a:stretch>
        </p:blipFill>
        <p:spPr>
          <a:xfrm>
            <a:off x="5122154" y="2034479"/>
            <a:ext cx="7005950" cy="1970569"/>
          </a:xfrm>
          <a:prstGeom prst="rect">
            <a:avLst/>
          </a:prstGeom>
        </p:spPr>
      </p:pic>
      <p:pic>
        <p:nvPicPr>
          <p:cNvPr id="4" name="Picture 3" descr="\documentclass{article}&#10;\usepackage{amsmath}&#10;\pagestyle{empty}&#10;\begin{document}&#10;\noindent&#10;In general, $O = \{o_\alpha,o_\beta,...\}$ is set of independent events and $\sum_{i}P(M_i) = 1$&#10;\begin{align*}&#10;P(M_i|O) &amp;= \frac{P(O|M_i)P(M_i)}{P(O)} \\&#10;\text{where\ }  P(O|M_i) &amp;= \prod_{o_\kappa \in O}P(o_\kappa|M_i)&#10;\text{\ and\ } P(O) = \prod_{o_\kappa \in O}P(o_\kappa)&#10;\end{align*}&#10;\end{document}" title="IguanaTex Bitmap Display">
            <a:extLst>
              <a:ext uri="{FF2B5EF4-FFF2-40B4-BE49-F238E27FC236}">
                <a16:creationId xmlns:a16="http://schemas.microsoft.com/office/drawing/2014/main" id="{1A3B071D-B77B-C18B-20A6-92B893250C9B}"/>
              </a:ext>
            </a:extLst>
          </p:cNvPr>
          <p:cNvPicPr>
            <a:picLocks noChangeAspect="1"/>
          </p:cNvPicPr>
          <p:nvPr>
            <p:custDataLst>
              <p:tags r:id="rId2"/>
            </p:custDataLst>
          </p:nvPr>
        </p:nvPicPr>
        <p:blipFill>
          <a:blip r:embed="rId6"/>
          <a:stretch>
            <a:fillRect/>
          </a:stretch>
        </p:blipFill>
        <p:spPr>
          <a:xfrm>
            <a:off x="5144000" y="4711503"/>
            <a:ext cx="6881819" cy="1527605"/>
          </a:xfrm>
          <a:prstGeom prst="rect">
            <a:avLst/>
          </a:prstGeom>
        </p:spPr>
      </p:pic>
      <p:pic>
        <p:nvPicPr>
          <p:cNvPr id="92" name="Picture 91" descr="\documentclass{article}&#10;\usepackage{amsmath}&#10;\pagestyle{empty}&#10;\begin{document}&#10;&#10;$\sum_{i{=}1}^{n}P(M_i){=}1$&#10;\end{document}" title="IguanaTex Bitmap Display">
            <a:extLst>
              <a:ext uri="{FF2B5EF4-FFF2-40B4-BE49-F238E27FC236}">
                <a16:creationId xmlns:a16="http://schemas.microsoft.com/office/drawing/2014/main" id="{C8DE4B78-DC17-5F18-98F1-8F6CCA2095E0}"/>
              </a:ext>
            </a:extLst>
          </p:cNvPr>
          <p:cNvPicPr>
            <a:picLocks noChangeAspect="1"/>
          </p:cNvPicPr>
          <p:nvPr>
            <p:custDataLst>
              <p:tags r:id="rId3"/>
            </p:custDataLst>
          </p:nvPr>
        </p:nvPicPr>
        <p:blipFill>
          <a:blip r:embed="rId7"/>
          <a:stretch>
            <a:fillRect/>
          </a:stretch>
        </p:blipFill>
        <p:spPr>
          <a:xfrm>
            <a:off x="1769985" y="5465328"/>
            <a:ext cx="1274002" cy="260273"/>
          </a:xfrm>
          <a:prstGeom prst="rect">
            <a:avLst/>
          </a:prstGeom>
        </p:spPr>
      </p:pic>
      <p:graphicFrame>
        <p:nvGraphicFramePr>
          <p:cNvPr id="17" name="Table 16">
            <a:extLst>
              <a:ext uri="{FF2B5EF4-FFF2-40B4-BE49-F238E27FC236}">
                <a16:creationId xmlns:a16="http://schemas.microsoft.com/office/drawing/2014/main" id="{7348F799-2B5D-82FA-A0E1-00F7EF143FD8}"/>
              </a:ext>
            </a:extLst>
          </p:cNvPr>
          <p:cNvGraphicFramePr>
            <a:graphicFrameLocks noGrp="1"/>
          </p:cNvGraphicFramePr>
          <p:nvPr>
            <p:extLst>
              <p:ext uri="{D42A27DB-BD31-4B8C-83A1-F6EECF244321}">
                <p14:modId xmlns:p14="http://schemas.microsoft.com/office/powerpoint/2010/main" val="3989028158"/>
              </p:ext>
            </p:extLst>
          </p:nvPr>
        </p:nvGraphicFramePr>
        <p:xfrm>
          <a:off x="931876" y="3340372"/>
          <a:ext cx="3094180" cy="1800160"/>
        </p:xfrm>
        <a:graphic>
          <a:graphicData uri="http://schemas.openxmlformats.org/drawingml/2006/table">
            <a:tbl>
              <a:tblPr>
                <a:tableStyleId>{2D5ABB26-0587-4C30-8999-92F81FD0307C}</a:tableStyleId>
              </a:tblPr>
              <a:tblGrid>
                <a:gridCol w="773545">
                  <a:extLst>
                    <a:ext uri="{9D8B030D-6E8A-4147-A177-3AD203B41FA5}">
                      <a16:colId xmlns:a16="http://schemas.microsoft.com/office/drawing/2014/main" val="4150550218"/>
                    </a:ext>
                  </a:extLst>
                </a:gridCol>
                <a:gridCol w="773545">
                  <a:extLst>
                    <a:ext uri="{9D8B030D-6E8A-4147-A177-3AD203B41FA5}">
                      <a16:colId xmlns:a16="http://schemas.microsoft.com/office/drawing/2014/main" val="3721284479"/>
                    </a:ext>
                  </a:extLst>
                </a:gridCol>
                <a:gridCol w="773545">
                  <a:extLst>
                    <a:ext uri="{9D8B030D-6E8A-4147-A177-3AD203B41FA5}">
                      <a16:colId xmlns:a16="http://schemas.microsoft.com/office/drawing/2014/main" val="1992801028"/>
                    </a:ext>
                  </a:extLst>
                </a:gridCol>
                <a:gridCol w="773545">
                  <a:extLst>
                    <a:ext uri="{9D8B030D-6E8A-4147-A177-3AD203B41FA5}">
                      <a16:colId xmlns:a16="http://schemas.microsoft.com/office/drawing/2014/main" val="3595503812"/>
                    </a:ext>
                  </a:extLst>
                </a:gridCol>
              </a:tblGrid>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4188907"/>
                  </a:ext>
                </a:extLst>
              </a:tr>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948390"/>
                  </a:ext>
                </a:extLst>
              </a:tr>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796996"/>
                  </a:ext>
                </a:extLst>
              </a:tr>
              <a:tr h="450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8384053"/>
                  </a:ext>
                </a:extLst>
              </a:tr>
            </a:tbl>
          </a:graphicData>
        </a:graphic>
      </p:graphicFrame>
      <p:sp>
        <p:nvSpPr>
          <p:cNvPr id="23" name="TextBox 22">
            <a:extLst>
              <a:ext uri="{FF2B5EF4-FFF2-40B4-BE49-F238E27FC236}">
                <a16:creationId xmlns:a16="http://schemas.microsoft.com/office/drawing/2014/main" id="{CC4219C4-6A2B-D1DD-7FF8-5B83E9E5CA32}"/>
              </a:ext>
            </a:extLst>
          </p:cNvPr>
          <p:cNvSpPr txBox="1"/>
          <p:nvPr/>
        </p:nvSpPr>
        <p:spPr>
          <a:xfrm>
            <a:off x="387554" y="3372339"/>
            <a:ext cx="478016" cy="400110"/>
          </a:xfrm>
          <a:prstGeom prst="rect">
            <a:avLst/>
          </a:prstGeom>
          <a:noFill/>
        </p:spPr>
        <p:txBody>
          <a:bodyPr wrap="none" rtlCol="0">
            <a:spAutoFit/>
          </a:bodyPr>
          <a:lstStyle/>
          <a:p>
            <a:r>
              <a:rPr lang="en-US" sz="2000" i="1" dirty="0"/>
              <a:t>M</a:t>
            </a:r>
            <a:r>
              <a:rPr lang="en-US" sz="2000" i="1" baseline="-25000" dirty="0"/>
              <a:t>1</a:t>
            </a:r>
          </a:p>
        </p:txBody>
      </p:sp>
      <p:sp>
        <p:nvSpPr>
          <p:cNvPr id="24" name="TextBox 23">
            <a:extLst>
              <a:ext uri="{FF2B5EF4-FFF2-40B4-BE49-F238E27FC236}">
                <a16:creationId xmlns:a16="http://schemas.microsoft.com/office/drawing/2014/main" id="{A11EAAD9-1691-7803-43BF-EF7CCC03DDA8}"/>
              </a:ext>
            </a:extLst>
          </p:cNvPr>
          <p:cNvSpPr txBox="1"/>
          <p:nvPr/>
        </p:nvSpPr>
        <p:spPr>
          <a:xfrm>
            <a:off x="409126" y="3829797"/>
            <a:ext cx="478016" cy="400110"/>
          </a:xfrm>
          <a:prstGeom prst="rect">
            <a:avLst/>
          </a:prstGeom>
          <a:noFill/>
        </p:spPr>
        <p:txBody>
          <a:bodyPr wrap="none" rtlCol="0">
            <a:spAutoFit/>
          </a:bodyPr>
          <a:lstStyle/>
          <a:p>
            <a:r>
              <a:rPr lang="en-US" sz="2000" i="1" dirty="0"/>
              <a:t>M</a:t>
            </a:r>
            <a:r>
              <a:rPr lang="en-US" sz="2000" i="1" baseline="-25000" dirty="0"/>
              <a:t>2</a:t>
            </a:r>
          </a:p>
        </p:txBody>
      </p:sp>
      <p:sp>
        <p:nvSpPr>
          <p:cNvPr id="25" name="TextBox 24">
            <a:extLst>
              <a:ext uri="{FF2B5EF4-FFF2-40B4-BE49-F238E27FC236}">
                <a16:creationId xmlns:a16="http://schemas.microsoft.com/office/drawing/2014/main" id="{72D7CCE1-46B7-BC28-4DF0-90787983416B}"/>
              </a:ext>
            </a:extLst>
          </p:cNvPr>
          <p:cNvSpPr txBox="1"/>
          <p:nvPr/>
        </p:nvSpPr>
        <p:spPr>
          <a:xfrm>
            <a:off x="461515" y="4240452"/>
            <a:ext cx="405880" cy="400110"/>
          </a:xfrm>
          <a:prstGeom prst="rect">
            <a:avLst/>
          </a:prstGeom>
          <a:noFill/>
        </p:spPr>
        <p:txBody>
          <a:bodyPr wrap="none" rtlCol="0">
            <a:spAutoFit/>
          </a:bodyPr>
          <a:lstStyle/>
          <a:p>
            <a:r>
              <a:rPr lang="en-US" sz="2000" dirty="0"/>
              <a:t>…</a:t>
            </a:r>
          </a:p>
        </p:txBody>
      </p:sp>
      <p:sp>
        <p:nvSpPr>
          <p:cNvPr id="26" name="TextBox 25">
            <a:extLst>
              <a:ext uri="{FF2B5EF4-FFF2-40B4-BE49-F238E27FC236}">
                <a16:creationId xmlns:a16="http://schemas.microsoft.com/office/drawing/2014/main" id="{E116CCB8-6013-2836-AFF0-35CD6FBB12F3}"/>
              </a:ext>
            </a:extLst>
          </p:cNvPr>
          <p:cNvSpPr txBox="1"/>
          <p:nvPr/>
        </p:nvSpPr>
        <p:spPr>
          <a:xfrm>
            <a:off x="408583" y="4738380"/>
            <a:ext cx="481222" cy="400110"/>
          </a:xfrm>
          <a:prstGeom prst="rect">
            <a:avLst/>
          </a:prstGeom>
          <a:noFill/>
        </p:spPr>
        <p:txBody>
          <a:bodyPr wrap="none" rtlCol="0">
            <a:spAutoFit/>
          </a:bodyPr>
          <a:lstStyle/>
          <a:p>
            <a:r>
              <a:rPr lang="en-US" sz="2000" i="1" dirty="0"/>
              <a:t>M</a:t>
            </a:r>
            <a:r>
              <a:rPr lang="en-US" sz="2000" i="1" baseline="-25000" dirty="0"/>
              <a:t>n</a:t>
            </a:r>
          </a:p>
        </p:txBody>
      </p:sp>
      <p:sp>
        <p:nvSpPr>
          <p:cNvPr id="29" name="TextBox 28">
            <a:extLst>
              <a:ext uri="{FF2B5EF4-FFF2-40B4-BE49-F238E27FC236}">
                <a16:creationId xmlns:a16="http://schemas.microsoft.com/office/drawing/2014/main" id="{8A9558E4-25DA-400B-9F6B-82DB7121356B}"/>
              </a:ext>
            </a:extLst>
          </p:cNvPr>
          <p:cNvSpPr txBox="1"/>
          <p:nvPr/>
        </p:nvSpPr>
        <p:spPr>
          <a:xfrm>
            <a:off x="1105464" y="2994531"/>
            <a:ext cx="434734" cy="369332"/>
          </a:xfrm>
          <a:prstGeom prst="rect">
            <a:avLst/>
          </a:prstGeom>
          <a:noFill/>
        </p:spPr>
        <p:txBody>
          <a:bodyPr wrap="none" rtlCol="0">
            <a:spAutoFit/>
          </a:bodyPr>
          <a:lstStyle/>
          <a:p>
            <a:r>
              <a:rPr lang="en-US" dirty="0"/>
              <a:t>o1</a:t>
            </a:r>
          </a:p>
        </p:txBody>
      </p:sp>
      <p:sp>
        <p:nvSpPr>
          <p:cNvPr id="31" name="TextBox 30">
            <a:extLst>
              <a:ext uri="{FF2B5EF4-FFF2-40B4-BE49-F238E27FC236}">
                <a16:creationId xmlns:a16="http://schemas.microsoft.com/office/drawing/2014/main" id="{F9C19E6B-31AD-4B29-D5CF-2EBFE62398DA}"/>
              </a:ext>
            </a:extLst>
          </p:cNvPr>
          <p:cNvSpPr txBox="1"/>
          <p:nvPr/>
        </p:nvSpPr>
        <p:spPr>
          <a:xfrm>
            <a:off x="1819850" y="2981880"/>
            <a:ext cx="434734" cy="369332"/>
          </a:xfrm>
          <a:prstGeom prst="rect">
            <a:avLst/>
          </a:prstGeom>
          <a:noFill/>
        </p:spPr>
        <p:txBody>
          <a:bodyPr wrap="none" rtlCol="0">
            <a:spAutoFit/>
          </a:bodyPr>
          <a:lstStyle/>
          <a:p>
            <a:pPr algn="l"/>
            <a:r>
              <a:rPr lang="en-US" dirty="0"/>
              <a:t>o2</a:t>
            </a:r>
          </a:p>
        </p:txBody>
      </p:sp>
      <p:sp>
        <p:nvSpPr>
          <p:cNvPr id="35" name="TextBox 34">
            <a:extLst>
              <a:ext uri="{FF2B5EF4-FFF2-40B4-BE49-F238E27FC236}">
                <a16:creationId xmlns:a16="http://schemas.microsoft.com/office/drawing/2014/main" id="{BF8EB82D-D101-070A-095E-F23BE6E62075}"/>
              </a:ext>
            </a:extLst>
          </p:cNvPr>
          <p:cNvSpPr txBox="1"/>
          <p:nvPr/>
        </p:nvSpPr>
        <p:spPr>
          <a:xfrm>
            <a:off x="2572140" y="2971040"/>
            <a:ext cx="381836" cy="369332"/>
          </a:xfrm>
          <a:prstGeom prst="rect">
            <a:avLst/>
          </a:prstGeom>
          <a:noFill/>
        </p:spPr>
        <p:txBody>
          <a:bodyPr wrap="none" rtlCol="0">
            <a:spAutoFit/>
          </a:bodyPr>
          <a:lstStyle/>
          <a:p>
            <a:pPr algn="l"/>
            <a:r>
              <a:rPr lang="en-US" dirty="0"/>
              <a:t>…</a:t>
            </a:r>
          </a:p>
        </p:txBody>
      </p:sp>
      <p:sp>
        <p:nvSpPr>
          <p:cNvPr id="37" name="TextBox 36">
            <a:extLst>
              <a:ext uri="{FF2B5EF4-FFF2-40B4-BE49-F238E27FC236}">
                <a16:creationId xmlns:a16="http://schemas.microsoft.com/office/drawing/2014/main" id="{B90E410A-1191-B833-733F-C985D231E6E1}"/>
              </a:ext>
            </a:extLst>
          </p:cNvPr>
          <p:cNvSpPr txBox="1"/>
          <p:nvPr/>
        </p:nvSpPr>
        <p:spPr>
          <a:xfrm>
            <a:off x="3408715" y="2981880"/>
            <a:ext cx="386644" cy="369332"/>
          </a:xfrm>
          <a:prstGeom prst="rect">
            <a:avLst/>
          </a:prstGeom>
          <a:noFill/>
        </p:spPr>
        <p:txBody>
          <a:bodyPr wrap="none" rtlCol="0">
            <a:spAutoFit/>
          </a:bodyPr>
          <a:lstStyle/>
          <a:p>
            <a:pPr algn="l"/>
            <a:r>
              <a:rPr lang="en-US" dirty="0" err="1"/>
              <a:t>o</a:t>
            </a:r>
            <a:r>
              <a:rPr lang="en-US" baseline="-25000" dirty="0" err="1"/>
              <a:t>s</a:t>
            </a:r>
            <a:endParaRPr lang="en-US" baseline="-25000" dirty="0"/>
          </a:p>
        </p:txBody>
      </p:sp>
      <p:sp>
        <p:nvSpPr>
          <p:cNvPr id="38" name="TextBox 37">
            <a:extLst>
              <a:ext uri="{FF2B5EF4-FFF2-40B4-BE49-F238E27FC236}">
                <a16:creationId xmlns:a16="http://schemas.microsoft.com/office/drawing/2014/main" id="{08D16330-ADD8-C334-BBC1-56356182C7E5}"/>
              </a:ext>
            </a:extLst>
          </p:cNvPr>
          <p:cNvSpPr txBox="1"/>
          <p:nvPr/>
        </p:nvSpPr>
        <p:spPr>
          <a:xfrm>
            <a:off x="981031" y="3387706"/>
            <a:ext cx="620683" cy="369332"/>
          </a:xfrm>
          <a:prstGeom prst="rect">
            <a:avLst/>
          </a:prstGeom>
          <a:noFill/>
        </p:spPr>
        <p:txBody>
          <a:bodyPr wrap="none" rtlCol="0">
            <a:spAutoFit/>
          </a:bodyPr>
          <a:lstStyle/>
          <a:p>
            <a:pPr algn="l"/>
            <a:r>
              <a:rPr lang="en-US" dirty="0"/>
              <a:t>0.12</a:t>
            </a:r>
          </a:p>
        </p:txBody>
      </p:sp>
      <p:sp>
        <p:nvSpPr>
          <p:cNvPr id="39" name="TextBox 38">
            <a:extLst>
              <a:ext uri="{FF2B5EF4-FFF2-40B4-BE49-F238E27FC236}">
                <a16:creationId xmlns:a16="http://schemas.microsoft.com/office/drawing/2014/main" id="{CD8E8E3F-A2D2-CF5D-BEDE-B20930C49F55}"/>
              </a:ext>
            </a:extLst>
          </p:cNvPr>
          <p:cNvSpPr txBox="1"/>
          <p:nvPr/>
        </p:nvSpPr>
        <p:spPr>
          <a:xfrm>
            <a:off x="1769985" y="3384123"/>
            <a:ext cx="620683" cy="369332"/>
          </a:xfrm>
          <a:prstGeom prst="rect">
            <a:avLst/>
          </a:prstGeom>
          <a:noFill/>
        </p:spPr>
        <p:txBody>
          <a:bodyPr wrap="none" rtlCol="0">
            <a:spAutoFit/>
          </a:bodyPr>
          <a:lstStyle/>
          <a:p>
            <a:pPr algn="l"/>
            <a:r>
              <a:rPr lang="en-US" dirty="0"/>
              <a:t>0.08</a:t>
            </a:r>
          </a:p>
        </p:txBody>
      </p:sp>
      <p:sp>
        <p:nvSpPr>
          <p:cNvPr id="40" name="TextBox 39">
            <a:extLst>
              <a:ext uri="{FF2B5EF4-FFF2-40B4-BE49-F238E27FC236}">
                <a16:creationId xmlns:a16="http://schemas.microsoft.com/office/drawing/2014/main" id="{F063554B-16EA-D347-BDEF-A82AFD0EC4CE}"/>
              </a:ext>
            </a:extLst>
          </p:cNvPr>
          <p:cNvSpPr txBox="1"/>
          <p:nvPr/>
        </p:nvSpPr>
        <p:spPr>
          <a:xfrm>
            <a:off x="2548555" y="3384123"/>
            <a:ext cx="620683" cy="369332"/>
          </a:xfrm>
          <a:prstGeom prst="rect">
            <a:avLst/>
          </a:prstGeom>
          <a:noFill/>
        </p:spPr>
        <p:txBody>
          <a:bodyPr wrap="none" rtlCol="0">
            <a:spAutoFit/>
          </a:bodyPr>
          <a:lstStyle/>
          <a:p>
            <a:pPr algn="l"/>
            <a:r>
              <a:rPr lang="en-US" dirty="0"/>
              <a:t>0.13</a:t>
            </a:r>
          </a:p>
        </p:txBody>
      </p:sp>
      <p:sp>
        <p:nvSpPr>
          <p:cNvPr id="42" name="TextBox 41">
            <a:extLst>
              <a:ext uri="{FF2B5EF4-FFF2-40B4-BE49-F238E27FC236}">
                <a16:creationId xmlns:a16="http://schemas.microsoft.com/office/drawing/2014/main" id="{16C363BB-D9DA-0744-C13F-81D1995AAA99}"/>
              </a:ext>
            </a:extLst>
          </p:cNvPr>
          <p:cNvSpPr txBox="1"/>
          <p:nvPr/>
        </p:nvSpPr>
        <p:spPr>
          <a:xfrm>
            <a:off x="3327125" y="3384123"/>
            <a:ext cx="620683" cy="369332"/>
          </a:xfrm>
          <a:prstGeom prst="rect">
            <a:avLst/>
          </a:prstGeom>
          <a:noFill/>
        </p:spPr>
        <p:txBody>
          <a:bodyPr wrap="none" rtlCol="0">
            <a:spAutoFit/>
          </a:bodyPr>
          <a:lstStyle/>
          <a:p>
            <a:pPr algn="l"/>
            <a:r>
              <a:rPr lang="en-US" dirty="0"/>
              <a:t>0.03</a:t>
            </a:r>
          </a:p>
        </p:txBody>
      </p:sp>
      <p:sp>
        <p:nvSpPr>
          <p:cNvPr id="45" name="TextBox 44">
            <a:extLst>
              <a:ext uri="{FF2B5EF4-FFF2-40B4-BE49-F238E27FC236}">
                <a16:creationId xmlns:a16="http://schemas.microsoft.com/office/drawing/2014/main" id="{DB3E16BC-111F-3343-BB6B-4ED4D319450B}"/>
              </a:ext>
            </a:extLst>
          </p:cNvPr>
          <p:cNvSpPr txBox="1"/>
          <p:nvPr/>
        </p:nvSpPr>
        <p:spPr>
          <a:xfrm>
            <a:off x="3408715" y="3798343"/>
            <a:ext cx="381836" cy="369332"/>
          </a:xfrm>
          <a:prstGeom prst="rect">
            <a:avLst/>
          </a:prstGeom>
          <a:noFill/>
        </p:spPr>
        <p:txBody>
          <a:bodyPr wrap="none" rtlCol="0">
            <a:spAutoFit/>
          </a:bodyPr>
          <a:lstStyle/>
          <a:p>
            <a:pPr algn="l"/>
            <a:r>
              <a:rPr lang="en-US" dirty="0"/>
              <a:t>…</a:t>
            </a:r>
          </a:p>
        </p:txBody>
      </p:sp>
      <p:sp>
        <p:nvSpPr>
          <p:cNvPr id="46" name="TextBox 45">
            <a:extLst>
              <a:ext uri="{FF2B5EF4-FFF2-40B4-BE49-F238E27FC236}">
                <a16:creationId xmlns:a16="http://schemas.microsoft.com/office/drawing/2014/main" id="{783A9E36-DBF8-F1BF-5AEC-E91FAFC4A88C}"/>
              </a:ext>
            </a:extLst>
          </p:cNvPr>
          <p:cNvSpPr txBox="1"/>
          <p:nvPr/>
        </p:nvSpPr>
        <p:spPr>
          <a:xfrm>
            <a:off x="2700734" y="3796679"/>
            <a:ext cx="381836" cy="369332"/>
          </a:xfrm>
          <a:prstGeom prst="rect">
            <a:avLst/>
          </a:prstGeom>
          <a:noFill/>
        </p:spPr>
        <p:txBody>
          <a:bodyPr wrap="none" rtlCol="0">
            <a:spAutoFit/>
          </a:bodyPr>
          <a:lstStyle/>
          <a:p>
            <a:pPr algn="l"/>
            <a:r>
              <a:rPr lang="en-US" dirty="0"/>
              <a:t>…</a:t>
            </a:r>
          </a:p>
        </p:txBody>
      </p:sp>
      <p:sp>
        <p:nvSpPr>
          <p:cNvPr id="52" name="TextBox 51">
            <a:extLst>
              <a:ext uri="{FF2B5EF4-FFF2-40B4-BE49-F238E27FC236}">
                <a16:creationId xmlns:a16="http://schemas.microsoft.com/office/drawing/2014/main" id="{D2537A00-A295-0777-2D38-606EA1167B9A}"/>
              </a:ext>
            </a:extLst>
          </p:cNvPr>
          <p:cNvSpPr txBox="1"/>
          <p:nvPr/>
        </p:nvSpPr>
        <p:spPr>
          <a:xfrm>
            <a:off x="1864503" y="3800921"/>
            <a:ext cx="381836" cy="369332"/>
          </a:xfrm>
          <a:prstGeom prst="rect">
            <a:avLst/>
          </a:prstGeom>
          <a:noFill/>
        </p:spPr>
        <p:txBody>
          <a:bodyPr wrap="none" rtlCol="0">
            <a:spAutoFit/>
          </a:bodyPr>
          <a:lstStyle/>
          <a:p>
            <a:pPr algn="l"/>
            <a:r>
              <a:rPr lang="en-US" dirty="0"/>
              <a:t>…</a:t>
            </a:r>
          </a:p>
        </p:txBody>
      </p:sp>
      <p:sp>
        <p:nvSpPr>
          <p:cNvPr id="55" name="TextBox 54">
            <a:extLst>
              <a:ext uri="{FF2B5EF4-FFF2-40B4-BE49-F238E27FC236}">
                <a16:creationId xmlns:a16="http://schemas.microsoft.com/office/drawing/2014/main" id="{78189B61-B3E5-6740-07F7-9DD37655F1B4}"/>
              </a:ext>
            </a:extLst>
          </p:cNvPr>
          <p:cNvSpPr txBox="1"/>
          <p:nvPr/>
        </p:nvSpPr>
        <p:spPr>
          <a:xfrm>
            <a:off x="1106994" y="3788354"/>
            <a:ext cx="381836" cy="369332"/>
          </a:xfrm>
          <a:prstGeom prst="rect">
            <a:avLst/>
          </a:prstGeom>
          <a:noFill/>
        </p:spPr>
        <p:txBody>
          <a:bodyPr wrap="none" rtlCol="0">
            <a:spAutoFit/>
          </a:bodyPr>
          <a:lstStyle/>
          <a:p>
            <a:pPr algn="l"/>
            <a:r>
              <a:rPr lang="en-US" dirty="0"/>
              <a:t>…</a:t>
            </a:r>
          </a:p>
        </p:txBody>
      </p:sp>
      <p:sp>
        <p:nvSpPr>
          <p:cNvPr id="63" name="TextBox 62">
            <a:extLst>
              <a:ext uri="{FF2B5EF4-FFF2-40B4-BE49-F238E27FC236}">
                <a16:creationId xmlns:a16="http://schemas.microsoft.com/office/drawing/2014/main" id="{3EF430F3-676C-ECC5-895D-79B35DB4097A}"/>
              </a:ext>
            </a:extLst>
          </p:cNvPr>
          <p:cNvSpPr txBox="1"/>
          <p:nvPr/>
        </p:nvSpPr>
        <p:spPr>
          <a:xfrm>
            <a:off x="3456264" y="4210052"/>
            <a:ext cx="381836" cy="369332"/>
          </a:xfrm>
          <a:prstGeom prst="rect">
            <a:avLst/>
          </a:prstGeom>
          <a:noFill/>
        </p:spPr>
        <p:txBody>
          <a:bodyPr wrap="none" rtlCol="0">
            <a:spAutoFit/>
          </a:bodyPr>
          <a:lstStyle/>
          <a:p>
            <a:pPr algn="l"/>
            <a:r>
              <a:rPr lang="en-US" dirty="0"/>
              <a:t>…</a:t>
            </a:r>
          </a:p>
        </p:txBody>
      </p:sp>
      <p:sp>
        <p:nvSpPr>
          <p:cNvPr id="64" name="TextBox 63">
            <a:extLst>
              <a:ext uri="{FF2B5EF4-FFF2-40B4-BE49-F238E27FC236}">
                <a16:creationId xmlns:a16="http://schemas.microsoft.com/office/drawing/2014/main" id="{A4F13FF5-9E89-1768-9697-BDAAC04389FC}"/>
              </a:ext>
            </a:extLst>
          </p:cNvPr>
          <p:cNvSpPr txBox="1"/>
          <p:nvPr/>
        </p:nvSpPr>
        <p:spPr>
          <a:xfrm>
            <a:off x="2748283" y="4208388"/>
            <a:ext cx="381836" cy="369332"/>
          </a:xfrm>
          <a:prstGeom prst="rect">
            <a:avLst/>
          </a:prstGeom>
          <a:noFill/>
        </p:spPr>
        <p:txBody>
          <a:bodyPr wrap="none" rtlCol="0">
            <a:spAutoFit/>
          </a:bodyPr>
          <a:lstStyle/>
          <a:p>
            <a:pPr algn="l"/>
            <a:r>
              <a:rPr lang="en-US" dirty="0"/>
              <a:t>…</a:t>
            </a:r>
          </a:p>
        </p:txBody>
      </p:sp>
      <p:sp>
        <p:nvSpPr>
          <p:cNvPr id="65" name="TextBox 64">
            <a:extLst>
              <a:ext uri="{FF2B5EF4-FFF2-40B4-BE49-F238E27FC236}">
                <a16:creationId xmlns:a16="http://schemas.microsoft.com/office/drawing/2014/main" id="{1D3178DD-43D7-DE3C-54D4-62FC016CC5EC}"/>
              </a:ext>
            </a:extLst>
          </p:cNvPr>
          <p:cNvSpPr txBox="1"/>
          <p:nvPr/>
        </p:nvSpPr>
        <p:spPr>
          <a:xfrm>
            <a:off x="1912052" y="4212630"/>
            <a:ext cx="381836" cy="369332"/>
          </a:xfrm>
          <a:prstGeom prst="rect">
            <a:avLst/>
          </a:prstGeom>
          <a:noFill/>
        </p:spPr>
        <p:txBody>
          <a:bodyPr wrap="none" rtlCol="0">
            <a:spAutoFit/>
          </a:bodyPr>
          <a:lstStyle/>
          <a:p>
            <a:pPr algn="l"/>
            <a:r>
              <a:rPr lang="en-US" dirty="0"/>
              <a:t>…</a:t>
            </a:r>
          </a:p>
        </p:txBody>
      </p:sp>
      <p:sp>
        <p:nvSpPr>
          <p:cNvPr id="66" name="TextBox 65">
            <a:extLst>
              <a:ext uri="{FF2B5EF4-FFF2-40B4-BE49-F238E27FC236}">
                <a16:creationId xmlns:a16="http://schemas.microsoft.com/office/drawing/2014/main" id="{EF6B3913-F781-6652-FE6C-9EEECE49762C}"/>
              </a:ext>
            </a:extLst>
          </p:cNvPr>
          <p:cNvSpPr txBox="1"/>
          <p:nvPr/>
        </p:nvSpPr>
        <p:spPr>
          <a:xfrm>
            <a:off x="1154543" y="4200063"/>
            <a:ext cx="381836" cy="369332"/>
          </a:xfrm>
          <a:prstGeom prst="rect">
            <a:avLst/>
          </a:prstGeom>
          <a:noFill/>
        </p:spPr>
        <p:txBody>
          <a:bodyPr wrap="none" rtlCol="0">
            <a:spAutoFit/>
          </a:bodyPr>
          <a:lstStyle/>
          <a:p>
            <a:pPr algn="l"/>
            <a:r>
              <a:rPr lang="en-US" dirty="0"/>
              <a:t>…</a:t>
            </a:r>
          </a:p>
        </p:txBody>
      </p:sp>
      <p:sp>
        <p:nvSpPr>
          <p:cNvPr id="67" name="TextBox 66">
            <a:extLst>
              <a:ext uri="{FF2B5EF4-FFF2-40B4-BE49-F238E27FC236}">
                <a16:creationId xmlns:a16="http://schemas.microsoft.com/office/drawing/2014/main" id="{3E5A4C84-5640-8363-1C8A-40D6459B229D}"/>
              </a:ext>
            </a:extLst>
          </p:cNvPr>
          <p:cNvSpPr txBox="1"/>
          <p:nvPr/>
        </p:nvSpPr>
        <p:spPr>
          <a:xfrm>
            <a:off x="3428554" y="4717152"/>
            <a:ext cx="381836" cy="369332"/>
          </a:xfrm>
          <a:prstGeom prst="rect">
            <a:avLst/>
          </a:prstGeom>
          <a:noFill/>
        </p:spPr>
        <p:txBody>
          <a:bodyPr wrap="none" rtlCol="0">
            <a:spAutoFit/>
          </a:bodyPr>
          <a:lstStyle/>
          <a:p>
            <a:pPr algn="l"/>
            <a:r>
              <a:rPr lang="en-US" dirty="0"/>
              <a:t>…</a:t>
            </a:r>
          </a:p>
        </p:txBody>
      </p:sp>
      <p:sp>
        <p:nvSpPr>
          <p:cNvPr id="68" name="TextBox 67">
            <a:extLst>
              <a:ext uri="{FF2B5EF4-FFF2-40B4-BE49-F238E27FC236}">
                <a16:creationId xmlns:a16="http://schemas.microsoft.com/office/drawing/2014/main" id="{381310F2-F544-6887-5DE7-A3DEEF413056}"/>
              </a:ext>
            </a:extLst>
          </p:cNvPr>
          <p:cNvSpPr txBox="1"/>
          <p:nvPr/>
        </p:nvSpPr>
        <p:spPr>
          <a:xfrm>
            <a:off x="2720573" y="4715488"/>
            <a:ext cx="381836" cy="369332"/>
          </a:xfrm>
          <a:prstGeom prst="rect">
            <a:avLst/>
          </a:prstGeom>
          <a:noFill/>
        </p:spPr>
        <p:txBody>
          <a:bodyPr wrap="none" rtlCol="0">
            <a:spAutoFit/>
          </a:bodyPr>
          <a:lstStyle/>
          <a:p>
            <a:pPr algn="l"/>
            <a:r>
              <a:rPr lang="en-US" dirty="0"/>
              <a:t>…</a:t>
            </a:r>
          </a:p>
        </p:txBody>
      </p:sp>
      <p:sp>
        <p:nvSpPr>
          <p:cNvPr id="69" name="TextBox 68">
            <a:extLst>
              <a:ext uri="{FF2B5EF4-FFF2-40B4-BE49-F238E27FC236}">
                <a16:creationId xmlns:a16="http://schemas.microsoft.com/office/drawing/2014/main" id="{19ECD80D-E86E-2BA7-8773-7F14983D15F8}"/>
              </a:ext>
            </a:extLst>
          </p:cNvPr>
          <p:cNvSpPr txBox="1"/>
          <p:nvPr/>
        </p:nvSpPr>
        <p:spPr>
          <a:xfrm>
            <a:off x="1884342" y="4719730"/>
            <a:ext cx="381836" cy="369332"/>
          </a:xfrm>
          <a:prstGeom prst="rect">
            <a:avLst/>
          </a:prstGeom>
          <a:noFill/>
        </p:spPr>
        <p:txBody>
          <a:bodyPr wrap="none" rtlCol="0">
            <a:spAutoFit/>
          </a:bodyPr>
          <a:lstStyle/>
          <a:p>
            <a:pPr algn="l"/>
            <a:r>
              <a:rPr lang="en-US" dirty="0"/>
              <a:t>…</a:t>
            </a:r>
          </a:p>
        </p:txBody>
      </p:sp>
      <p:sp>
        <p:nvSpPr>
          <p:cNvPr id="70" name="TextBox 69">
            <a:extLst>
              <a:ext uri="{FF2B5EF4-FFF2-40B4-BE49-F238E27FC236}">
                <a16:creationId xmlns:a16="http://schemas.microsoft.com/office/drawing/2014/main" id="{5AF04555-C9C2-34F6-11A9-9565B1669D81}"/>
              </a:ext>
            </a:extLst>
          </p:cNvPr>
          <p:cNvSpPr txBox="1"/>
          <p:nvPr/>
        </p:nvSpPr>
        <p:spPr>
          <a:xfrm>
            <a:off x="1126833" y="4707163"/>
            <a:ext cx="381836" cy="369332"/>
          </a:xfrm>
          <a:prstGeom prst="rect">
            <a:avLst/>
          </a:prstGeom>
          <a:noFill/>
        </p:spPr>
        <p:txBody>
          <a:bodyPr wrap="none" rtlCol="0">
            <a:spAutoFit/>
          </a:bodyPr>
          <a:lstStyle/>
          <a:p>
            <a:pPr algn="l"/>
            <a:r>
              <a:rPr lang="en-US" dirty="0"/>
              <a:t>…</a:t>
            </a:r>
          </a:p>
        </p:txBody>
      </p:sp>
      <p:sp>
        <p:nvSpPr>
          <p:cNvPr id="71" name="TextBox 70">
            <a:extLst>
              <a:ext uri="{FF2B5EF4-FFF2-40B4-BE49-F238E27FC236}">
                <a16:creationId xmlns:a16="http://schemas.microsoft.com/office/drawing/2014/main" id="{0E736375-F301-E37B-258F-1658AAF6AAEF}"/>
              </a:ext>
            </a:extLst>
          </p:cNvPr>
          <p:cNvSpPr txBox="1"/>
          <p:nvPr/>
        </p:nvSpPr>
        <p:spPr>
          <a:xfrm>
            <a:off x="1126833" y="1913156"/>
            <a:ext cx="2426883" cy="369332"/>
          </a:xfrm>
          <a:prstGeom prst="rect">
            <a:avLst/>
          </a:prstGeom>
          <a:noFill/>
        </p:spPr>
        <p:txBody>
          <a:bodyPr wrap="none" rtlCol="0">
            <a:spAutoFit/>
          </a:bodyPr>
          <a:lstStyle/>
          <a:p>
            <a:pPr algn="l"/>
            <a:r>
              <a:rPr lang="en-US" dirty="0"/>
              <a:t>Joint probability matrix</a:t>
            </a:r>
          </a:p>
        </p:txBody>
      </p:sp>
      <p:cxnSp>
        <p:nvCxnSpPr>
          <p:cNvPr id="72" name="Straight Connector 71">
            <a:extLst>
              <a:ext uri="{FF2B5EF4-FFF2-40B4-BE49-F238E27FC236}">
                <a16:creationId xmlns:a16="http://schemas.microsoft.com/office/drawing/2014/main" id="{ED498D9D-2E05-958C-B4E9-584147FECEDF}"/>
              </a:ext>
            </a:extLst>
          </p:cNvPr>
          <p:cNvCxnSpPr/>
          <p:nvPr/>
        </p:nvCxnSpPr>
        <p:spPr>
          <a:xfrm>
            <a:off x="698077" y="3150110"/>
            <a:ext cx="233799" cy="1902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2E426E7A-2459-9358-4CA7-A50B16EA264E}"/>
              </a:ext>
            </a:extLst>
          </p:cNvPr>
          <p:cNvSpPr txBox="1"/>
          <p:nvPr/>
        </p:nvSpPr>
        <p:spPr>
          <a:xfrm>
            <a:off x="4005412" y="3384123"/>
            <a:ext cx="716863" cy="369332"/>
          </a:xfrm>
          <a:prstGeom prst="rect">
            <a:avLst/>
          </a:prstGeom>
          <a:noFill/>
        </p:spPr>
        <p:txBody>
          <a:bodyPr wrap="none" rtlCol="0">
            <a:spAutoFit/>
          </a:bodyPr>
          <a:lstStyle/>
          <a:p>
            <a:pPr algn="l"/>
            <a:r>
              <a:rPr lang="en-US" i="1" dirty="0"/>
              <a:t>P(M</a:t>
            </a:r>
            <a:r>
              <a:rPr lang="en-US" i="1" baseline="-25000" dirty="0"/>
              <a:t>1</a:t>
            </a:r>
            <a:r>
              <a:rPr lang="en-US" i="1" dirty="0"/>
              <a:t>)</a:t>
            </a:r>
          </a:p>
        </p:txBody>
      </p:sp>
      <p:sp>
        <p:nvSpPr>
          <p:cNvPr id="88" name="TextBox 87">
            <a:extLst>
              <a:ext uri="{FF2B5EF4-FFF2-40B4-BE49-F238E27FC236}">
                <a16:creationId xmlns:a16="http://schemas.microsoft.com/office/drawing/2014/main" id="{9163A60F-CD0C-257D-DBDE-E7054EE5CDC4}"/>
              </a:ext>
            </a:extLst>
          </p:cNvPr>
          <p:cNvSpPr txBox="1"/>
          <p:nvPr/>
        </p:nvSpPr>
        <p:spPr>
          <a:xfrm>
            <a:off x="4005411" y="3796679"/>
            <a:ext cx="716863" cy="369332"/>
          </a:xfrm>
          <a:prstGeom prst="rect">
            <a:avLst/>
          </a:prstGeom>
          <a:noFill/>
        </p:spPr>
        <p:txBody>
          <a:bodyPr wrap="none" rtlCol="0">
            <a:spAutoFit/>
          </a:bodyPr>
          <a:lstStyle/>
          <a:p>
            <a:pPr algn="l"/>
            <a:r>
              <a:rPr lang="en-US" i="1" dirty="0"/>
              <a:t>P(M</a:t>
            </a:r>
            <a:r>
              <a:rPr lang="en-US" i="1" baseline="-25000" dirty="0"/>
              <a:t>2</a:t>
            </a:r>
            <a:r>
              <a:rPr lang="en-US" i="1" dirty="0"/>
              <a:t>)</a:t>
            </a:r>
          </a:p>
        </p:txBody>
      </p:sp>
      <p:sp>
        <p:nvSpPr>
          <p:cNvPr id="89" name="TextBox 88">
            <a:extLst>
              <a:ext uri="{FF2B5EF4-FFF2-40B4-BE49-F238E27FC236}">
                <a16:creationId xmlns:a16="http://schemas.microsoft.com/office/drawing/2014/main" id="{640B70A4-BDEA-4CB2-660F-7021FC0F3534}"/>
              </a:ext>
            </a:extLst>
          </p:cNvPr>
          <p:cNvSpPr txBox="1"/>
          <p:nvPr/>
        </p:nvSpPr>
        <p:spPr>
          <a:xfrm>
            <a:off x="4002205" y="4751729"/>
            <a:ext cx="720069" cy="369332"/>
          </a:xfrm>
          <a:prstGeom prst="rect">
            <a:avLst/>
          </a:prstGeom>
          <a:noFill/>
        </p:spPr>
        <p:txBody>
          <a:bodyPr wrap="none" rtlCol="0">
            <a:spAutoFit/>
          </a:bodyPr>
          <a:lstStyle/>
          <a:p>
            <a:pPr algn="l"/>
            <a:r>
              <a:rPr lang="en-US" i="1" dirty="0"/>
              <a:t>P(M</a:t>
            </a:r>
            <a:r>
              <a:rPr lang="en-US" i="1" baseline="-25000" dirty="0"/>
              <a:t>n</a:t>
            </a:r>
            <a:r>
              <a:rPr lang="en-US" i="1" dirty="0"/>
              <a:t>)</a:t>
            </a:r>
          </a:p>
        </p:txBody>
      </p:sp>
      <p:sp>
        <p:nvSpPr>
          <p:cNvPr id="90" name="TextBox 89">
            <a:extLst>
              <a:ext uri="{FF2B5EF4-FFF2-40B4-BE49-F238E27FC236}">
                <a16:creationId xmlns:a16="http://schemas.microsoft.com/office/drawing/2014/main" id="{F7B4510B-587B-44E8-FDDC-4F08AF990E77}"/>
              </a:ext>
            </a:extLst>
          </p:cNvPr>
          <p:cNvSpPr txBox="1"/>
          <p:nvPr/>
        </p:nvSpPr>
        <p:spPr>
          <a:xfrm>
            <a:off x="4092188" y="4208388"/>
            <a:ext cx="381836" cy="369332"/>
          </a:xfrm>
          <a:prstGeom prst="rect">
            <a:avLst/>
          </a:prstGeom>
          <a:noFill/>
        </p:spPr>
        <p:txBody>
          <a:bodyPr wrap="none" rtlCol="0">
            <a:spAutoFit/>
          </a:bodyPr>
          <a:lstStyle/>
          <a:p>
            <a:pPr algn="l"/>
            <a:r>
              <a:rPr lang="en-US" dirty="0"/>
              <a:t>…</a:t>
            </a:r>
          </a:p>
        </p:txBody>
      </p:sp>
      <p:sp>
        <p:nvSpPr>
          <p:cNvPr id="99" name="Rectangle 98">
            <a:extLst>
              <a:ext uri="{FF2B5EF4-FFF2-40B4-BE49-F238E27FC236}">
                <a16:creationId xmlns:a16="http://schemas.microsoft.com/office/drawing/2014/main" id="{064E1127-0E5D-93C5-E4B4-12B4C5AD8CD0}"/>
              </a:ext>
            </a:extLst>
          </p:cNvPr>
          <p:cNvSpPr/>
          <p:nvPr/>
        </p:nvSpPr>
        <p:spPr>
          <a:xfrm>
            <a:off x="5085578" y="4541734"/>
            <a:ext cx="7042526" cy="1800160"/>
          </a:xfrm>
          <a:prstGeom prst="rect">
            <a:avLst/>
          </a:pr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524945AA-4322-51CE-450E-138BB675CCD5}"/>
              </a:ext>
            </a:extLst>
          </p:cNvPr>
          <p:cNvSpPr/>
          <p:nvPr/>
        </p:nvSpPr>
        <p:spPr>
          <a:xfrm>
            <a:off x="5044488" y="1892808"/>
            <a:ext cx="7106419" cy="2264878"/>
          </a:xfrm>
          <a:prstGeom prst="rect">
            <a:avLst/>
          </a:prstGeom>
          <a:noFill/>
          <a:ln w="19050">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2E3AF47F-1ACD-00DB-7320-3E76DDD2F57C}"/>
              </a:ext>
            </a:extLst>
          </p:cNvPr>
          <p:cNvSpPr txBox="1"/>
          <p:nvPr/>
        </p:nvSpPr>
        <p:spPr>
          <a:xfrm>
            <a:off x="1868727" y="2726953"/>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108" name="TextBox 107">
            <a:extLst>
              <a:ext uri="{FF2B5EF4-FFF2-40B4-BE49-F238E27FC236}">
                <a16:creationId xmlns:a16="http://schemas.microsoft.com/office/drawing/2014/main" id="{88A57342-0C32-3F24-DD64-587055ADA48C}"/>
              </a:ext>
            </a:extLst>
          </p:cNvPr>
          <p:cNvSpPr txBox="1"/>
          <p:nvPr/>
        </p:nvSpPr>
        <p:spPr>
          <a:xfrm>
            <a:off x="2625370" y="2726953"/>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109" name="TextBox 108">
            <a:extLst>
              <a:ext uri="{FF2B5EF4-FFF2-40B4-BE49-F238E27FC236}">
                <a16:creationId xmlns:a16="http://schemas.microsoft.com/office/drawing/2014/main" id="{FC32947A-7489-84AF-FC5D-35B8705BE90A}"/>
              </a:ext>
            </a:extLst>
          </p:cNvPr>
          <p:cNvSpPr txBox="1"/>
          <p:nvPr/>
        </p:nvSpPr>
        <p:spPr>
          <a:xfrm rot="16200000">
            <a:off x="-165620" y="3558197"/>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110" name="TextBox 109">
            <a:extLst>
              <a:ext uri="{FF2B5EF4-FFF2-40B4-BE49-F238E27FC236}">
                <a16:creationId xmlns:a16="http://schemas.microsoft.com/office/drawing/2014/main" id="{1FF6DE44-1957-661B-E6C5-DB3EC47AEBC5}"/>
              </a:ext>
            </a:extLst>
          </p:cNvPr>
          <p:cNvSpPr txBox="1"/>
          <p:nvPr/>
        </p:nvSpPr>
        <p:spPr>
          <a:xfrm>
            <a:off x="3368706" y="2707482"/>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
        <p:nvSpPr>
          <p:cNvPr id="113" name="TextBox 112">
            <a:extLst>
              <a:ext uri="{FF2B5EF4-FFF2-40B4-BE49-F238E27FC236}">
                <a16:creationId xmlns:a16="http://schemas.microsoft.com/office/drawing/2014/main" id="{F02C3B68-5596-24B9-4D9E-22C7DE7220B9}"/>
              </a:ext>
            </a:extLst>
          </p:cNvPr>
          <p:cNvSpPr txBox="1"/>
          <p:nvPr/>
        </p:nvSpPr>
        <p:spPr>
          <a:xfrm>
            <a:off x="2020216" y="2725760"/>
            <a:ext cx="914400" cy="369332"/>
          </a:xfrm>
          <a:prstGeom prst="rect">
            <a:avLst/>
          </a:prstGeom>
          <a:noFill/>
        </p:spPr>
        <p:txBody>
          <a:bodyPr wrap="square" rtlCol="0">
            <a:spAutoFit/>
          </a:bodyPr>
          <a:lstStyle/>
          <a:p>
            <a:pPr algn="l"/>
            <a:r>
              <a:rPr lang="en-US" dirty="0">
                <a:solidFill>
                  <a:srgbClr val="FF0000"/>
                </a:solidFill>
                <a:sym typeface="Symbol" panose="05050102010706020507" pitchFamily="18" charset="2"/>
              </a:rPr>
              <a:t></a:t>
            </a:r>
            <a:endParaRPr lang="en-US" dirty="0">
              <a:solidFill>
                <a:srgbClr val="FF0000"/>
              </a:solidFill>
            </a:endParaRPr>
          </a:p>
        </p:txBody>
      </p:sp>
    </p:spTree>
    <p:extLst>
      <p:ext uri="{BB962C8B-B14F-4D97-AF65-F5344CB8AC3E}">
        <p14:creationId xmlns:p14="http://schemas.microsoft.com/office/powerpoint/2010/main" val="36601252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79.715"/>
  <p:tag name="ORIGINALWIDTH" val="3361.08"/>
  <p:tag name="OUTPUTTYPE" val="PNG"/>
  <p:tag name="IGUANATEXVERSION" val="160"/>
  <p:tag name="LATEXADDIN" val="\documentclass{article}&#10;\usepackage{amsmath,mdframed}&#10;\usepackage{xcolor}&#10;\pagestyle{empty}&#10;\begin{document}&#10;&#10;\begin{mdframed}[leftmargin=125pt, rightmargin=-50pt, &#10;innertopmargin=-5pt,innerbottommargin=1pt,skipabove=-20pt, skipbelow=20pt]&#10;\begin{flalign}&#10;P(A) &amp;= P(A\land B) + P(A\land \lnot B) \ \ \text{(Marginalization)}&#10;\end{flalign}&#10;\end{mdframed}&#10;&#10;\end{document}"/>
  <p:tag name="IGUANATEXSIZE" val="14"/>
  <p:tag name="IGUANATEXCURSOR" val="141"/>
  <p:tag name="TRANSPARENCY" val="True"/>
  <p:tag name="LATEXENGINEID" val="0"/>
  <p:tag name="TEMPFOLDER" val="c:\Users\kkp292\temp\"/>
  <p:tag name="LATEXFORMHEIGHT" val="367"/>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210.7236"/>
  <p:tag name="ORIGINALWIDTH" val="1190.851"/>
  <p:tag name="OUTPUTTYPE" val="PNG"/>
  <p:tag name="IGUANATEXVERSION" val="160"/>
  <p:tag name="LATEXADDIN" val="\documentclass{article}&#10;\usepackage{amsmath}&#10;\pagestyle{empty}&#10;\begin{document}&#10;&#10;$p(x_1,x_2) = \frac{1}{2\pi} e^{-\frac{x_1^2+x_2^2}{2}}$&#10;\end{document}"/>
  <p:tag name="IGUANATEXSIZE" val="11"/>
  <p:tag name="IGUANATEXCURSOR" val="129"/>
  <p:tag name="TRANSPARENCY" val="True"/>
  <p:tag name="LATEXENGINEID" val="0"/>
  <p:tag name="TEMPFOLDER" val="c:\Users\kkp292\temp\"/>
  <p:tag name="LATEXFORMHEIGHT" val="478"/>
  <p:tag name="LATEXFORMWIDTH" val="450"/>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989.1264"/>
  <p:tag name="ORIGINALWIDTH" val="1693.288"/>
  <p:tag name="OUTPUTTYPE" val="PNG"/>
  <p:tag name="IGUANATEXVERSION" val="160"/>
  <p:tag name="LATEXADDIN" val="\documentclass{article}&#10;\usepackage{amsmath}&#10;\pagestyle{empty}&#10;\begin{document}&#10;&#10;\begin{align*}&#10;p_1(x_1) &amp;= \frac{1}{2\pi}\int_{-\infty}^{\infty} e^{-\frac{x_1^2}{2}} e^{-\frac{x_2^2}{2}}dx_2 \nonumber \\&#10;&amp;= \frac{1}{2\pi}e^{-\frac{x_1^2}{2}} \int_{-\infty}^{\infty}  e^{-\frac{x_2^2}{2}}dx_2\\&#10;&amp;= \frac{1}{\sqrt{2\pi}} e^{-\frac{x_1^2}{2}}&#10;\end{align*}&#10;&#10;\end{document}"/>
  <p:tag name="IGUANATEXSIZE" val="13"/>
  <p:tag name="IGUANATEXCURSOR" val="102"/>
  <p:tag name="TRANSPARENCY" val="True"/>
  <p:tag name="LATEXENGINEID" val="0"/>
  <p:tag name="TEMPFOLDER" val="c:\Users\kkp292\temp\"/>
  <p:tag name="LATEXFORMHEIGHT" val="478"/>
  <p:tag name="LATEXFORMWIDTH" val="450"/>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676.4154"/>
  <p:tag name="ORIGINALWIDTH" val="3924.26"/>
  <p:tag name="OUTPUTTYPE" val="PNG"/>
  <p:tag name="IGUANATEXVERSION" val="160"/>
  <p:tag name="LATEXADDIN" val="\documentclass{article}&#10;\usepackage{amsmath}&#10;\pagestyle{empty}&#10;\begin{document}&#10;\begin{align*}&#10;P(prime | odd) &amp;= \frac{P(prime \land odd)}{P(odd)} \text{\ \ (Definition of conditional probability)}\\&#10;&amp;= \frac{\frac{2}{6}}{\frac{3}{6}} = \frac{2}{3}&#10;\end{align*}&#10;\end{document}"/>
  <p:tag name="IGUANATEXSIZE" val="26"/>
  <p:tag name="IGUANATEXCURSOR" val="199"/>
  <p:tag name="TRANSPARENCY" val="True"/>
  <p:tag name="LATEXENGINEID" val="0"/>
  <p:tag name="TEMPFOLDER" val="c:\Users\kkp292\temp\"/>
  <p:tag name="LATEXFORMHEIGHT" val="478"/>
  <p:tag name="LATEXFORMWIDTH" val="450"/>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92.201"/>
  <p:tag name="ORIGINALWIDTH" val="3361.08"/>
  <p:tag name="OUTPUTTYPE" val="PNG"/>
  <p:tag name="IGUANATEXVERSION" val="160"/>
  <p:tag name="LATEXADDIN" val="\documentclass{article}&#10;\usepackage{amsmath,mdframed}&#10;\usepackage{xcolor}&#10;\pagestyle{empty}&#10;\begin{document}&#10;&#10;\begin{mdframed}[leftmargin=125pt, rightmargin=-50pt, &#10;innertopmargin=-5pt,innerbottommargin=1pt,skipabove=-20pt, skipbelow=20pt]&#10;\begin{flalign}&#10;P(A|B) &amp;= \frac{P(A\land B)}{P(B)} \ \ \text{(Conditional probability)}&#10;\end{flalign}&#10;\end{mdframed}&#10;&#10;\end{document}"/>
  <p:tag name="IGUANATEXSIZE" val="14"/>
  <p:tag name="IGUANATEXCURSOR" val="325"/>
  <p:tag name="TRANSPARENCY" val="True"/>
  <p:tag name="LATEXENGINEID" val="0"/>
  <p:tag name="TEMPFOLDER" val="c:\Users\kkp292\temp\"/>
  <p:tag name="LATEXFORMHEIGHT" val="367"/>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96.4754"/>
  <p:tag name="ORIGINALWIDTH" val="1145.107"/>
  <p:tag name="OUTPUTTYPE" val="PNG"/>
  <p:tag name="IGUANATEXVERSION" val="160"/>
  <p:tag name="LATEXADDIN" val="\documentclass{article}&#10;\usepackage{amsmath,mdframed}&#10;\pagestyle{empty}&#10;\begin{document}&#10;$P(A_i|B_j) = \frac{P(A_i \land B_j)}{P(B_j)}$&#10;\end{document}"/>
  <p:tag name="IGUANATEXSIZE" val="11"/>
  <p:tag name="IGUANATEXCURSOR" val="114"/>
  <p:tag name="TRANSPARENCY" val="True"/>
  <p:tag name="LATEXENGINEID" val="0"/>
  <p:tag name="TEMPFOLDER" val="c:\Users\kkp292\temp\"/>
  <p:tag name="LATEXFORMHEIGHT" val="478"/>
  <p:tag name="LATEXFORMWIDTH" val="450"/>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210.7236"/>
  <p:tag name="ORIGINALWIDTH" val="1190.851"/>
  <p:tag name="OUTPUTTYPE" val="PNG"/>
  <p:tag name="IGUANATEXVERSION" val="160"/>
  <p:tag name="LATEXADDIN" val="\documentclass{article}&#10;\usepackage{amsmath}&#10;\pagestyle{empty}&#10;\begin{document}&#10;&#10;$p(x_1,x_2) = \frac{1}{2\pi} e^{-\frac{x_1^2+x_2^2}{2}}$&#10;\end{document}"/>
  <p:tag name="IGUANATEXSIZE" val="11"/>
  <p:tag name="IGUANATEXCURSOR" val="129"/>
  <p:tag name="TRANSPARENCY" val="True"/>
  <p:tag name="LATEXENGINEID" val="0"/>
  <p:tag name="TEMPFOLDER" val="c:\Users\kkp292\temp\"/>
  <p:tag name="LATEXFORMHEIGHT" val="478"/>
  <p:tag name="LATEXFORMWIDTH" val="450"/>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793.4008"/>
  <p:tag name="ORIGINALWIDTH" val="1938.508"/>
  <p:tag name="OUTPUTTYPE" val="PNG"/>
  <p:tag name="IGUANATEXVERSION" val="160"/>
  <p:tag name="LATEXADDIN" val="\documentclass{article}&#10;\usepackage{amsmath}&#10;\pagestyle{empty}&#10;\begin{document}&#10;\begin{align*}&#10;p_{x_2|x_1}(x_2|x_1=2) &amp;=\frac{e^{-\frac{4+x_2^2}{2}}}{\int_{-\infty}^{\infty}e^{-\frac{4+x_2^2}{2}}dx_2}\\&#10;&amp;= \frac{1}{\sqrt{2\pi}}e^\frac{{-x_2^2}}{2}&#10;\end{align*}&#10;\end{document}"/>
  <p:tag name="IGUANATEXSIZE" val="11"/>
  <p:tag name="IGUANATEXCURSOR" val="106"/>
  <p:tag name="TRANSPARENCY" val="True"/>
  <p:tag name="LATEXENGINEID" val="0"/>
  <p:tag name="TEMPFOLDER" val="c:\Users\kkp292\temp\"/>
  <p:tag name="LATEXFORMHEIGHT" val="265"/>
  <p:tag name="LATEXFORMWIDTH" val="469"/>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229.846"/>
  <p:tag name="ORIGINALWIDTH" val="4450.693"/>
  <p:tag name="OUTPUTTYPE" val="PNG"/>
  <p:tag name="IGUANATEXVERSION" val="160"/>
  <p:tag name="LATEXADDIN" val="\documentclass{article}&#10;\usepackage{amsmath}&#10;\pagestyle{empty}&#10;\begin{document}&#10;&#10;\noindent&#10;\begin{align*}&#10;P(A_1 \land A_2 \land \cdots \land A_n)&amp;= P(A_1|A_2\land \cdots A_n)P(A_2\land \cdots A_n)\\&#10;&amp;= P(A_1|A_2\land \cdots A_n)P(A_2|A_3 \cdots A_n)P(A_3 \cdots A_n)\\&#10;&amp;...\\&#10;&amp;= P(A_1|A_2\land \cdots A_n)P(A_2|A_3 \cdots A_n)\cdots P(A_{n-1}|A_n)P(A_n)\\&#10;\implies&amp;\\&#10;P(A_1|A_2\land \cdots A_n) &amp;= \frac{P(A_1 \land A_2 \land \cdots \land A_n)}{P(A_2|A_3 \cdots A_n)\cdots P(A_{n-1}|A_n)P(A_n)}&#10;\end{align*}&#10;&#10;&#10;\end{document}"/>
  <p:tag name="IGUANATEXSIZE" val="11"/>
  <p:tag name="IGUANATEXCURSOR" val="365"/>
  <p:tag name="TRANSPARENCY" val="True"/>
  <p:tag name="LATEXENGINEID" val="0"/>
  <p:tag name="TEMPFOLDER" val="c:\Users\kkp292\temp\"/>
  <p:tag name="LATEXFORMHEIGHT" val="478"/>
  <p:tag name="LATEXFORMWIDTH" val="450"/>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517.06"/>
  <p:tag name="ORIGINALWIDTH" val="3622.797"/>
  <p:tag name="OUTPUTTYPE" val="PNG"/>
  <p:tag name="IGUANATEXVERSION" val="160"/>
  <p:tag name="LATEXADDIN" val="\documentclass{article}&#10;\usepackage{amsmath,mdframed}&#10;\usepackage{xcolor}&#10;\pagestyle{empty}&#10;\begin{document}&#10;&#10;\begin{mdframed}[leftmargin=50pt, rightmargin=50pt, &#10;innertopmargin=-5pt,innerbottommargin=-5pt,skipabove=-20pt, skipbelow=-20pt]&#10;\begin{align*}&#10;P(A\land B) &amp;= P(A)P(B|A) \text{\ \ (Axiom of conditional probability)}\\&#10;&amp;= P(B)P(A|B) \\&#10;\implies  \\&#10;\underbrace{P(A|B)}_{posterior} &amp;= \frac{\underbrace{P(A)}_{prior}\underbrace{P(B|A)}_{\ \ likelihood\ of\ event\ assuming\ A}}{\underbrace{P(B)}_{probability\ of\ event}} \\&#10;\end{align*}&#10;\end{mdframed}&#10;\end{document}"/>
  <p:tag name="IGUANATEXSIZE" val="14"/>
  <p:tag name="IGUANATEXCURSOR" val="486"/>
  <p:tag name="TRANSPARENCY" val="True"/>
  <p:tag name="LATEXENGINEID" val="0"/>
  <p:tag name="TEMPFOLDER" val="c:\Users\kkp292\temp\"/>
  <p:tag name="LATEXFORMHEIGHT" val="367"/>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325.4593"/>
  <p:tag name="ORIGINALWIDTH" val="1805.774"/>
  <p:tag name="OUTPUTTYPE" val="PNG"/>
  <p:tag name="IGUANATEXVERSION" val="160"/>
  <p:tag name="LATEXADDIN" val="\documentclass{article}&#10;\usepackage{amsmath,mdframed}&#10;\pagestyle{empty}&#10;\begin{document}&#10;\begin{mdframed}[leftmargin=50pt, rightmargin=150pt, &#10;innertopmargin=5pt,innerbottommargin=5pt,skipabove=0pt, skipbelow=0pt]&#10;$P(A|B) = \frac{P(A \land B)}{P(A\land B) + P(\lnot A\land B)}$&#10;\end{mdframed}&#10;\end{document}"/>
  <p:tag name="IGUANATEXSIZE" val="11"/>
  <p:tag name="IGUANATEXCURSOR" val="277"/>
  <p:tag name="TRANSPARENCY" val="True"/>
  <p:tag name="LATEXENGINEID" val="0"/>
  <p:tag name="TEMPFOLDER" val="c:\Users\kkp292\temp\"/>
  <p:tag name="LATEXFORMHEIGHT" val="478"/>
  <p:tag name="LATEXFORMWIDTH" val="450"/>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90.4762"/>
  <p:tag name="ORIGINALWIDTH" val="2653.918"/>
  <p:tag name="OUTPUTTYPE" val="PNG"/>
  <p:tag name="IGUANATEXVERSION" val="160"/>
  <p:tag name="LATEXADDIN" val="\documentclass{article}&#10;\usepackage{amsmath}&#10;\pagestyle{empty}&#10;\begin{document}&#10;&#10;$P(prime|odd) = \frac{P(odd|prime)P(prime)}{P(odd)} = \frac{1*2/6}{3/6} = \frac{2}{3}$&#10;&#10;\end{document}"/>
  <p:tag name="IGUANATEXSIZE" val="11"/>
  <p:tag name="IGUANATEXCURSOR" val="166"/>
  <p:tag name="TRANSPARENCY" val="True"/>
  <p:tag name="LATEXENGINEID" val="0"/>
  <p:tag name="TEMPFOLDER" val="c:\Users\kkp292\temp\"/>
  <p:tag name="LATEXFORMHEIGHT" val="478"/>
  <p:tag name="LATEXFORMWIDTH" val="450"/>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334.4582"/>
  <p:tag name="ORIGINALWIDTH" val="2925.384"/>
  <p:tag name="OUTPUTTYPE" val="PNG"/>
  <p:tag name="IGUANATEXVERSION" val="160"/>
  <p:tag name="LATEXADDIN" val="\documentclass{article}&#10;\usepackage{amsmath,mdframed}&#10;\pagestyle{empty}&#10;\begin{document}&#10;\begin{mdframed}[leftmargin=50pt, rightmargin=60pt, &#10;innertopmargin=5pt,innerbottommargin=5pt,skipabove=0pt, skipbelow=0pt]&#10;$P(A_i|B_j) = \frac{P(A_i \land B_j)}{\sum_{k}P(A_k\land B_j)} \text { where } \sum_k P(A_k) = 1$&#10;\end{mdframed}&#10;\end{document}"/>
  <p:tag name="IGUANATEXSIZE" val="11"/>
  <p:tag name="IGUANATEXCURSOR" val="137"/>
  <p:tag name="TRANSPARENCY" val="True"/>
  <p:tag name="LATEXENGINEID" val="0"/>
  <p:tag name="TEMPFOLDER" val="c:\Users\kkp292\temp\"/>
  <p:tag name="LATEXFORMHEIGHT" val="478"/>
  <p:tag name="LATEXFORMWIDTH" val="450"/>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827.8965"/>
  <p:tag name="ORIGINALWIDTH" val="2459.693"/>
  <p:tag name="OUTPUTTYPE" val="PNG"/>
  <p:tag name="IGUANATEXVERSION" val="160"/>
  <p:tag name="LATEXADDIN" val="\documentclass{article}&#10;\usepackage{amsmath}&#10;\pagestyle{empty}&#10;\begin{document}&#10;&#10;\begin{align*}&#10;&amp;\frac{x}{0.80} = 0.90 \implies x = 0.72 \\&#10;&amp;\frac{y}{0.20} = 0.25 \implies y = 0.05 \\&#10;&amp;P(allergic|sneeze) = \frac{x}{(x+y)} = \frac{0.72}{0.77} = 0.935&#10;\end{align*}&#10;&#10;\end{document}"/>
  <p:tag name="IGUANATEXSIZE" val="18"/>
  <p:tag name="IGUANATEXCURSOR" val="204"/>
  <p:tag name="TRANSPARENCY" val="True"/>
  <p:tag name="LATEXENGINEID" val="0"/>
  <p:tag name="TEMPFOLDER" val="c:\Users\kkp292\temp\"/>
  <p:tag name="LATEXFORMHEIGHT" val="478"/>
  <p:tag name="LATEXFORMWIDTH" val="450"/>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025.122"/>
  <p:tag name="ORIGINALWIDTH" val="3383.577"/>
  <p:tag name="OUTPUTTYPE" val="PNG"/>
  <p:tag name="IGUANATEXVERSION" val="160"/>
  <p:tag name="LATEXADDIN" val="\documentclass{article}&#10;\usepackage{amsmath}&#10;\pagestyle{empty}&#10;\begin{document}&#10;&#10;\begin{align*}&#10;P(C_i|x_1,...,x_n) &amp;= \frac{P(x_1|C_i,x_2,..,x_n)P(x_2|C_i,x_3,..,x_n)..P(C_i)}{P(x_1,...,x_n)}\\&#10;&amp;= \frac{P(x_1|C_i)P(x_2|C_i)...P(x_n|C_i)P(C_i)}{P(x_1)...P(x_n)}\\&#10;&amp;= \frac{P(C_i)\prod_j P(x_j|C_i)}{\prod_j P(x_j)}&#10;\end{align*}&#10;&#10;&#10;\end{document}"/>
  <p:tag name="IGUANATEXSIZE" val="11"/>
  <p:tag name="IGUANATEXCURSOR" val="303"/>
  <p:tag name="TRANSPARENCY" val="True"/>
  <p:tag name="LATEXENGINEID" val="0"/>
  <p:tag name="TEMPFOLDER" val="c:\Users\kkp292\temp\"/>
  <p:tag name="LATEXFORMHEIGHT" val="478"/>
  <p:tag name="LATEXFORMWIDTH" val="450"/>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640.4199"/>
  <p:tag name="ORIGINALWIDTH" val="2548.931"/>
  <p:tag name="OUTPUTTYPE" val="PNG"/>
  <p:tag name="IGUANATEXVERSION" val="160"/>
  <p:tag name="LATEXADDIN" val="\documentclass{article}&#10;\usepackage{amsmath}&#10;\pagestyle{empty}&#10;\begin{document}&#10;&#10;\begin{align*}&#10;P(C_i|x_1,...,x_n) &amp; \propto P(C_i)\prod_j P(x_j|C_i)\\&#10;\text{So}\  \hat{C} &amp;= argmax_{C_i} P(C_i)\prod_j P(x_j|C_i)&#10;\end{align*}&#10;&#10;&#10;\end{document}"/>
  <p:tag name="IGUANATEXSIZE" val="11"/>
  <p:tag name="IGUANATEXCURSOR" val="151"/>
  <p:tag name="TRANSPARENCY" val="True"/>
  <p:tag name="LATEXENGINEID" val="0"/>
  <p:tag name="TEMPFOLDER" val="c:\Users\kkp292\temp\"/>
  <p:tag name="LATEXFORMHEIGHT" val="478"/>
  <p:tag name="LATEXFORMWIDTH" val="450"/>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939.6325"/>
  <p:tag name="ORIGINALWIDTH" val="4153.73"/>
  <p:tag name="OUTPUTTYPE" val="PNG"/>
  <p:tag name="IGUANATEXVERSION" val="160"/>
  <p:tag name="LATEXADDIN" val="\documentclass{article}&#10;\usepackage{amsmath}&#10;\pagestyle{empty}&#10;\begin{document}&#10;\begin{align*}&#10;P(Spam|Free,\neg Win) &amp;\propto P(Spam)*P(Free|Spam)*P(\neg Win|Spam)\\&#10;&amp;\propto \frac{3}{5}*\frac{2}{3}*\frac{1}{3} = \frac{2}{15}\\&#10;P(\neg Spam|Free,\neg Win) &amp;\propto P(\neg Spam)*P(Free|\neg Spam)*P(\neg Win|\neg Spam)\\&#10;&amp;\propto \frac{2}{5}*\frac{0}{5}*\frac{2}{2} = 0&#10;\end{align*}&#10;\end{document}"/>
  <p:tag name="IGUANATEXSIZE" val="11"/>
  <p:tag name="IGUANATEXCURSOR" val="312"/>
  <p:tag name="TRANSPARENCY" val="True"/>
  <p:tag name="LATEXENGINEID" val="0"/>
  <p:tag name="TEMPFOLDER" val="c:\Users\kkp292\temp\"/>
  <p:tag name="LATEXFORMHEIGHT" val="478"/>
  <p:tag name="LATEXFORMWIDTH" val="450"/>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939.6325"/>
  <p:tag name="ORIGINALWIDTH" val="4153.73"/>
  <p:tag name="OUTPUTTYPE" val="PNG"/>
  <p:tag name="IGUANATEXVERSION" val="160"/>
  <p:tag name="LATEXADDIN" val="\documentclass{article}&#10;\usepackage{amsmath}&#10;\pagestyle{empty}&#10;\begin{document}&#10;\begin{align*}&#10;P(Spam|Free,\neg Win) &amp;\propto P(Spam)*P(Free|Spam)*P(\neg Win|Spam)\\&#10;&amp;\propto \frac{3}{5}*\frac{2}{3}*\frac{1}{3} = \frac{2}{15}\\&#10;P(\neg Spam|Free,\neg Win) &amp;\propto P(\neg Spam)*P(Free|\neg Spam)*P(\neg Win|\neg Spam)\\&#10;&amp;\propto \frac{2}{5}*\frac{0}{2}*\frac{2}{2} = 0&#10;\end{align*}&#10;\end{document}"/>
  <p:tag name="IGUANATEXSIZE" val="11"/>
  <p:tag name="IGUANATEXCURSOR" val="350"/>
  <p:tag name="TRANSPARENCY" val="True"/>
  <p:tag name="LATEXENGINEID" val="0"/>
  <p:tag name="TEMPFOLDER" val="c:\Users\kkp292\temp\"/>
  <p:tag name="LATEXFORMHEIGHT" val="478"/>
  <p:tag name="LATEXFORMWIDTH" val="450"/>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939.6325"/>
  <p:tag name="ORIGINALWIDTH" val="4153.73"/>
  <p:tag name="OUTPUTTYPE" val="PNG"/>
  <p:tag name="IGUANATEXVERSION" val="160"/>
  <p:tag name="LATEXADDIN" val="\documentclass{article}&#10;\usepackage{amsmath}&#10;\pagestyle{empty}&#10;\begin{document}&#10;\begin{align*}&#10;P(Spam|Free,\neg Win) &amp;\propto P(Spam)*P(Free|Spam)*P(\neg Win|Spam)\\&#10;&amp;\propto \frac{3}{5}*\frac{3}{5}*\frac{2}{5} = \frac{18}{125}\\&#10;P(\neg Spam|Free,\neg Win) &amp;\propto P(\neg Spam)*P(Free|\neg Spam)*P(\neg Win|\neg Spam)\\&#10;&amp;\propto \frac{2}{5}*\frac{1}{4}*\frac{3}{4} = \frac{3}{40}&#10;\end{align*}&#10;\end{document}"/>
  <p:tag name="IGUANATEXSIZE" val="11"/>
  <p:tag name="IGUANATEXCURSOR" val="377"/>
  <p:tag name="TRANSPARENCY" val="True"/>
  <p:tag name="LATEXENGINEID" val="0"/>
  <p:tag name="TEMPFOLDER" val="c:\Users\kkp292\temp\"/>
  <p:tag name="LATEXFORMHEIGHT" val="613"/>
  <p:tag name="LATEXFORMWIDTH" val="450"/>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939.6325"/>
  <p:tag name="ORIGINALWIDTH" val="4153.73"/>
  <p:tag name="OUTPUTTYPE" val="PNG"/>
  <p:tag name="IGUANATEXVERSION" val="160"/>
  <p:tag name="LATEXADDIN" val="\documentclass{article}&#10;\usepackage{amsmath}&#10;\pagestyle{empty}&#10;\begin{document}&#10;\begin{align*}&#10;P(Spam|\neg Free,Win) &amp;\propto P(Spam)*P(\neg Free|Spam)*P( Win|Spam)\\&#10;&amp;\propto \frac{2}{4}*\frac{1}{4}*\frac{2}{4} = \frac{1}{16}\\&#10;P(\neg Spam|\neg Free, Win) &amp;\propto P(\neg Spam)*P(\neg Free|\neg Spam)*P(Win|\neg Spam)\\&#10;&amp;\propto \frac{1}{2}*\frac{3}{4}*\frac{1}{4} = \frac{3}{32}&#10;\end{align*}&#10;\end{document}"/>
  <p:tag name="IGUANATEXSIZE" val="11"/>
  <p:tag name="IGUANATEXCURSOR" val="340"/>
  <p:tag name="TRANSPARENCY" val="True"/>
  <p:tag name="LATEXENGINEID" val="0"/>
  <p:tag name="TEMPFOLDER" val="c:\Users\kkp292\temp\"/>
  <p:tag name="LATEXFORMHEIGHT" val="478"/>
  <p:tag name="LATEXFORMWIDTH" val="450"/>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653.1683"/>
  <p:tag name="ORIGINALWIDTH" val="3983.502"/>
  <p:tag name="OUTPUTTYPE" val="PNG"/>
  <p:tag name="IGUANATEXVERSION" val="160"/>
  <p:tag name="LATEXADDIN" val="\documentclass{article}&#10;\usepackage{amsmath,mdframed}&#10;\usepackage{xcolor}&#10;\pagestyle{empty}&#10;\begin{document}&#10;&#10;\begin{mdframed}[leftmargin=75pt, rightmargin=-50pt, &#10;innertopmargin=-5pt,innerbottommargin=1pt,skipabove=-20pt, skipbelow=20pt]&#10;\begin{flalign}&#10;P(A\land B) &amp;= P(A)P(B|A)\ \ \  \text{(Axiom of conditional probability)} \\&#10;&amp;= P(B)P(A|B) \nonumber\\&#10;&amp;\neq P(B)P(A)\nonumber &#10;\end{flalign}&#10;\end{mdframed}&#10;&#10;\end{document}"/>
  <p:tag name="IGUANATEXSIZE" val="14"/>
  <p:tag name="IGUANATEXCURSOR" val="372"/>
  <p:tag name="TRANSPARENCY" val="True"/>
  <p:tag name="LATEXENGINEID" val="0"/>
  <p:tag name="TEMPFOLDER" val="c:\Users\kkp292\temp\"/>
  <p:tag name="LATEXFORMHEIGHT" val="367"/>
  <p:tag name="LATEXFORMWIDTH" val="38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498.6877"/>
  <p:tag name="ORIGINALWIDTH" val="2325.459"/>
  <p:tag name="OUTPUTTYPE" val="PNG"/>
  <p:tag name="IGUANATEXVERSION" val="160"/>
  <p:tag name="LATEXADDIN" val="\documentclass{article}&#10;\usepackage{amsmath}&#10;\pagestyle{empty}&#10;\begin{document}&#10;\begin{flalign*}&#10;P(B) &amp;= 0.80*0.90 + 0.20*0.25 = 0.77 \\&#10;P(A|B) &amp;= 0.72/0.77 = 0.935\\&#10;P(A|\lnot B) &amp;= 0.08/0.23 = 0.348&#10;\end{flalign*}&#10;\end{document}"/>
  <p:tag name="IGUANATEXSIZE" val="11"/>
  <p:tag name="IGUANATEXCURSOR" val="200"/>
  <p:tag name="TRANSPARENCY" val="True"/>
  <p:tag name="LATEXENGINEID" val="0"/>
  <p:tag name="TEMPFOLDER" val="c:\Users\kkp292\temp\"/>
  <p:tag name="LATEXFORMHEIGHT" val="478"/>
  <p:tag name="LATEXFORMWIDTH" val="450"/>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275.591"/>
  <p:tag name="ORIGINALWIDTH" val="3983.502"/>
  <p:tag name="OUTPUTTYPE" val="PNG"/>
  <p:tag name="IGUANATEXVERSION" val="160"/>
  <p:tag name="LATEXADDIN" val="\documentclass{article}&#10;\usepackage{amsmath,mdframed}&#10;\usepackage{xcolor}&#10;\pagestyle{empty}&#10;\begin{document}&#10;&#10;\begin{mdframed}[leftmargin=75pt, rightmargin=-50pt, &#10;innertopmargin=-5pt,innerbottommargin=1pt,skipabove=-20pt, skipbelow=20pt]&#10;\begin{flalign}&#10;P(A\land B) &amp;= P(A)P(B|A)\ \ \  \text{(Axiom of conditional probability)} \\&#10;&amp;= P(B)P(A|B) \nonumber\\&#10;&amp;\neq P(B)P(A) \text{\ \textcolor{red}{(Venn diagram can be misleading!)}}\nonumber &#10;\end{flalign}&#10;\end{mdframed}&#10;&#10;\begin{mdframed}[leftmargin=75pt, rightmargin=-50pt, &#10;innertopmargin=-5pt,innerbottommargin=1pt,skipabove=-20pt, skipbelow=20pt]&#10;\begin{flalign}&#10;P(A) &amp;= P(A\land B) + P(A\land \lnot B) \ \ \text{(Marginalization)}\\&#10;P(B) &amp;= P(B\land A) + P(B\land \lnot A) \nonumber&#10;\end{flalign}&#10;\end{mdframed}&#10;&#10;\end{document}"/>
  <p:tag name="IGUANATEXSIZE" val="14"/>
  <p:tag name="IGUANATEXCURSOR" val="417"/>
  <p:tag name="TRANSPARENCY" val="True"/>
  <p:tag name="LATEXENGINEID" val="0"/>
  <p:tag name="TEMPFOLDER" val="c:\Users\kkp292\temp\"/>
  <p:tag name="LATEXFORMHEIGHT" val="367"/>
  <p:tag name="LATEXFORMWIDTH" val="38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254.593"/>
  <p:tag name="ORIGINALWIDTH" val="4460.442"/>
  <p:tag name="OUTPUTTYPE" val="PNG"/>
  <p:tag name="IGUANATEXVERSION" val="160"/>
  <p:tag name="LATEXADDIN" val="\documentclass{article}&#10;\usepackage{amsmath}&#10;\pagestyle{empty}&#10;\begin{document}&#10;\noindent&#10;Two independent events $o_\alpha$ and $o_\beta$.&#10;\begin{align*}&#10;P(M_i|o_\alpha\land o_\beta) &amp;= \frac{P(M_i\land o_\alpha \land o_\beta)}{P(o_\alpha\land o_\beta)} \text{\ (Bayes' rule)}\\&#10;&amp;= \frac{P(M_i)P(o_\alpha|M_i)P(o_\beta|M_i\land o_\alpha)}{P(o_\alpha)P(o_\beta|o_\alpha)} \text{\ Chain rule)}\\&#10;&amp;= \frac{P(M_i)P(o_\alpha|M_i)P(o_\beta|M_i)}{P(o_\alpha)P(o_\beta)} \text{\ \ (because $o_\alpha$ and $o_\beta$ are independent)}&#10;\end{align*}&#10;&#10;\end{document}"/>
  <p:tag name="IGUANATEXSIZE" val="11"/>
  <p:tag name="IGUANATEXCURSOR" val="111"/>
  <p:tag name="TRANSPARENCY" val="True"/>
  <p:tag name="LATEXENGINEID" val="0"/>
  <p:tag name="TEMPFOLDER" val="c:\Users\kkp292\temp\"/>
  <p:tag name="LATEXFORMHEIGHT" val="478"/>
  <p:tag name="LATEXFORMWIDTH" val="450"/>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904.3869"/>
  <p:tag name="ORIGINALWIDTH" val="4074.241"/>
  <p:tag name="OUTPUTTYPE" val="PNG"/>
  <p:tag name="IGUANATEXVERSION" val="160"/>
  <p:tag name="LATEXADDIN" val="\documentclass{article}&#10;\usepackage{amsmath}&#10;\pagestyle{empty}&#10;\begin{document}&#10;\noindent&#10;In general, $O = \{o_\alpha,o_\beta,...\}$ is set of independent events and $\sum_{i}P(M_i) = 1$&#10;\begin{align*}&#10;P(M_i|O) &amp;= \frac{P(O|M_i)P(M_i)}{P(O)} \\&#10;\text{where\ }  P(O|M_i) &amp;= \prod_{o_\kappa \in O}P(o_\kappa|M_i)&#10;\text{\ and\ } P(O) = \prod_{o_\kappa \in O}P(o_\kappa)&#10;\end{align*}&#10;\end{document}"/>
  <p:tag name="IGUANATEXSIZE" val="11"/>
  <p:tag name="IGUANATEXCURSOR" val="181"/>
  <p:tag name="TRANSPARENCY" val="True"/>
  <p:tag name="LATEXENGINEID" val="0"/>
  <p:tag name="TEMPFOLDER" val="c:\Users\kkp292\temp\"/>
  <p:tag name="LATEXFORMHEIGHT" val="478"/>
  <p:tag name="LATEXFORMWIDTH" val="450"/>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39.4826"/>
  <p:tag name="ORIGINALWIDTH" val="818.8976"/>
  <p:tag name="OUTPUTTYPE" val="PNG"/>
  <p:tag name="IGUANATEXVERSION" val="160"/>
  <p:tag name="LATEXADDIN" val="\documentclass{article}&#10;\usepackage{amsmath}&#10;\pagestyle{empty}&#10;\begin{document}&#10;&#10;$\sum_{i{=}1}^{n}P(M_i){=}1$&#10;\end{document}"/>
  <p:tag name="IGUANATEXSIZE" val="11"/>
  <p:tag name="IGUANATEXCURSOR" val="81"/>
  <p:tag name="TRANSPARENCY" val="True"/>
  <p:tag name="LATEXENGINEID" val="0"/>
  <p:tag name="TEMPFOLDER" val="c:\Users\kkp292\temp\"/>
  <p:tag name="LATEXFORMHEIGHT" val="478"/>
  <p:tag name="LATEXFORMWIDTH" val="450"/>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tailEnd type="arrow"/>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B836EE6-2490-4598-B075-6B6E3EEFAF4C}">
  <we:reference id="8bc018e3-f345-40d4-8f1d-97951765d531" version="3.0.0.0" store="EXCatalog" storeType="EXCatalog"/>
  <we:alternateReferences>
    <we:reference id="WA104380862" version="3.0.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31468</TotalTime>
  <Words>2490</Words>
  <Application>Microsoft Office PowerPoint</Application>
  <PresentationFormat>Widescreen</PresentationFormat>
  <Paragraphs>567</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Framework of Bayesian inference</vt:lpstr>
      <vt:lpstr>Organization</vt:lpstr>
      <vt:lpstr>Basic probability: sample space and events </vt:lpstr>
      <vt:lpstr>ML interpretation </vt:lpstr>
      <vt:lpstr>Joint Probability</vt:lpstr>
      <vt:lpstr>Joint probability </vt:lpstr>
      <vt:lpstr>Joint probability matrix representation </vt:lpstr>
      <vt:lpstr>Marginalization </vt:lpstr>
      <vt:lpstr>Generalization (I): categorical events/features</vt:lpstr>
      <vt:lpstr>Generalization (II): numerical/continuous events/features</vt:lpstr>
      <vt:lpstr>Conditional Probability</vt:lpstr>
      <vt:lpstr>Conditional probability</vt:lpstr>
      <vt:lpstr>Independence</vt:lpstr>
      <vt:lpstr>Conditional probability for continuous events/features</vt:lpstr>
      <vt:lpstr>Chain rule: conditioning on multiple events</vt:lpstr>
      <vt:lpstr>Bayes’ Rule</vt:lpstr>
      <vt:lpstr>Bayes’ Rule </vt:lpstr>
      <vt:lpstr>Bayes’ rule: classical example</vt:lpstr>
      <vt:lpstr>Applications  of  Bayes’ Rule</vt:lpstr>
      <vt:lpstr>Naïve Bayes Classifier</vt:lpstr>
      <vt:lpstr>Naïve Bayes Classifier: example</vt:lpstr>
      <vt:lpstr>Naïve Bayes Classifier: Laplace smoothing</vt:lpstr>
      <vt:lpstr>Intuition: How does naïve Bayes classifier generalize?</vt:lpstr>
      <vt:lpstr>Bayesian Networks</vt:lpstr>
      <vt:lpstr>Conditional probability &amp; probability tree</vt:lpstr>
      <vt:lpstr>Markov Chain Monte Carlo</vt:lpstr>
      <vt:lpstr>Variational Inference</vt:lpstr>
      <vt:lpstr>Likelihood functions, confusion matrix, and ROC curve</vt:lpstr>
      <vt:lpstr>PowerPoint Presentation</vt:lpstr>
      <vt:lpstr>Joint probability and marginalization</vt:lpstr>
      <vt:lpstr>Joint probability can be subtle</vt:lpstr>
      <vt:lpstr>Misleading example from Wikipedia</vt:lpstr>
      <vt:lpstr>Bayes’ Rule: multiple independent events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Mustafaoglu, Lain</dc:creator>
  <cp:lastModifiedBy>Pingali, Keshav K</cp:lastModifiedBy>
  <cp:revision>8</cp:revision>
  <dcterms:created xsi:type="dcterms:W3CDTF">2025-08-12T19:54:11Z</dcterms:created>
  <dcterms:modified xsi:type="dcterms:W3CDTF">2026-01-12T16:12:28Z</dcterms:modified>
</cp:coreProperties>
</file>